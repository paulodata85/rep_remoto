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67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21"/>
    <p:restoredTop sz="94715"/>
  </p:normalViewPr>
  <p:slideViewPr>
    <p:cSldViewPr snapToGrid="0" snapToObjects="1">
      <p:cViewPr varScale="1">
        <p:scale>
          <a:sx n="115" d="100"/>
          <a:sy n="115" d="100"/>
        </p:scale>
        <p:origin x="24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07F76-70FD-A046-B9DB-396AECDC234C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FC73C-3679-C14B-A49C-A37BF17DC1D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89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5809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4422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5404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0562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5844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4744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7787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137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0432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527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3680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9905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838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5524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8330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1648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8815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3535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3836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792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983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2878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7823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53714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189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6732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13034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75350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Falta Urbano</a:t>
            </a:r>
            <a:r>
              <a:rPr lang="es-MX" baseline="0" dirty="0"/>
              <a:t> 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6A470-342E-47E4-9002-25C601CD0849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862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037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079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1915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868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39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534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17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73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3363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2205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5120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+texto+ple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 Grupo"/>
          <p:cNvGrpSpPr/>
          <p:nvPr userDrawn="1"/>
        </p:nvGrpSpPr>
        <p:grpSpPr>
          <a:xfrm>
            <a:off x="0" y="6478594"/>
            <a:ext cx="12192000" cy="434975"/>
            <a:chOff x="0" y="6313488"/>
            <a:chExt cx="9144000" cy="600075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0" y="6313488"/>
              <a:ext cx="9144000" cy="342900"/>
            </a:xfrm>
            <a:custGeom>
              <a:avLst/>
              <a:gdLst>
                <a:gd name="T0" fmla="*/ 0 w 3169"/>
                <a:gd name="T1" fmla="*/ 25 h 116"/>
                <a:gd name="T2" fmla="*/ 1024 w 3169"/>
                <a:gd name="T3" fmla="*/ 38 h 116"/>
                <a:gd name="T4" fmla="*/ 1766 w 3169"/>
                <a:gd name="T5" fmla="*/ 43 h 116"/>
                <a:gd name="T6" fmla="*/ 2560 w 3169"/>
                <a:gd name="T7" fmla="*/ 58 h 116"/>
                <a:gd name="T8" fmla="*/ 3169 w 3169"/>
                <a:gd name="T9" fmla="*/ 15 h 116"/>
                <a:gd name="T10" fmla="*/ 3169 w 3169"/>
                <a:gd name="T11" fmla="*/ 94 h 116"/>
                <a:gd name="T12" fmla="*/ 2260 w 3169"/>
                <a:gd name="T13" fmla="*/ 115 h 116"/>
                <a:gd name="T14" fmla="*/ 775 w 3169"/>
                <a:gd name="T15" fmla="*/ 57 h 116"/>
                <a:gd name="T16" fmla="*/ 0 w 3169"/>
                <a:gd name="T17" fmla="*/ 76 h 116"/>
                <a:gd name="T18" fmla="*/ 0 w 3169"/>
                <a:gd name="T19" fmla="*/ 2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69" h="116">
                  <a:moveTo>
                    <a:pt x="0" y="25"/>
                  </a:moveTo>
                  <a:cubicBezTo>
                    <a:pt x="0" y="25"/>
                    <a:pt x="691" y="0"/>
                    <a:pt x="1024" y="38"/>
                  </a:cubicBezTo>
                  <a:cubicBezTo>
                    <a:pt x="1303" y="70"/>
                    <a:pt x="1628" y="39"/>
                    <a:pt x="1766" y="43"/>
                  </a:cubicBezTo>
                  <a:cubicBezTo>
                    <a:pt x="1934" y="48"/>
                    <a:pt x="2270" y="76"/>
                    <a:pt x="2560" y="58"/>
                  </a:cubicBezTo>
                  <a:cubicBezTo>
                    <a:pt x="2850" y="40"/>
                    <a:pt x="3169" y="15"/>
                    <a:pt x="3169" y="15"/>
                  </a:cubicBezTo>
                  <a:cubicBezTo>
                    <a:pt x="3169" y="94"/>
                    <a:pt x="3169" y="94"/>
                    <a:pt x="3169" y="94"/>
                  </a:cubicBezTo>
                  <a:cubicBezTo>
                    <a:pt x="3169" y="94"/>
                    <a:pt x="2627" y="116"/>
                    <a:pt x="2260" y="115"/>
                  </a:cubicBezTo>
                  <a:cubicBezTo>
                    <a:pt x="1263" y="112"/>
                    <a:pt x="1069" y="59"/>
                    <a:pt x="775" y="57"/>
                  </a:cubicBezTo>
                  <a:cubicBezTo>
                    <a:pt x="557" y="55"/>
                    <a:pt x="413" y="94"/>
                    <a:pt x="0" y="76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ACC3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MX" sz="2400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0" y="6478588"/>
              <a:ext cx="9144000" cy="434975"/>
            </a:xfrm>
            <a:custGeom>
              <a:avLst/>
              <a:gdLst>
                <a:gd name="T0" fmla="*/ 0 w 3169"/>
                <a:gd name="T1" fmla="*/ 0 h 147"/>
                <a:gd name="T2" fmla="*/ 495 w 3169"/>
                <a:gd name="T3" fmla="*/ 14 h 147"/>
                <a:gd name="T4" fmla="*/ 1553 w 3169"/>
                <a:gd name="T5" fmla="*/ 35 h 147"/>
                <a:gd name="T6" fmla="*/ 2610 w 3169"/>
                <a:gd name="T7" fmla="*/ 39 h 147"/>
                <a:gd name="T8" fmla="*/ 3169 w 3169"/>
                <a:gd name="T9" fmla="*/ 17 h 147"/>
                <a:gd name="T10" fmla="*/ 3169 w 3169"/>
                <a:gd name="T11" fmla="*/ 86 h 147"/>
                <a:gd name="T12" fmla="*/ 1880 w 3169"/>
                <a:gd name="T13" fmla="*/ 101 h 147"/>
                <a:gd name="T14" fmla="*/ 821 w 3169"/>
                <a:gd name="T15" fmla="*/ 101 h 147"/>
                <a:gd name="T16" fmla="*/ 0 w 3169"/>
                <a:gd name="T17" fmla="*/ 81 h 147"/>
                <a:gd name="T18" fmla="*/ 0 w 3169"/>
                <a:gd name="T1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69" h="147">
                  <a:moveTo>
                    <a:pt x="0" y="0"/>
                  </a:moveTo>
                  <a:cubicBezTo>
                    <a:pt x="0" y="0"/>
                    <a:pt x="202" y="15"/>
                    <a:pt x="495" y="14"/>
                  </a:cubicBezTo>
                  <a:cubicBezTo>
                    <a:pt x="778" y="12"/>
                    <a:pt x="1415" y="33"/>
                    <a:pt x="1553" y="35"/>
                  </a:cubicBezTo>
                  <a:cubicBezTo>
                    <a:pt x="1947" y="42"/>
                    <a:pt x="2320" y="57"/>
                    <a:pt x="2610" y="39"/>
                  </a:cubicBezTo>
                  <a:cubicBezTo>
                    <a:pt x="2900" y="21"/>
                    <a:pt x="3169" y="17"/>
                    <a:pt x="3169" y="17"/>
                  </a:cubicBezTo>
                  <a:cubicBezTo>
                    <a:pt x="3169" y="86"/>
                    <a:pt x="3169" y="86"/>
                    <a:pt x="3169" y="86"/>
                  </a:cubicBezTo>
                  <a:cubicBezTo>
                    <a:pt x="3169" y="86"/>
                    <a:pt x="2309" y="147"/>
                    <a:pt x="1880" y="101"/>
                  </a:cubicBezTo>
                  <a:cubicBezTo>
                    <a:pt x="1520" y="62"/>
                    <a:pt x="1100" y="71"/>
                    <a:pt x="821" y="101"/>
                  </a:cubicBezTo>
                  <a:cubicBezTo>
                    <a:pt x="606" y="124"/>
                    <a:pt x="419" y="62"/>
                    <a:pt x="0" y="8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6C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MX" sz="240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0" y="6605588"/>
              <a:ext cx="9144000" cy="280987"/>
            </a:xfrm>
            <a:custGeom>
              <a:avLst/>
              <a:gdLst>
                <a:gd name="T0" fmla="*/ 0 w 3169"/>
                <a:gd name="T1" fmla="*/ 13 h 95"/>
                <a:gd name="T2" fmla="*/ 0 w 3169"/>
                <a:gd name="T3" fmla="*/ 95 h 95"/>
                <a:gd name="T4" fmla="*/ 3169 w 3169"/>
                <a:gd name="T5" fmla="*/ 95 h 95"/>
                <a:gd name="T6" fmla="*/ 3169 w 3169"/>
                <a:gd name="T7" fmla="*/ 19 h 95"/>
                <a:gd name="T8" fmla="*/ 2511 w 3169"/>
                <a:gd name="T9" fmla="*/ 38 h 95"/>
                <a:gd name="T10" fmla="*/ 1150 w 3169"/>
                <a:gd name="T11" fmla="*/ 43 h 95"/>
                <a:gd name="T12" fmla="*/ 567 w 3169"/>
                <a:gd name="T13" fmla="*/ 14 h 95"/>
                <a:gd name="T14" fmla="*/ 0 w 3169"/>
                <a:gd name="T15" fmla="*/ 1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69" h="95">
                  <a:moveTo>
                    <a:pt x="0" y="13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3169" y="95"/>
                    <a:pt x="3169" y="95"/>
                    <a:pt x="3169" y="95"/>
                  </a:cubicBezTo>
                  <a:cubicBezTo>
                    <a:pt x="3169" y="19"/>
                    <a:pt x="3169" y="19"/>
                    <a:pt x="3169" y="19"/>
                  </a:cubicBezTo>
                  <a:cubicBezTo>
                    <a:pt x="3169" y="19"/>
                    <a:pt x="3078" y="6"/>
                    <a:pt x="2511" y="38"/>
                  </a:cubicBezTo>
                  <a:cubicBezTo>
                    <a:pt x="1830" y="76"/>
                    <a:pt x="1434" y="49"/>
                    <a:pt x="1150" y="43"/>
                  </a:cubicBezTo>
                  <a:cubicBezTo>
                    <a:pt x="821" y="36"/>
                    <a:pt x="694" y="21"/>
                    <a:pt x="567" y="14"/>
                  </a:cubicBezTo>
                  <a:cubicBezTo>
                    <a:pt x="443" y="8"/>
                    <a:pt x="246" y="0"/>
                    <a:pt x="0" y="13"/>
                  </a:cubicBezTo>
                  <a:close/>
                </a:path>
              </a:pathLst>
            </a:custGeom>
            <a:solidFill>
              <a:srgbClr val="034E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MX" sz="2400"/>
            </a:p>
          </p:txBody>
        </p:sp>
      </p:grpSp>
      <p:sp>
        <p:nvSpPr>
          <p:cNvPr id="15" name="14 Título"/>
          <p:cNvSpPr>
            <a:spLocks noGrp="1"/>
          </p:cNvSpPr>
          <p:nvPr>
            <p:ph type="title" hasCustomPrompt="1"/>
          </p:nvPr>
        </p:nvSpPr>
        <p:spPr>
          <a:xfrm>
            <a:off x="335360" y="216000"/>
            <a:ext cx="11521280" cy="336000"/>
          </a:xfrm>
        </p:spPr>
        <p:txBody>
          <a:bodyPr lIns="0" tIns="0" rIns="0" bIns="0">
            <a:noAutofit/>
          </a:bodyPr>
          <a:lstStyle>
            <a:lvl1pPr marL="0" algn="l" defTabSz="1219170" rtl="0" eaLnBrk="1" latinLnBrk="0" hangingPunct="1">
              <a:defRPr lang="es-MX" sz="2667" b="1" kern="1200" dirty="0">
                <a:solidFill>
                  <a:srgbClr val="034EA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13" name="4 Marcador de texto"/>
          <p:cNvSpPr>
            <a:spLocks noGrp="1"/>
          </p:cNvSpPr>
          <p:nvPr>
            <p:ph type="body" sz="quarter" idx="10"/>
          </p:nvPr>
        </p:nvSpPr>
        <p:spPr>
          <a:xfrm>
            <a:off x="335360" y="756000"/>
            <a:ext cx="11521280" cy="5400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aseline="0"/>
            </a:lvl1pPr>
            <a:lvl2pPr marL="239994" indent="-239994">
              <a:buFont typeface="Wingdings" pitchFamily="2" charset="2"/>
              <a:buChar char="§"/>
              <a:defRPr sz="2400" baseline="0"/>
            </a:lvl2pPr>
            <a:lvl3pPr marL="479988" indent="-239994">
              <a:defRPr sz="2400" baseline="0"/>
            </a:lvl3pPr>
            <a:lvl4pPr marL="719982" indent="-239994">
              <a:buFont typeface="Cronos Pro" pitchFamily="34" charset="0"/>
              <a:buChar char="&gt;"/>
              <a:defRPr sz="2400" baseline="0"/>
            </a:lvl4pPr>
            <a:lvl5pPr marL="959976" indent="-239994">
              <a:defRPr sz="2400" baseline="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52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4855E-74A1-494A-B08B-18D79A8C7149}" type="datetimeFigureOut">
              <a:rPr lang="es-ES_tradnl" smtClean="0"/>
              <a:t>29/12/17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40A55-62D5-E34A-A6D3-C2AF8C4EA87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0674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371601" y="773301"/>
            <a:ext cx="8921578" cy="576064"/>
          </a:xfrm>
        </p:spPr>
        <p:txBody>
          <a:bodyPr/>
          <a:lstStyle/>
          <a:p>
            <a:pPr algn="ctr"/>
            <a:r>
              <a:rPr lang="es-MX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Estadística y modelación de sistemas </a:t>
            </a:r>
            <a:r>
              <a:rPr lang="es-MX" sz="42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socioecológicos</a:t>
            </a:r>
            <a:r>
              <a:rPr lang="es-MX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R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824" y="2537056"/>
            <a:ext cx="2267908" cy="228416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390" y="2459832"/>
            <a:ext cx="5942083" cy="2438612"/>
          </a:xfrm>
          <a:prstGeom prst="rect">
            <a:avLst/>
          </a:prstGeom>
        </p:spPr>
      </p:pic>
      <p:sp>
        <p:nvSpPr>
          <p:cNvPr id="6" name="2 Título">
            <a:extLst>
              <a:ext uri="{FF2B5EF4-FFF2-40B4-BE49-F238E27FC236}">
                <a16:creationId xmlns:a16="http://schemas.microsoft.com/office/drawing/2014/main" xmlns="" id="{ADD6E415-76ED-4E07-8D3C-7541B4E0CEA2}"/>
              </a:ext>
            </a:extLst>
          </p:cNvPr>
          <p:cNvSpPr txBox="1">
            <a:spLocks/>
          </p:cNvSpPr>
          <p:nvPr/>
        </p:nvSpPr>
        <p:spPr>
          <a:xfrm>
            <a:off x="1536358" y="5720879"/>
            <a:ext cx="8921578" cy="5760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MX" sz="2667" b="1" kern="1200" dirty="0">
                <a:solidFill>
                  <a:srgbClr val="034EA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Dra. Yosune </a:t>
            </a:r>
            <a:r>
              <a:rPr lang="es-MX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Miquelajauregui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Graf</a:t>
            </a:r>
          </a:p>
        </p:txBody>
      </p:sp>
    </p:spTree>
    <p:extLst>
      <p:ext uri="{BB962C8B-B14F-4D97-AF65-F5344CB8AC3E}">
        <p14:creationId xmlns:p14="http://schemas.microsoft.com/office/powerpoint/2010/main" val="123494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del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día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480349" y="1137831"/>
            <a:ext cx="106268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 de funciones “apply ()”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 básica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s-MX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Ejercicios</a:t>
            </a: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4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480349" y="1323026"/>
            <a:ext cx="106268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charset="0"/>
              <a:buChar char="•"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 funciones apply () están diseñadas para utilizarse como alternativas de los bucles.</a:t>
            </a:r>
          </a:p>
          <a:p>
            <a:pPr marL="342900" indent="-342900" algn="just">
              <a:buFont typeface="Arial" charset="0"/>
              <a:buChar char="•"/>
            </a:pPr>
            <a:endParaRPr lang="es-MX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charset="0"/>
              <a:buChar char="•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familia apply () contiene funciones para manupular secciones de datos de matrices, listas y hojas de datos de manera repetitiva. Es decir, permite llevar a cabo operaciones con pocas líneas de código.</a:t>
            </a:r>
          </a:p>
          <a:p>
            <a:pPr marL="342900" indent="-342900" algn="just">
              <a:buFont typeface="Arial" charset="0"/>
              <a:buChar char="•"/>
            </a:pPr>
            <a:endParaRPr lang="es-MX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charset="0"/>
              <a:buChar char="•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charset="0"/>
              <a:buChar char="•"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Ejemplos son : apply(), tapply(), lapply(), sapply(), vapply(), mapply(), y rapply (). El uso de cada una de ellas depende de la estructura del objeto y del tipo de resultado que se desea obtener.</a:t>
            </a:r>
          </a:p>
          <a:p>
            <a:pPr marL="342900" indent="-342900" algn="just">
              <a:buFont typeface="Arial" charset="0"/>
              <a:buChar char="•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96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539336" y="1798538"/>
            <a:ext cx="6086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x &lt;-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matrix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rnorm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(30,0.5,0.5),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nrow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=5,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ncol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=6)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687727" y="2713089"/>
            <a:ext cx="10816545" cy="4893647"/>
            <a:chOff x="620548" y="2713089"/>
            <a:chExt cx="8005711" cy="4893647"/>
          </a:xfrm>
        </p:grpSpPr>
        <p:sp>
          <p:nvSpPr>
            <p:cNvPr id="3" name="Rectángulo 2"/>
            <p:cNvSpPr/>
            <p:nvPr/>
          </p:nvSpPr>
          <p:spPr>
            <a:xfrm>
              <a:off x="620548" y="2713089"/>
              <a:ext cx="4460738" cy="4893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x           </a:t>
              </a:r>
            </a:p>
            <a:p>
              <a:r>
                <a:rPr lang="es-ES_tradnl" sz="2400" dirty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             [,1]                [,2]                [,3]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[1,] -0.10508735  0.1851367   1.05801854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[2,]  0.93453881  0.5663632   0.53933448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[3,]  0.03519395  0.9910418   0.83950909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[4,]  0.09143190 -0.1411810   0.06006402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[5,]  0.94650379  0.5647327   0.64440925</a:t>
              </a:r>
              <a:endParaRPr lang="es-ES_tradnl" sz="24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" name="Rectángulo 4"/>
            <p:cNvSpPr/>
            <p:nvPr/>
          </p:nvSpPr>
          <p:spPr>
            <a:xfrm>
              <a:off x="4807239" y="2990088"/>
              <a:ext cx="3819020" cy="4524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       [,4]               [,5]                 [,6] 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0.38356653  0.79066192  0.78990003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1.07830640  1.11610311  1.26004642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1.22801833  0.41278923  0.21095532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0.64694183  0.56570592 -0.45893986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0.04881696 -0.06497283  0.02686407 </a:t>
              </a:r>
              <a:endParaRPr lang="es-ES_tradnl" sz="24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2268637" y="2592729"/>
            <a:ext cx="2074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Dimensión 2</a:t>
            </a:r>
            <a:endParaRPr lang="es-ES_tradnl" sz="2400" b="1" dirty="0">
              <a:solidFill>
                <a:srgbClr val="C0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Flecha derecha 8"/>
          <p:cNvSpPr/>
          <p:nvPr/>
        </p:nvSpPr>
        <p:spPr>
          <a:xfrm>
            <a:off x="4201611" y="2625883"/>
            <a:ext cx="5741043" cy="38196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CuadroTexto 9"/>
          <p:cNvSpPr txBox="1"/>
          <p:nvPr/>
        </p:nvSpPr>
        <p:spPr>
          <a:xfrm rot="16200000">
            <a:off x="-612906" y="3984031"/>
            <a:ext cx="2074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Dimensión 1</a:t>
            </a:r>
            <a:endParaRPr lang="es-ES_tradnl" sz="2400" b="1" dirty="0">
              <a:solidFill>
                <a:srgbClr val="C0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2226468" y="2805796"/>
            <a:ext cx="77390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                 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(x,2,sum)</a:t>
            </a:r>
          </a:p>
          <a:p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1.902581 2.166093 3.141335 3.385650 2.820287 1.828826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Flecha izquierda 8"/>
          <p:cNvSpPr/>
          <p:nvPr/>
        </p:nvSpPr>
        <p:spPr>
          <a:xfrm rot="14983610">
            <a:off x="4417943" y="2180351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izquierda 9"/>
          <p:cNvSpPr/>
          <p:nvPr/>
        </p:nvSpPr>
        <p:spPr>
          <a:xfrm rot="16200000">
            <a:off x="4937771" y="2140126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izquierda 10"/>
          <p:cNvSpPr/>
          <p:nvPr/>
        </p:nvSpPr>
        <p:spPr>
          <a:xfrm rot="16456567">
            <a:off x="5490458" y="2187582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/>
          <p:cNvSpPr txBox="1"/>
          <p:nvPr/>
        </p:nvSpPr>
        <p:spPr>
          <a:xfrm>
            <a:off x="5978134" y="1306512"/>
            <a:ext cx="182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unción 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838926" y="1198280"/>
            <a:ext cx="125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columna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870990" y="1345185"/>
            <a:ext cx="11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objeto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lecha izquierda 8"/>
          <p:cNvSpPr/>
          <p:nvPr/>
        </p:nvSpPr>
        <p:spPr>
          <a:xfrm rot="14983610">
            <a:off x="4417943" y="2180351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izquierda 9"/>
          <p:cNvSpPr/>
          <p:nvPr/>
        </p:nvSpPr>
        <p:spPr>
          <a:xfrm rot="16200000">
            <a:off x="4937771" y="2140126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izquierda 10"/>
          <p:cNvSpPr/>
          <p:nvPr/>
        </p:nvSpPr>
        <p:spPr>
          <a:xfrm rot="16456567">
            <a:off x="5490458" y="2187582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/>
          <p:cNvSpPr txBox="1"/>
          <p:nvPr/>
        </p:nvSpPr>
        <p:spPr>
          <a:xfrm>
            <a:off x="5978134" y="1306512"/>
            <a:ext cx="182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unción 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912301" y="1184321"/>
            <a:ext cx="125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s-ES_tradnl" sz="2400" smtClean="0">
                <a:latin typeface="Times New Roman" charset="0"/>
                <a:ea typeface="Times New Roman" charset="0"/>
                <a:cs typeface="Times New Roman" charset="0"/>
              </a:rPr>
              <a:t>englón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870990" y="1345185"/>
            <a:ext cx="11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objeto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487221" y="2972767"/>
            <a:ext cx="69818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              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(x,1,sum)</a:t>
            </a:r>
          </a:p>
          <a:p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3.1021964 5.4946924 3.7175078 0.7640228 2.1663539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2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lecha izquierda 8"/>
          <p:cNvSpPr/>
          <p:nvPr/>
        </p:nvSpPr>
        <p:spPr>
          <a:xfrm rot="14983610">
            <a:off x="4417943" y="2180351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izquierda 9"/>
          <p:cNvSpPr/>
          <p:nvPr/>
        </p:nvSpPr>
        <p:spPr>
          <a:xfrm rot="16200000">
            <a:off x="4937771" y="2140126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izquierda 10"/>
          <p:cNvSpPr/>
          <p:nvPr/>
        </p:nvSpPr>
        <p:spPr>
          <a:xfrm rot="16456567">
            <a:off x="5490458" y="2187582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/>
          <p:cNvSpPr txBox="1"/>
          <p:nvPr/>
        </p:nvSpPr>
        <p:spPr>
          <a:xfrm>
            <a:off x="5978134" y="1306512"/>
            <a:ext cx="182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unción 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912301" y="1184321"/>
            <a:ext cx="125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s-ES_tradnl" sz="2400" smtClean="0">
                <a:latin typeface="Times New Roman" charset="0"/>
                <a:ea typeface="Times New Roman" charset="0"/>
                <a:cs typeface="Times New Roman" charset="0"/>
              </a:rPr>
              <a:t>englón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870990" y="1345185"/>
            <a:ext cx="11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objeto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487221" y="2972767"/>
            <a:ext cx="77569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                         apply(x,1,mean)</a:t>
            </a:r>
          </a:p>
          <a:p>
            <a:endParaRPr lang="en-US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 0.5170327 0.9157821 0.6195846 0.12733710.3610590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lecha izquierda 8"/>
          <p:cNvSpPr/>
          <p:nvPr/>
        </p:nvSpPr>
        <p:spPr>
          <a:xfrm rot="14983610">
            <a:off x="4417943" y="2180351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izquierda 9"/>
          <p:cNvSpPr/>
          <p:nvPr/>
        </p:nvSpPr>
        <p:spPr>
          <a:xfrm rot="16200000">
            <a:off x="4937771" y="2140126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izquierda 10"/>
          <p:cNvSpPr/>
          <p:nvPr/>
        </p:nvSpPr>
        <p:spPr>
          <a:xfrm rot="16456567">
            <a:off x="5490458" y="2187582"/>
            <a:ext cx="1128712" cy="285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CuadroTexto 11"/>
          <p:cNvSpPr txBox="1"/>
          <p:nvPr/>
        </p:nvSpPr>
        <p:spPr>
          <a:xfrm>
            <a:off x="5978134" y="1306512"/>
            <a:ext cx="182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f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unción 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818796" y="1199842"/>
            <a:ext cx="125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columna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870990" y="1345185"/>
            <a:ext cx="11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objeto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122408" y="2959265"/>
            <a:ext cx="90249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 smtClean="0"/>
              <a:t>                                        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(x,2,mean)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0.3805162 0.4332187 0.6282671 0.6771300[5] 0.5640575 0.3657652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65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1650206" y="2157323"/>
            <a:ext cx="8891588" cy="3416320"/>
            <a:chOff x="638175" y="2214473"/>
            <a:chExt cx="8891588" cy="3416320"/>
          </a:xfrm>
        </p:grpSpPr>
        <p:sp>
          <p:nvSpPr>
            <p:cNvPr id="2" name="Rectángulo 1"/>
            <p:cNvSpPr/>
            <p:nvPr/>
          </p:nvSpPr>
          <p:spPr>
            <a:xfrm>
              <a:off x="638175" y="2214473"/>
              <a:ext cx="701992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sz="2400" dirty="0" err="1" smtClean="0">
                  <a:latin typeface="Times New Roman" charset="0"/>
                  <a:ea typeface="Times New Roman" charset="0"/>
                  <a:cs typeface="Times New Roman" charset="0"/>
                </a:rPr>
                <a:t>apply</a:t>
              </a:r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 (x,1,function(x) x/2)  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         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               [,1]               [,2]               [,3]                [,4]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[1,] -0.05254367 0.4672694 0.01759697  0.04571595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[2,]  0.09256837 0.2831816 0.49552092 -0.07059052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[3,]  0.52900927 0.2696672 0.41975454  0.03003201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[4,]  0.19178326 0.5391532 0.61400916  0.32347091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[5,]  0.39533096 0.5580516 0.20639461  0.28285296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[6,]  0.39495002 0.6300232 0.10547766 -0.22946993</a:t>
              </a:r>
              <a:endParaRPr lang="es-ES_tradnl" sz="24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" name="Rectángulo 4"/>
            <p:cNvSpPr/>
            <p:nvPr/>
          </p:nvSpPr>
          <p:spPr>
            <a:xfrm>
              <a:off x="7423073" y="2953137"/>
              <a:ext cx="2106690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sz="2400" smtClean="0">
                  <a:latin typeface="Times New Roman" charset="0"/>
                  <a:ea typeface="Times New Roman" charset="0"/>
                  <a:cs typeface="Times New Roman" charset="0"/>
                </a:rPr>
                <a:t>   [,</a:t>
              </a:r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5]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0.47325190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0.28236635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0.32220462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0.02440848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-0.03248641</a:t>
              </a:r>
            </a:p>
            <a:p>
              <a:r>
                <a:rPr lang="es-ES_tradnl" sz="2400" dirty="0" smtClean="0">
                  <a:latin typeface="Times New Roman" charset="0"/>
                  <a:ea typeface="Times New Roman" charset="0"/>
                  <a:cs typeface="Times New Roman" charset="0"/>
                </a:rPr>
                <a:t>0.01343204</a:t>
              </a:r>
              <a:endParaRPr lang="es-ES_tradnl" sz="24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4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505199" y="2320021"/>
            <a:ext cx="4238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primerafuncion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&lt;-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function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(x){    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x &lt;- x*5    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x 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}</a:t>
            </a:r>
          </a:p>
          <a:p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(x,2,primerafuncion)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213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347787" y="1798539"/>
            <a:ext cx="1766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attach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(iris)</a:t>
            </a:r>
          </a:p>
        </p:txBody>
      </p:sp>
      <p:sp>
        <p:nvSpPr>
          <p:cNvPr id="5" name="Rectángulo 4"/>
          <p:cNvSpPr/>
          <p:nvPr/>
        </p:nvSpPr>
        <p:spPr>
          <a:xfrm>
            <a:off x="2149199" y="2712442"/>
            <a:ext cx="909816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str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(iris)'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data.frame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':	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150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obs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. of  5 variables: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Sepal.Length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5.1 4.9 4.7 4.6 5 5.4 4.6 5 4.4 4.9 ...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Sepal.Width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: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3.5 3 3.2 3.1 3.6 3.9 3.4 3.4 2.9 3.1 ...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Petal.Length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1.4 1.4 1.3 1.5 1.4 1.7 1.4 1.5 1.4 1.5 ...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Petal.Width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: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0.2 0.2 0.2 0.2 0.2 0.4 0.3 0.2 0.2 0.1 ...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Species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Factor w/ 3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levels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"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setosa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","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versicolor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",..: 1 1 1 1 1 1 1 1 1 1 ...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/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tapply () :Utilizarla sobre una hoja de datos para una variable determinada dada por un factor. El resultado es un vector.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219450" y="267721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tapply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iris$Petal.Width,iris$Species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, mean)   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</a:p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setosa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versicolor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virginica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   0.246      1.326      2.026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81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tapply () :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05138" y="260577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tapply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iris$Petal.Width,iris$Species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, sum)   </a:t>
            </a:r>
          </a:p>
          <a:p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setosa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versicolor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virginica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        12.3       66.3      101.3 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4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/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(): Se utiliza una función dada a una lista y se obtiene una lista como resultado. </a:t>
            </a:r>
          </a:p>
        </p:txBody>
      </p:sp>
      <p:sp>
        <p:nvSpPr>
          <p:cNvPr id="2" name="Rectángulo 1"/>
          <p:cNvSpPr/>
          <p:nvPr/>
        </p:nvSpPr>
        <p:spPr>
          <a:xfrm>
            <a:off x="4219534" y="2744271"/>
            <a:ext cx="281359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lapply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mi.lista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, sum)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[[1]]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[1] 65</a:t>
            </a:r>
          </a:p>
          <a:p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[[2]]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[1] 286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095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“apply ()”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B2FA6370-56A1-462C-BFF6-4889C03959B8}"/>
              </a:ext>
            </a:extLst>
          </p:cNvPr>
          <p:cNvSpPr txBox="1"/>
          <p:nvPr/>
        </p:nvSpPr>
        <p:spPr>
          <a:xfrm>
            <a:off x="620548" y="998936"/>
            <a:ext cx="10626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/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MX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(): Se utiliza una función dada a una lista y se obtiene un vector como resultado. </a:t>
            </a:r>
          </a:p>
        </p:txBody>
      </p:sp>
      <p:sp>
        <p:nvSpPr>
          <p:cNvPr id="3" name="Rectángulo 2"/>
          <p:cNvSpPr/>
          <p:nvPr/>
        </p:nvSpPr>
        <p:spPr>
          <a:xfrm>
            <a:off x="4402802" y="3072884"/>
            <a:ext cx="28488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sapply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mi.lista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, sum)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[1]  65 286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10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331822" y="2427462"/>
            <a:ext cx="804440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str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(Incendio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)'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data.frame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':	8077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obs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. of  7 variables: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Probability.mortality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0.0401 0.0237 0.0296 0.0664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Stand.age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Factor w/ 3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levels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"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Mature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","Old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", ”Young”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Fire.intensity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13.97 8.12 10.19 23.75 25.3 ...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Region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Factor w/ 3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levels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"A2","C3","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D4”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Stand.id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int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1 1 1 1 1 1 1 1 2 2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Tree.id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int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1 2 3 4 5 6 7 10 11 12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logFire.intensity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2.64 2.09 2.32 3.17 3.23 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227652" y="1510168"/>
            <a:ext cx="6848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Incendio&lt;-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read.table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("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Fire_intensity.txt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",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header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= T) </a:t>
            </a:r>
          </a:p>
        </p:txBody>
      </p:sp>
    </p:spTree>
    <p:extLst>
      <p:ext uri="{BB962C8B-B14F-4D97-AF65-F5344CB8AC3E}">
        <p14:creationId xmlns:p14="http://schemas.microsoft.com/office/powerpoint/2010/main" val="530554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istogramas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4" y="2217359"/>
            <a:ext cx="5668321" cy="376146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23" y="2217359"/>
            <a:ext cx="5789026" cy="385935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hist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87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Barras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774065" y="208805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str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(carros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)'data.frame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':32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obs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. of  4 variables: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eficiencia 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21 21 22.8 21.4 18.7 18.1 14.3 24.4 22.8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cilindros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6 6 4 6 8 6 8 4 4 6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peso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2.62 2.88 2.32 3.21 3.44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velocidades: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4 4 4 3 3 3 3 4 4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4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518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Barras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10" y="1545219"/>
            <a:ext cx="5968197" cy="397879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23" y="1705818"/>
            <a:ext cx="5740556" cy="381819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barplot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621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Barras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apiladas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barplot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511" y="1904316"/>
            <a:ext cx="6512689" cy="434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85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Barras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laterales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barplot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869" y="1513490"/>
            <a:ext cx="7280476" cy="48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89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Agregar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obtener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medias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barplot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764894" y="1671666"/>
            <a:ext cx="104384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aggdatos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&lt;-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aggregate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carros$eficiencia,by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=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list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carros$cilindros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),FUN=mean,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na.rm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=TRUE)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096" y="2502663"/>
            <a:ext cx="5972537" cy="398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98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Dispersión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1" r="3389"/>
          <a:stretch/>
        </p:blipFill>
        <p:spPr>
          <a:xfrm>
            <a:off x="2071580" y="1759219"/>
            <a:ext cx="7825064" cy="45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33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Dispersión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añadir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línea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ajuste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r="3333"/>
          <a:stretch/>
        </p:blipFill>
        <p:spPr>
          <a:xfrm>
            <a:off x="2280213" y="2047355"/>
            <a:ext cx="7060557" cy="413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8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Líneas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 y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lines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878957" y="2540659"/>
            <a:ext cx="84340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str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ModeloResultados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)'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data.frame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':	100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obs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. of  5 variables: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PoblacionMarlin8500: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17165 17305 16722 17222 16613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PoblacionMarlin5000: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17924 18290 17751 17687 17533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PoblacionMarlin3500: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18795 18912 18490 18632 18393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PoblacionMarlin3000: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18583 18366 18636 18489 18492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PoblacionMarlin100 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18797 19173 19515 19826 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20113</a:t>
            </a:r>
            <a:endParaRPr lang="es-ES_tradnl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678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Líneas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01569" y="1051825"/>
            <a:ext cx="5482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Función R :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plot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 y </a:t>
            </a:r>
            <a:r>
              <a:rPr lang="es-ES_tradnl" sz="2400" b="1" dirty="0" err="1" smtClean="0">
                <a:latin typeface="Times New Roman" charset="0"/>
                <a:ea typeface="Times New Roman" charset="0"/>
                <a:cs typeface="Times New Roman" charset="0"/>
              </a:rPr>
              <a:t>lines</a:t>
            </a:r>
            <a:r>
              <a:rPr lang="es-ES_tradnl" sz="2400" b="1" dirty="0" smtClean="0">
                <a:latin typeface="Times New Roman" charset="0"/>
                <a:ea typeface="Times New Roman" charset="0"/>
                <a:cs typeface="Times New Roman" charset="0"/>
              </a:rPr>
              <a:t> ()</a:t>
            </a:r>
            <a:endParaRPr lang="es-ES_tradnl" sz="2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2" r="4484"/>
          <a:stretch/>
        </p:blipFill>
        <p:spPr>
          <a:xfrm>
            <a:off x="1863524" y="1904316"/>
            <a:ext cx="7338350" cy="460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26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022430" y="1184834"/>
            <a:ext cx="101471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Para hacer gráficas en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ggplot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los datos deben estar estructurados como hoja de datos y en formato "largo" en vez de "ancho".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469264" y="3002059"/>
            <a:ext cx="75196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 err="1" smtClean="0">
                <a:latin typeface="Times New Roman" charset="0"/>
                <a:ea typeface="Times New Roman" charset="0"/>
                <a:cs typeface="Times New Roman" charset="0"/>
              </a:rPr>
              <a:t>str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(Data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)'data.frame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':500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obs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. of  2 variables: </a:t>
            </a:r>
            <a:endParaRPr lang="es-ES_tradnl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Escenario: Factor w/ 5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levels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"100","3000","3500</a:t>
            </a:r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",”5000”, “8500” </a:t>
            </a:r>
          </a:p>
          <a:p>
            <a:r>
              <a:rPr lang="es-ES_tradnl" sz="2400" dirty="0" smtClean="0">
                <a:latin typeface="Times New Roman" charset="0"/>
                <a:ea typeface="Times New Roman" charset="0"/>
                <a:cs typeface="Times New Roman" charset="0"/>
              </a:rPr>
              <a:t>$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Poblacion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s-ES_tradnl" sz="2400" dirty="0" err="1">
                <a:latin typeface="Times New Roman" charset="0"/>
                <a:ea typeface="Times New Roman" charset="0"/>
                <a:cs typeface="Times New Roman" charset="0"/>
              </a:rPr>
              <a:t>num</a:t>
            </a:r>
            <a:r>
              <a:rPr lang="es-ES_tradnl" sz="2400" dirty="0">
                <a:latin typeface="Times New Roman" charset="0"/>
                <a:ea typeface="Times New Roman" charset="0"/>
                <a:cs typeface="Times New Roman" charset="0"/>
              </a:rPr>
              <a:t>  17165 17305 16722 17222 16613 ..</a:t>
            </a:r>
          </a:p>
        </p:txBody>
      </p:sp>
    </p:spTree>
    <p:extLst>
      <p:ext uri="{BB962C8B-B14F-4D97-AF65-F5344CB8AC3E}">
        <p14:creationId xmlns:p14="http://schemas.microsoft.com/office/powerpoint/2010/main" val="1272201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Graficación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651" y="1425454"/>
            <a:ext cx="7289318" cy="487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83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2AB79E2F-5447-48D0-BE9F-AD06F0C8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360" y="107001"/>
            <a:ext cx="11521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Ejercicio</a:t>
            </a:r>
            <a:r>
              <a:rPr lang="en-US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729205" y="1562582"/>
                <a:ext cx="980375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Importar la base de datos </a:t>
                </a:r>
                <a:r>
                  <a:rPr lang="es-ES_tradnl" sz="2400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Urea.csv</a:t>
                </a:r>
                <a:endParaRPr lang="es-ES_tradnl" sz="2400" dirty="0" smtClean="0">
                  <a:latin typeface="Times New Roman" charset="0"/>
                  <a:ea typeface="Times New Roman" charset="0"/>
                  <a:cs typeface="Times New Roman" charset="0"/>
                </a:endParaRPr>
              </a:p>
              <a:p>
                <a:pPr marL="342900" indent="-342900">
                  <a:buAutoNum type="arabicPeriod"/>
                </a:pP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Hacer una grafica de dispersión </a:t>
                </a: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con línea de ajuste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de Progesterona </a:t>
                </a: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~ Urea, sin tomar en cuenta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el nivel de dosis.</a:t>
                </a:r>
              </a:p>
              <a:p>
                <a:pPr marL="342900" indent="-342900">
                  <a:buAutoNum type="arabicPeriod"/>
                </a:pP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Obtener </a:t>
                </a: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la media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de la variable Urea para cada nivel de dosis y </a:t>
                </a: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hacer una grafica de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barras.</a:t>
                </a:r>
              </a:p>
              <a:p>
                <a:pPr marL="342900" indent="-342900">
                  <a:buAutoNum type="arabicPeriod"/>
                </a:pP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Hacer una gráfica de barras en </a:t>
                </a:r>
                <a:r>
                  <a:rPr lang="es-ES_tradnl" sz="2400" dirty="0" err="1" smtClean="0">
                    <a:latin typeface="Times New Roman" charset="0"/>
                    <a:ea typeface="Times New Roman" charset="0"/>
                    <a:cs typeface="Times New Roman" charset="0"/>
                  </a:rPr>
                  <a:t>ggplot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 de la media de progesterona (media </a:t>
                </a:r>
                <a14:m>
                  <m:oMath xmlns:m="http://schemas.openxmlformats.org/officeDocument/2006/math">
                    <m:r>
                      <a:rPr lang="es-ES_tradnl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±</m:t>
                    </m:r>
                  </m:oMath>
                </a14:m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95% intervalo de confianza) para cada nivel de dosis.</a:t>
                </a:r>
              </a:p>
              <a:p>
                <a:pPr marL="342900" indent="-342900">
                  <a:buAutoNum type="arabicPeriod"/>
                </a:pP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Hacer una grafica de dispersión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Progesterona </a:t>
                </a: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~ Urea,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tomando en </a:t>
                </a:r>
                <a:r>
                  <a:rPr lang="es-ES_tradnl" sz="2400" dirty="0">
                    <a:latin typeface="Times New Roman" charset="0"/>
                    <a:ea typeface="Times New Roman" charset="0"/>
                    <a:cs typeface="Times New Roman" charset="0"/>
                  </a:rPr>
                  <a:t>cuenta </a:t>
                </a:r>
                <a:r>
                  <a:rPr lang="es-ES_tradnl" sz="2400" dirty="0" smtClean="0">
                    <a:latin typeface="Times New Roman" charset="0"/>
                    <a:ea typeface="Times New Roman" charset="0"/>
                    <a:cs typeface="Times New Roman" charset="0"/>
                  </a:rPr>
                  <a:t>el nivel de dosis- investigar en línea.</a:t>
                </a:r>
                <a:endParaRPr lang="es-ES_tradnl" sz="2400" dirty="0"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05" y="1562582"/>
                <a:ext cx="9803757" cy="3416320"/>
              </a:xfrm>
              <a:prstGeom prst="rect">
                <a:avLst/>
              </a:prstGeom>
              <a:blipFill rotWithShape="0">
                <a:blip r:embed="rId3"/>
                <a:stretch>
                  <a:fillRect l="-871" t="-1426" r="-933" b="-30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186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1009</Words>
  <Application>Microsoft Macintosh PowerPoint</Application>
  <PresentationFormat>Panorámica</PresentationFormat>
  <Paragraphs>241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Calibri</vt:lpstr>
      <vt:lpstr>Calibri Light</vt:lpstr>
      <vt:lpstr>Cambria Math</vt:lpstr>
      <vt:lpstr>Cronos Pro</vt:lpstr>
      <vt:lpstr>Times New Roman</vt:lpstr>
      <vt:lpstr>Wingdings</vt:lpstr>
      <vt:lpstr>Arial</vt:lpstr>
      <vt:lpstr>Tema de Office</vt:lpstr>
      <vt:lpstr>Estadística y modelación de sistemas socioecológicos en R</vt:lpstr>
      <vt:lpstr>Plan del día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Familia de funciones “apply ()”</vt:lpstr>
      <vt:lpstr>Graficación: Histogramas</vt:lpstr>
      <vt:lpstr>Graficación: Histogramas</vt:lpstr>
      <vt:lpstr>Graficación: Barras</vt:lpstr>
      <vt:lpstr>Graficación: Barras</vt:lpstr>
      <vt:lpstr>Graficación: Barras apiladas</vt:lpstr>
      <vt:lpstr>Graficación: Barras laterales</vt:lpstr>
      <vt:lpstr>Graficación: Agregar datos y obtener medias</vt:lpstr>
      <vt:lpstr>Graficación: Dispersión</vt:lpstr>
      <vt:lpstr>Graficación: Dispersión - añadir línea de ajuste</vt:lpstr>
      <vt:lpstr>Graficación: Líneas </vt:lpstr>
      <vt:lpstr>Graficación: Líneas </vt:lpstr>
      <vt:lpstr>Graficación: ggplot</vt:lpstr>
      <vt:lpstr>Graficación: ggplot</vt:lpstr>
      <vt:lpstr>Ejercicio 5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Usuario de Microsoft Office</cp:lastModifiedBy>
  <cp:revision>47</cp:revision>
  <dcterms:created xsi:type="dcterms:W3CDTF">2017-12-14T16:01:45Z</dcterms:created>
  <dcterms:modified xsi:type="dcterms:W3CDTF">2017-12-30T00:39:22Z</dcterms:modified>
</cp:coreProperties>
</file>