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7" r:id="rId2"/>
    <p:sldId id="258" r:id="rId3"/>
    <p:sldId id="259" r:id="rId4"/>
    <p:sldId id="260" r:id="rId5"/>
    <p:sldId id="261" r:id="rId6"/>
    <p:sldId id="262" r:id="rId7"/>
    <p:sldId id="275" r:id="rId8"/>
    <p:sldId id="263" r:id="rId9"/>
    <p:sldId id="264" r:id="rId10"/>
    <p:sldId id="265" r:id="rId11"/>
    <p:sldId id="266" r:id="rId12"/>
    <p:sldId id="267" r:id="rId13"/>
    <p:sldId id="269" r:id="rId14"/>
    <p:sldId id="268" r:id="rId15"/>
    <p:sldId id="270" r:id="rId16"/>
    <p:sldId id="271" r:id="rId17"/>
    <p:sldId id="272" r:id="rId18"/>
    <p:sldId id="274" r:id="rId19"/>
    <p:sldId id="273" r:id="rId20"/>
    <p:sldId id="276" r:id="rId21"/>
    <p:sldId id="277" r:id="rId22"/>
    <p:sldId id="286" r:id="rId23"/>
    <p:sldId id="278" r:id="rId24"/>
    <p:sldId id="279" r:id="rId25"/>
    <p:sldId id="287" r:id="rId26"/>
    <p:sldId id="280" r:id="rId27"/>
    <p:sldId id="282" r:id="rId28"/>
    <p:sldId id="284" r:id="rId29"/>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65"/>
    <p:restoredTop sz="94706"/>
  </p:normalViewPr>
  <p:slideViewPr>
    <p:cSldViewPr snapToGrid="0" snapToObjects="1">
      <p:cViewPr varScale="1">
        <p:scale>
          <a:sx n="85" d="100"/>
          <a:sy n="85" d="100"/>
        </p:scale>
        <p:origin x="104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9821B-AFF6-6C48-B8D5-5717AEBA3000}" type="datetimeFigureOut">
              <a:rPr lang="es-ES_tradnl" smtClean="0"/>
              <a:t>7/1/20</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86C80D-4B0F-B244-8F7B-37E059609CE7}" type="slidenum">
              <a:rPr lang="es-ES_tradnl" smtClean="0"/>
              <a:t>‹Nr.›</a:t>
            </a:fld>
            <a:endParaRPr lang="es-ES_tradnl"/>
          </a:p>
        </p:txBody>
      </p:sp>
    </p:spTree>
    <p:extLst>
      <p:ext uri="{BB962C8B-B14F-4D97-AF65-F5344CB8AC3E}">
        <p14:creationId xmlns:p14="http://schemas.microsoft.com/office/powerpoint/2010/main" val="81768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a:t>
            </a:fld>
            <a:endParaRPr lang="es-MX"/>
          </a:p>
        </p:txBody>
      </p:sp>
    </p:spTree>
    <p:extLst>
      <p:ext uri="{BB962C8B-B14F-4D97-AF65-F5344CB8AC3E}">
        <p14:creationId xmlns:p14="http://schemas.microsoft.com/office/powerpoint/2010/main" val="1022071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a:t>
            </a:fld>
            <a:endParaRPr lang="es-MX"/>
          </a:p>
        </p:txBody>
      </p:sp>
    </p:spTree>
    <p:extLst>
      <p:ext uri="{BB962C8B-B14F-4D97-AF65-F5344CB8AC3E}">
        <p14:creationId xmlns:p14="http://schemas.microsoft.com/office/powerpoint/2010/main" val="225639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3</a:t>
            </a:fld>
            <a:endParaRPr lang="es-MX"/>
          </a:p>
        </p:txBody>
      </p:sp>
    </p:spTree>
    <p:extLst>
      <p:ext uri="{BB962C8B-B14F-4D97-AF65-F5344CB8AC3E}">
        <p14:creationId xmlns:p14="http://schemas.microsoft.com/office/powerpoint/2010/main" val="2090920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4</a:t>
            </a:fld>
            <a:endParaRPr lang="es-MX"/>
          </a:p>
        </p:txBody>
      </p:sp>
    </p:spTree>
    <p:extLst>
      <p:ext uri="{BB962C8B-B14F-4D97-AF65-F5344CB8AC3E}">
        <p14:creationId xmlns:p14="http://schemas.microsoft.com/office/powerpoint/2010/main" val="1013324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5</a:t>
            </a:fld>
            <a:endParaRPr lang="es-MX"/>
          </a:p>
        </p:txBody>
      </p:sp>
    </p:spTree>
    <p:extLst>
      <p:ext uri="{BB962C8B-B14F-4D97-AF65-F5344CB8AC3E}">
        <p14:creationId xmlns:p14="http://schemas.microsoft.com/office/powerpoint/2010/main" val="929041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6</a:t>
            </a:fld>
            <a:endParaRPr lang="es-MX"/>
          </a:p>
        </p:txBody>
      </p:sp>
    </p:spTree>
    <p:extLst>
      <p:ext uri="{BB962C8B-B14F-4D97-AF65-F5344CB8AC3E}">
        <p14:creationId xmlns:p14="http://schemas.microsoft.com/office/powerpoint/2010/main" val="1780927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7</a:t>
            </a:fld>
            <a:endParaRPr lang="es-MX"/>
          </a:p>
        </p:txBody>
      </p:sp>
    </p:spTree>
    <p:extLst>
      <p:ext uri="{BB962C8B-B14F-4D97-AF65-F5344CB8AC3E}">
        <p14:creationId xmlns:p14="http://schemas.microsoft.com/office/powerpoint/2010/main" val="251200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8</a:t>
            </a:fld>
            <a:endParaRPr lang="es-MX"/>
          </a:p>
        </p:txBody>
      </p:sp>
    </p:spTree>
    <p:extLst>
      <p:ext uri="{BB962C8B-B14F-4D97-AF65-F5344CB8AC3E}">
        <p14:creationId xmlns:p14="http://schemas.microsoft.com/office/powerpoint/2010/main" val="1268184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9</a:t>
            </a:fld>
            <a:endParaRPr lang="es-MX"/>
          </a:p>
        </p:txBody>
      </p:sp>
    </p:spTree>
    <p:extLst>
      <p:ext uri="{BB962C8B-B14F-4D97-AF65-F5344CB8AC3E}">
        <p14:creationId xmlns:p14="http://schemas.microsoft.com/office/powerpoint/2010/main" val="1533409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10</a:t>
            </a:fld>
            <a:endParaRPr lang="es-MX"/>
          </a:p>
        </p:txBody>
      </p:sp>
    </p:spTree>
    <p:extLst>
      <p:ext uri="{BB962C8B-B14F-4D97-AF65-F5344CB8AC3E}">
        <p14:creationId xmlns:p14="http://schemas.microsoft.com/office/powerpoint/2010/main" val="66377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11</a:t>
            </a:fld>
            <a:endParaRPr lang="es-MX"/>
          </a:p>
        </p:txBody>
      </p:sp>
    </p:spTree>
    <p:extLst>
      <p:ext uri="{BB962C8B-B14F-4D97-AF65-F5344CB8AC3E}">
        <p14:creationId xmlns:p14="http://schemas.microsoft.com/office/powerpoint/2010/main" val="1807217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12</a:t>
            </a:fld>
            <a:endParaRPr lang="es-MX"/>
          </a:p>
        </p:txBody>
      </p:sp>
    </p:spTree>
    <p:extLst>
      <p:ext uri="{BB962C8B-B14F-4D97-AF65-F5344CB8AC3E}">
        <p14:creationId xmlns:p14="http://schemas.microsoft.com/office/powerpoint/2010/main" val="1575313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13</a:t>
            </a:fld>
            <a:endParaRPr lang="es-MX"/>
          </a:p>
        </p:txBody>
      </p:sp>
    </p:spTree>
    <p:extLst>
      <p:ext uri="{BB962C8B-B14F-4D97-AF65-F5344CB8AC3E}">
        <p14:creationId xmlns:p14="http://schemas.microsoft.com/office/powerpoint/2010/main" val="948628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14</a:t>
            </a:fld>
            <a:endParaRPr lang="es-MX"/>
          </a:p>
        </p:txBody>
      </p:sp>
    </p:spTree>
    <p:extLst>
      <p:ext uri="{BB962C8B-B14F-4D97-AF65-F5344CB8AC3E}">
        <p14:creationId xmlns:p14="http://schemas.microsoft.com/office/powerpoint/2010/main" val="7523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15</a:t>
            </a:fld>
            <a:endParaRPr lang="es-MX"/>
          </a:p>
        </p:txBody>
      </p:sp>
    </p:spTree>
    <p:extLst>
      <p:ext uri="{BB962C8B-B14F-4D97-AF65-F5344CB8AC3E}">
        <p14:creationId xmlns:p14="http://schemas.microsoft.com/office/powerpoint/2010/main" val="1092791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16</a:t>
            </a:fld>
            <a:endParaRPr lang="es-MX"/>
          </a:p>
        </p:txBody>
      </p:sp>
    </p:spTree>
    <p:extLst>
      <p:ext uri="{BB962C8B-B14F-4D97-AF65-F5344CB8AC3E}">
        <p14:creationId xmlns:p14="http://schemas.microsoft.com/office/powerpoint/2010/main" val="1533305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17</a:t>
            </a:fld>
            <a:endParaRPr lang="es-MX"/>
          </a:p>
        </p:txBody>
      </p:sp>
    </p:spTree>
    <p:extLst>
      <p:ext uri="{BB962C8B-B14F-4D97-AF65-F5344CB8AC3E}">
        <p14:creationId xmlns:p14="http://schemas.microsoft.com/office/powerpoint/2010/main" val="415700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18</a:t>
            </a:fld>
            <a:endParaRPr lang="es-MX"/>
          </a:p>
        </p:txBody>
      </p:sp>
    </p:spTree>
    <p:extLst>
      <p:ext uri="{BB962C8B-B14F-4D97-AF65-F5344CB8AC3E}">
        <p14:creationId xmlns:p14="http://schemas.microsoft.com/office/powerpoint/2010/main" val="1706427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19</a:t>
            </a:fld>
            <a:endParaRPr lang="es-MX"/>
          </a:p>
        </p:txBody>
      </p:sp>
    </p:spTree>
    <p:extLst>
      <p:ext uri="{BB962C8B-B14F-4D97-AF65-F5344CB8AC3E}">
        <p14:creationId xmlns:p14="http://schemas.microsoft.com/office/powerpoint/2010/main" val="1931431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20</a:t>
            </a:fld>
            <a:endParaRPr lang="es-MX"/>
          </a:p>
        </p:txBody>
      </p:sp>
    </p:spTree>
    <p:extLst>
      <p:ext uri="{BB962C8B-B14F-4D97-AF65-F5344CB8AC3E}">
        <p14:creationId xmlns:p14="http://schemas.microsoft.com/office/powerpoint/2010/main" val="1557729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21</a:t>
            </a:fld>
            <a:endParaRPr lang="es-MX"/>
          </a:p>
        </p:txBody>
      </p:sp>
    </p:spTree>
    <p:extLst>
      <p:ext uri="{BB962C8B-B14F-4D97-AF65-F5344CB8AC3E}">
        <p14:creationId xmlns:p14="http://schemas.microsoft.com/office/powerpoint/2010/main" val="1335986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22</a:t>
            </a:fld>
            <a:endParaRPr lang="es-MX"/>
          </a:p>
        </p:txBody>
      </p:sp>
    </p:spTree>
    <p:extLst>
      <p:ext uri="{BB962C8B-B14F-4D97-AF65-F5344CB8AC3E}">
        <p14:creationId xmlns:p14="http://schemas.microsoft.com/office/powerpoint/2010/main" val="1451427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23</a:t>
            </a:fld>
            <a:endParaRPr lang="es-MX"/>
          </a:p>
        </p:txBody>
      </p:sp>
    </p:spTree>
    <p:extLst>
      <p:ext uri="{BB962C8B-B14F-4D97-AF65-F5344CB8AC3E}">
        <p14:creationId xmlns:p14="http://schemas.microsoft.com/office/powerpoint/2010/main" val="1238581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24</a:t>
            </a:fld>
            <a:endParaRPr lang="es-MX"/>
          </a:p>
        </p:txBody>
      </p:sp>
    </p:spTree>
    <p:extLst>
      <p:ext uri="{BB962C8B-B14F-4D97-AF65-F5344CB8AC3E}">
        <p14:creationId xmlns:p14="http://schemas.microsoft.com/office/powerpoint/2010/main" val="2090727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25</a:t>
            </a:fld>
            <a:endParaRPr lang="es-MX"/>
          </a:p>
        </p:txBody>
      </p:sp>
    </p:spTree>
    <p:extLst>
      <p:ext uri="{BB962C8B-B14F-4D97-AF65-F5344CB8AC3E}">
        <p14:creationId xmlns:p14="http://schemas.microsoft.com/office/powerpoint/2010/main" val="7457469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26</a:t>
            </a:fld>
            <a:endParaRPr lang="es-MX"/>
          </a:p>
        </p:txBody>
      </p:sp>
    </p:spTree>
    <p:extLst>
      <p:ext uri="{BB962C8B-B14F-4D97-AF65-F5344CB8AC3E}">
        <p14:creationId xmlns:p14="http://schemas.microsoft.com/office/powerpoint/2010/main" val="7213613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27</a:t>
            </a:fld>
            <a:endParaRPr lang="es-MX"/>
          </a:p>
        </p:txBody>
      </p:sp>
    </p:spTree>
    <p:extLst>
      <p:ext uri="{BB962C8B-B14F-4D97-AF65-F5344CB8AC3E}">
        <p14:creationId xmlns:p14="http://schemas.microsoft.com/office/powerpoint/2010/main" val="1010072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Falta Urbano</a:t>
            </a:r>
            <a:r>
              <a:rPr lang="es-MX" baseline="0" dirty="0"/>
              <a:t> </a:t>
            </a:r>
            <a:endParaRPr lang="es-MX" dirty="0"/>
          </a:p>
        </p:txBody>
      </p:sp>
      <p:sp>
        <p:nvSpPr>
          <p:cNvPr id="4" name="Slide Number Placeholder 3"/>
          <p:cNvSpPr>
            <a:spLocks noGrp="1"/>
          </p:cNvSpPr>
          <p:nvPr>
            <p:ph type="sldNum" sz="quarter" idx="10"/>
          </p:nvPr>
        </p:nvSpPr>
        <p:spPr/>
        <p:txBody>
          <a:bodyPr/>
          <a:lstStyle/>
          <a:p>
            <a:fld id="{AEC6A470-342E-47E4-9002-25C601CD0849}" type="slidenum">
              <a:rPr lang="es-MX" smtClean="0"/>
              <a:t>28</a:t>
            </a:fld>
            <a:endParaRPr lang="es-MX"/>
          </a:p>
        </p:txBody>
      </p:sp>
    </p:spTree>
    <p:extLst>
      <p:ext uri="{BB962C8B-B14F-4D97-AF65-F5344CB8AC3E}">
        <p14:creationId xmlns:p14="http://schemas.microsoft.com/office/powerpoint/2010/main" val="2143982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_tradnl" smtClean="0"/>
              <a:t>Clic para editar título</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_tradnl" smtClean="0"/>
              <a:t>Haga clic para modificar el estilo de subtítulo del patrón</a:t>
            </a:r>
            <a:endParaRPr lang="es-ES_tradnl"/>
          </a:p>
        </p:txBody>
      </p:sp>
      <p:sp>
        <p:nvSpPr>
          <p:cNvPr id="4" name="Marcador de fecha 3"/>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427757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contenido 2"/>
          <p:cNvSpPr>
            <a:spLocks noGrp="1"/>
          </p:cNvSpPr>
          <p:nvPr>
            <p:ph idx="1"/>
          </p:nvPr>
        </p:nvSpPr>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339627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_tradnl" smtClean="0"/>
              <a:t>Clic para editar título</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_tradnl" smtClean="0"/>
              <a:t>Haga clic para modificar el estilo de texto del patrón</a:t>
            </a:r>
          </a:p>
        </p:txBody>
      </p:sp>
      <p:sp>
        <p:nvSpPr>
          <p:cNvPr id="4" name="Marcador de fecha 3"/>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09320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5" name="Marcador de fecha 4"/>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259243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_tradnl" smtClean="0"/>
              <a:t>Clic para editar título</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7" name="Marcador de fecha 6"/>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647373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fecha 2"/>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250678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590453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_tradnl" smtClean="0"/>
              <a:t>Clic para editar título</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223537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_tradnl" smtClean="0"/>
              <a:t>Clic para editar título</a:t>
            </a:r>
            <a:endParaRPr lang="es-ES_tradnl"/>
          </a:p>
        </p:txBody>
      </p:sp>
      <p:sp>
        <p:nvSpPr>
          <p:cNvPr id="3" name="Marcador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044250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texto vertical 2"/>
          <p:cNvSpPr>
            <a:spLocks noGrp="1"/>
          </p:cNvSpPr>
          <p:nvPr>
            <p:ph type="body" orient="vert" idx="1"/>
          </p:nvPr>
        </p:nvSpPr>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1480529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_tradnl" smtClean="0"/>
              <a:t>Clic para editar título</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369498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ítulo+texto+pleca">
    <p:spTree>
      <p:nvGrpSpPr>
        <p:cNvPr id="1" name=""/>
        <p:cNvGrpSpPr/>
        <p:nvPr/>
      </p:nvGrpSpPr>
      <p:grpSpPr>
        <a:xfrm>
          <a:off x="0" y="0"/>
          <a:ext cx="0" cy="0"/>
          <a:chOff x="0" y="0"/>
          <a:chExt cx="0" cy="0"/>
        </a:xfrm>
      </p:grpSpPr>
      <p:grpSp>
        <p:nvGrpSpPr>
          <p:cNvPr id="2" name="6 Grupo"/>
          <p:cNvGrpSpPr/>
          <p:nvPr userDrawn="1"/>
        </p:nvGrpSpPr>
        <p:grpSpPr>
          <a:xfrm>
            <a:off x="0" y="6478594"/>
            <a:ext cx="12192000" cy="434975"/>
            <a:chOff x="0" y="6313488"/>
            <a:chExt cx="9144000" cy="600075"/>
          </a:xfrm>
        </p:grpSpPr>
        <p:sp>
          <p:nvSpPr>
            <p:cNvPr id="8" name="Freeform 5"/>
            <p:cNvSpPr>
              <a:spLocks/>
            </p:cNvSpPr>
            <p:nvPr userDrawn="1"/>
          </p:nvSpPr>
          <p:spPr bwMode="auto">
            <a:xfrm>
              <a:off x="0" y="6313488"/>
              <a:ext cx="9144000" cy="342900"/>
            </a:xfrm>
            <a:custGeom>
              <a:avLst/>
              <a:gdLst>
                <a:gd name="T0" fmla="*/ 0 w 3169"/>
                <a:gd name="T1" fmla="*/ 25 h 116"/>
                <a:gd name="T2" fmla="*/ 1024 w 3169"/>
                <a:gd name="T3" fmla="*/ 38 h 116"/>
                <a:gd name="T4" fmla="*/ 1766 w 3169"/>
                <a:gd name="T5" fmla="*/ 43 h 116"/>
                <a:gd name="T6" fmla="*/ 2560 w 3169"/>
                <a:gd name="T7" fmla="*/ 58 h 116"/>
                <a:gd name="T8" fmla="*/ 3169 w 3169"/>
                <a:gd name="T9" fmla="*/ 15 h 116"/>
                <a:gd name="T10" fmla="*/ 3169 w 3169"/>
                <a:gd name="T11" fmla="*/ 94 h 116"/>
                <a:gd name="T12" fmla="*/ 2260 w 3169"/>
                <a:gd name="T13" fmla="*/ 115 h 116"/>
                <a:gd name="T14" fmla="*/ 775 w 3169"/>
                <a:gd name="T15" fmla="*/ 57 h 116"/>
                <a:gd name="T16" fmla="*/ 0 w 3169"/>
                <a:gd name="T17" fmla="*/ 76 h 116"/>
                <a:gd name="T18" fmla="*/ 0 w 3169"/>
                <a:gd name="T19" fmla="*/ 2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69" h="116">
                  <a:moveTo>
                    <a:pt x="0" y="25"/>
                  </a:moveTo>
                  <a:cubicBezTo>
                    <a:pt x="0" y="25"/>
                    <a:pt x="691" y="0"/>
                    <a:pt x="1024" y="38"/>
                  </a:cubicBezTo>
                  <a:cubicBezTo>
                    <a:pt x="1303" y="70"/>
                    <a:pt x="1628" y="39"/>
                    <a:pt x="1766" y="43"/>
                  </a:cubicBezTo>
                  <a:cubicBezTo>
                    <a:pt x="1934" y="48"/>
                    <a:pt x="2270" y="76"/>
                    <a:pt x="2560" y="58"/>
                  </a:cubicBezTo>
                  <a:cubicBezTo>
                    <a:pt x="2850" y="40"/>
                    <a:pt x="3169" y="15"/>
                    <a:pt x="3169" y="15"/>
                  </a:cubicBezTo>
                  <a:cubicBezTo>
                    <a:pt x="3169" y="94"/>
                    <a:pt x="3169" y="94"/>
                    <a:pt x="3169" y="94"/>
                  </a:cubicBezTo>
                  <a:cubicBezTo>
                    <a:pt x="3169" y="94"/>
                    <a:pt x="2627" y="116"/>
                    <a:pt x="2260" y="115"/>
                  </a:cubicBezTo>
                  <a:cubicBezTo>
                    <a:pt x="1263" y="112"/>
                    <a:pt x="1069" y="59"/>
                    <a:pt x="775" y="57"/>
                  </a:cubicBezTo>
                  <a:cubicBezTo>
                    <a:pt x="557" y="55"/>
                    <a:pt x="413" y="94"/>
                    <a:pt x="0" y="76"/>
                  </a:cubicBezTo>
                  <a:lnTo>
                    <a:pt x="0" y="25"/>
                  </a:lnTo>
                  <a:close/>
                </a:path>
              </a:pathLst>
            </a:custGeom>
            <a:solidFill>
              <a:srgbClr val="ACC3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sz="2400"/>
            </a:p>
          </p:txBody>
        </p:sp>
        <p:sp>
          <p:nvSpPr>
            <p:cNvPr id="9" name="Freeform 6"/>
            <p:cNvSpPr>
              <a:spLocks/>
            </p:cNvSpPr>
            <p:nvPr userDrawn="1"/>
          </p:nvSpPr>
          <p:spPr bwMode="auto">
            <a:xfrm>
              <a:off x="0" y="6478588"/>
              <a:ext cx="9144000" cy="434975"/>
            </a:xfrm>
            <a:custGeom>
              <a:avLst/>
              <a:gdLst>
                <a:gd name="T0" fmla="*/ 0 w 3169"/>
                <a:gd name="T1" fmla="*/ 0 h 147"/>
                <a:gd name="T2" fmla="*/ 495 w 3169"/>
                <a:gd name="T3" fmla="*/ 14 h 147"/>
                <a:gd name="T4" fmla="*/ 1553 w 3169"/>
                <a:gd name="T5" fmla="*/ 35 h 147"/>
                <a:gd name="T6" fmla="*/ 2610 w 3169"/>
                <a:gd name="T7" fmla="*/ 39 h 147"/>
                <a:gd name="T8" fmla="*/ 3169 w 3169"/>
                <a:gd name="T9" fmla="*/ 17 h 147"/>
                <a:gd name="T10" fmla="*/ 3169 w 3169"/>
                <a:gd name="T11" fmla="*/ 86 h 147"/>
                <a:gd name="T12" fmla="*/ 1880 w 3169"/>
                <a:gd name="T13" fmla="*/ 101 h 147"/>
                <a:gd name="T14" fmla="*/ 821 w 3169"/>
                <a:gd name="T15" fmla="*/ 101 h 147"/>
                <a:gd name="T16" fmla="*/ 0 w 3169"/>
                <a:gd name="T17" fmla="*/ 81 h 147"/>
                <a:gd name="T18" fmla="*/ 0 w 3169"/>
                <a:gd name="T1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69" h="147">
                  <a:moveTo>
                    <a:pt x="0" y="0"/>
                  </a:moveTo>
                  <a:cubicBezTo>
                    <a:pt x="0" y="0"/>
                    <a:pt x="202" y="15"/>
                    <a:pt x="495" y="14"/>
                  </a:cubicBezTo>
                  <a:cubicBezTo>
                    <a:pt x="778" y="12"/>
                    <a:pt x="1415" y="33"/>
                    <a:pt x="1553" y="35"/>
                  </a:cubicBezTo>
                  <a:cubicBezTo>
                    <a:pt x="1947" y="42"/>
                    <a:pt x="2320" y="57"/>
                    <a:pt x="2610" y="39"/>
                  </a:cubicBezTo>
                  <a:cubicBezTo>
                    <a:pt x="2900" y="21"/>
                    <a:pt x="3169" y="17"/>
                    <a:pt x="3169" y="17"/>
                  </a:cubicBezTo>
                  <a:cubicBezTo>
                    <a:pt x="3169" y="86"/>
                    <a:pt x="3169" y="86"/>
                    <a:pt x="3169" y="86"/>
                  </a:cubicBezTo>
                  <a:cubicBezTo>
                    <a:pt x="3169" y="86"/>
                    <a:pt x="2309" y="147"/>
                    <a:pt x="1880" y="101"/>
                  </a:cubicBezTo>
                  <a:cubicBezTo>
                    <a:pt x="1520" y="62"/>
                    <a:pt x="1100" y="71"/>
                    <a:pt x="821" y="101"/>
                  </a:cubicBezTo>
                  <a:cubicBezTo>
                    <a:pt x="606" y="124"/>
                    <a:pt x="419" y="62"/>
                    <a:pt x="0" y="81"/>
                  </a:cubicBezTo>
                  <a:lnTo>
                    <a:pt x="0" y="0"/>
                  </a:lnTo>
                  <a:close/>
                </a:path>
              </a:pathLst>
            </a:custGeom>
            <a:solidFill>
              <a:srgbClr val="46C7F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sz="2400"/>
            </a:p>
          </p:txBody>
        </p:sp>
        <p:sp>
          <p:nvSpPr>
            <p:cNvPr id="10" name="Freeform 7"/>
            <p:cNvSpPr>
              <a:spLocks/>
            </p:cNvSpPr>
            <p:nvPr userDrawn="1"/>
          </p:nvSpPr>
          <p:spPr bwMode="auto">
            <a:xfrm>
              <a:off x="0" y="6605588"/>
              <a:ext cx="9144000" cy="280987"/>
            </a:xfrm>
            <a:custGeom>
              <a:avLst/>
              <a:gdLst>
                <a:gd name="T0" fmla="*/ 0 w 3169"/>
                <a:gd name="T1" fmla="*/ 13 h 95"/>
                <a:gd name="T2" fmla="*/ 0 w 3169"/>
                <a:gd name="T3" fmla="*/ 95 h 95"/>
                <a:gd name="T4" fmla="*/ 3169 w 3169"/>
                <a:gd name="T5" fmla="*/ 95 h 95"/>
                <a:gd name="T6" fmla="*/ 3169 w 3169"/>
                <a:gd name="T7" fmla="*/ 19 h 95"/>
                <a:gd name="T8" fmla="*/ 2511 w 3169"/>
                <a:gd name="T9" fmla="*/ 38 h 95"/>
                <a:gd name="T10" fmla="*/ 1150 w 3169"/>
                <a:gd name="T11" fmla="*/ 43 h 95"/>
                <a:gd name="T12" fmla="*/ 567 w 3169"/>
                <a:gd name="T13" fmla="*/ 14 h 95"/>
                <a:gd name="T14" fmla="*/ 0 w 3169"/>
                <a:gd name="T15" fmla="*/ 13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69" h="95">
                  <a:moveTo>
                    <a:pt x="0" y="13"/>
                  </a:moveTo>
                  <a:cubicBezTo>
                    <a:pt x="0" y="95"/>
                    <a:pt x="0" y="95"/>
                    <a:pt x="0" y="95"/>
                  </a:cubicBezTo>
                  <a:cubicBezTo>
                    <a:pt x="3169" y="95"/>
                    <a:pt x="3169" y="95"/>
                    <a:pt x="3169" y="95"/>
                  </a:cubicBezTo>
                  <a:cubicBezTo>
                    <a:pt x="3169" y="19"/>
                    <a:pt x="3169" y="19"/>
                    <a:pt x="3169" y="19"/>
                  </a:cubicBezTo>
                  <a:cubicBezTo>
                    <a:pt x="3169" y="19"/>
                    <a:pt x="3078" y="6"/>
                    <a:pt x="2511" y="38"/>
                  </a:cubicBezTo>
                  <a:cubicBezTo>
                    <a:pt x="1830" y="76"/>
                    <a:pt x="1434" y="49"/>
                    <a:pt x="1150" y="43"/>
                  </a:cubicBezTo>
                  <a:cubicBezTo>
                    <a:pt x="821" y="36"/>
                    <a:pt x="694" y="21"/>
                    <a:pt x="567" y="14"/>
                  </a:cubicBezTo>
                  <a:cubicBezTo>
                    <a:pt x="443" y="8"/>
                    <a:pt x="246" y="0"/>
                    <a:pt x="0" y="13"/>
                  </a:cubicBezTo>
                  <a:close/>
                </a:path>
              </a:pathLst>
            </a:custGeom>
            <a:solidFill>
              <a:srgbClr val="034EA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MX" sz="2400"/>
            </a:p>
          </p:txBody>
        </p:sp>
      </p:grpSp>
      <p:sp>
        <p:nvSpPr>
          <p:cNvPr id="15" name="14 Título"/>
          <p:cNvSpPr>
            <a:spLocks noGrp="1"/>
          </p:cNvSpPr>
          <p:nvPr>
            <p:ph type="title" hasCustomPrompt="1"/>
          </p:nvPr>
        </p:nvSpPr>
        <p:spPr>
          <a:xfrm>
            <a:off x="335360" y="216000"/>
            <a:ext cx="11521280" cy="336000"/>
          </a:xfrm>
        </p:spPr>
        <p:txBody>
          <a:bodyPr lIns="0" tIns="0" rIns="0" bIns="0">
            <a:noAutofit/>
          </a:bodyPr>
          <a:lstStyle>
            <a:lvl1pPr marL="0" algn="l" defTabSz="1219170" rtl="0" eaLnBrk="1" latinLnBrk="0" hangingPunct="1">
              <a:defRPr lang="es-MX" sz="2667" b="1" kern="1200" dirty="0">
                <a:solidFill>
                  <a:srgbClr val="034EA1"/>
                </a:solidFill>
                <a:latin typeface="+mn-lt"/>
                <a:ea typeface="+mn-ea"/>
                <a:cs typeface="+mn-cs"/>
              </a:defRPr>
            </a:lvl1pPr>
          </a:lstStyle>
          <a:p>
            <a:r>
              <a:rPr lang="es-ES" dirty="0"/>
              <a:t>Título</a:t>
            </a:r>
            <a:endParaRPr lang="es-MX" dirty="0"/>
          </a:p>
        </p:txBody>
      </p:sp>
      <p:sp>
        <p:nvSpPr>
          <p:cNvPr id="13" name="4 Marcador de texto"/>
          <p:cNvSpPr>
            <a:spLocks noGrp="1"/>
          </p:cNvSpPr>
          <p:nvPr>
            <p:ph type="body" sz="quarter" idx="10"/>
          </p:nvPr>
        </p:nvSpPr>
        <p:spPr>
          <a:xfrm>
            <a:off x="335360" y="756000"/>
            <a:ext cx="11521280" cy="5400000"/>
          </a:xfrm>
        </p:spPr>
        <p:txBody>
          <a:bodyPr lIns="0" tIns="0" rIns="0" bIns="0">
            <a:noAutofit/>
          </a:bodyPr>
          <a:lstStyle>
            <a:lvl1pPr marL="0" indent="0">
              <a:buNone/>
              <a:defRPr sz="2400" baseline="0"/>
            </a:lvl1pPr>
            <a:lvl2pPr marL="239994" indent="-239994">
              <a:buFont typeface="Wingdings" pitchFamily="2" charset="2"/>
              <a:buChar char="§"/>
              <a:defRPr sz="2400" baseline="0"/>
            </a:lvl2pPr>
            <a:lvl3pPr marL="479988" indent="-239994">
              <a:defRPr sz="2400" baseline="0"/>
            </a:lvl3pPr>
            <a:lvl4pPr marL="719982" indent="-239994">
              <a:buFont typeface="Cronos Pro" pitchFamily="34" charset="0"/>
              <a:buChar char="&gt;"/>
              <a:defRPr sz="2400" baseline="0"/>
            </a:lvl4pPr>
            <a:lvl5pPr marL="959976" indent="-239994">
              <a:defRPr sz="2400" baseline="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0236968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_tradnl" smtClean="0"/>
              <a:t>Clic para editar título</a:t>
            </a:r>
            <a:endParaRPr lang="es-ES_tradnl"/>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8E745F-66D2-E24C-984A-C876C5C32EA3}" type="datetimeFigureOut">
              <a:rPr lang="es-ES_tradnl" smtClean="0"/>
              <a:t>7/1/20</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7A058-5B82-9C40-8F6E-CD34CEDE58EF}" type="slidenum">
              <a:rPr lang="es-ES_tradnl" smtClean="0"/>
              <a:t>‹Nr.›</a:t>
            </a:fld>
            <a:endParaRPr lang="es-ES_tradnl"/>
          </a:p>
        </p:txBody>
      </p:sp>
    </p:spTree>
    <p:extLst>
      <p:ext uri="{BB962C8B-B14F-4D97-AF65-F5344CB8AC3E}">
        <p14:creationId xmlns:p14="http://schemas.microsoft.com/office/powerpoint/2010/main" val="965411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4" Type="http://schemas.openxmlformats.org/officeDocument/2006/relationships/image" Target="../media/image4.tiff"/><Relationship Id="rId5" Type="http://schemas.openxmlformats.org/officeDocument/2006/relationships/image" Target="../media/image5.tiff"/><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1371601" y="773301"/>
            <a:ext cx="8921578" cy="576064"/>
          </a:xfrm>
        </p:spPr>
        <p:txBody>
          <a:bodyPr/>
          <a:lstStyle/>
          <a:p>
            <a:pPr algn="ctr"/>
            <a:r>
              <a:rPr lang="es-MX" sz="4267" dirty="0">
                <a:latin typeface="Times New Roman" panose="02020603050405020304" pitchFamily="18" charset="0"/>
                <a:cs typeface="Times New Roman" panose="02020603050405020304" pitchFamily="18" charset="0"/>
              </a:rPr>
              <a:t>Estadística y modelación de sistemas </a:t>
            </a:r>
            <a:r>
              <a:rPr lang="es-MX" sz="4267" dirty="0" err="1">
                <a:latin typeface="Times New Roman" panose="02020603050405020304" pitchFamily="18" charset="0"/>
                <a:cs typeface="Times New Roman" panose="02020603050405020304" pitchFamily="18" charset="0"/>
              </a:rPr>
              <a:t>socioecológicos</a:t>
            </a:r>
            <a:r>
              <a:rPr lang="es-MX" sz="4267" dirty="0">
                <a:latin typeface="Times New Roman" panose="02020603050405020304" pitchFamily="18" charset="0"/>
                <a:cs typeface="Times New Roman" panose="02020603050405020304" pitchFamily="18" charset="0"/>
              </a:rPr>
              <a:t> en R</a:t>
            </a:r>
          </a:p>
        </p:txBody>
      </p:sp>
      <p:pic>
        <p:nvPicPr>
          <p:cNvPr id="14" name="Imagen 13"/>
          <p:cNvPicPr>
            <a:picLocks noChangeAspect="1"/>
          </p:cNvPicPr>
          <p:nvPr/>
        </p:nvPicPr>
        <p:blipFill>
          <a:blip r:embed="rId3"/>
          <a:stretch>
            <a:fillRect/>
          </a:stretch>
        </p:blipFill>
        <p:spPr>
          <a:xfrm>
            <a:off x="1231824" y="2537056"/>
            <a:ext cx="2267908" cy="2284165"/>
          </a:xfrm>
          <a:prstGeom prst="rect">
            <a:avLst/>
          </a:prstGeom>
        </p:spPr>
      </p:pic>
      <p:pic>
        <p:nvPicPr>
          <p:cNvPr id="15" name="Imagen 14"/>
          <p:cNvPicPr>
            <a:picLocks noChangeAspect="1"/>
          </p:cNvPicPr>
          <p:nvPr/>
        </p:nvPicPr>
        <p:blipFill>
          <a:blip r:embed="rId4"/>
          <a:stretch>
            <a:fillRect/>
          </a:stretch>
        </p:blipFill>
        <p:spPr>
          <a:xfrm>
            <a:off x="5832390" y="2459832"/>
            <a:ext cx="5942083" cy="2438612"/>
          </a:xfrm>
          <a:prstGeom prst="rect">
            <a:avLst/>
          </a:prstGeom>
        </p:spPr>
      </p:pic>
      <p:sp>
        <p:nvSpPr>
          <p:cNvPr id="6" name="2 Título">
            <a:extLst>
              <a:ext uri="{FF2B5EF4-FFF2-40B4-BE49-F238E27FC236}">
                <a16:creationId xmlns="" xmlns:a16="http://schemas.microsoft.com/office/drawing/2014/main" id="{ADD6E415-76ED-4E07-8D3C-7541B4E0CEA2}"/>
              </a:ext>
            </a:extLst>
          </p:cNvPr>
          <p:cNvSpPr txBox="1">
            <a:spLocks/>
          </p:cNvSpPr>
          <p:nvPr/>
        </p:nvSpPr>
        <p:spPr>
          <a:xfrm>
            <a:off x="1536358" y="5720879"/>
            <a:ext cx="8921578" cy="576064"/>
          </a:xfrm>
          <a:prstGeom prst="rect">
            <a:avLst/>
          </a:prstGeom>
        </p:spPr>
        <p:txBody>
          <a:bodyPr vert="horz" lIns="0" tIns="0" rIns="0" bIns="0" rtlCol="0" anchor="ctr">
            <a:noAutofit/>
          </a:bodyPr>
          <a:lstStyle>
            <a:lvl1pPr marL="0" algn="l" defTabSz="1219170" rtl="0" eaLnBrk="1" latinLnBrk="0" hangingPunct="1">
              <a:lnSpc>
                <a:spcPct val="90000"/>
              </a:lnSpc>
              <a:spcBef>
                <a:spcPct val="0"/>
              </a:spcBef>
              <a:buNone/>
              <a:defRPr lang="es-MX" sz="2667" b="1" kern="1200" dirty="0">
                <a:solidFill>
                  <a:srgbClr val="034EA1"/>
                </a:solidFill>
                <a:latin typeface="+mn-lt"/>
                <a:ea typeface="+mn-ea"/>
                <a:cs typeface="+mn-cs"/>
              </a:defRPr>
            </a:lvl1pPr>
          </a:lstStyle>
          <a:p>
            <a:pPr algn="ctr"/>
            <a:r>
              <a:rPr lang="es-MX" sz="2800" dirty="0">
                <a:latin typeface="Times New Roman" panose="02020603050405020304" pitchFamily="18" charset="0"/>
                <a:cs typeface="Times New Roman" panose="02020603050405020304" pitchFamily="18" charset="0"/>
              </a:rPr>
              <a:t>Dra. Yosune </a:t>
            </a:r>
            <a:r>
              <a:rPr lang="es-MX" sz="2800" dirty="0" err="1">
                <a:latin typeface="Times New Roman" panose="02020603050405020304" pitchFamily="18" charset="0"/>
                <a:cs typeface="Times New Roman" panose="02020603050405020304" pitchFamily="18" charset="0"/>
              </a:rPr>
              <a:t>Miquelajauregui</a:t>
            </a:r>
            <a:r>
              <a:rPr lang="es-MX" sz="2800" dirty="0">
                <a:latin typeface="Times New Roman" panose="02020603050405020304" pitchFamily="18" charset="0"/>
                <a:cs typeface="Times New Roman" panose="02020603050405020304" pitchFamily="18" charset="0"/>
              </a:rPr>
              <a:t> Graf</a:t>
            </a:r>
          </a:p>
        </p:txBody>
      </p:sp>
    </p:spTree>
    <p:extLst>
      <p:ext uri="{BB962C8B-B14F-4D97-AF65-F5344CB8AC3E}">
        <p14:creationId xmlns:p14="http://schemas.microsoft.com/office/powerpoint/2010/main" val="201291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Plan del </a:t>
            </a:r>
            <a:r>
              <a:rPr lang="en-US" sz="4000" dirty="0" err="1">
                <a:latin typeface="Times New Roman" panose="02020603050405020304" pitchFamily="18" charset="0"/>
                <a:cs typeface="Times New Roman" panose="02020603050405020304" pitchFamily="18" charset="0"/>
              </a:rPr>
              <a:t>día</a:t>
            </a:r>
            <a:endParaRPr lang="en-US" sz="4000" dirty="0">
              <a:latin typeface="Times New Roman" panose="02020603050405020304" pitchFamily="18" charset="0"/>
              <a:cs typeface="Times New Roman" panose="02020603050405020304" pitchFamily="18" charset="0"/>
            </a:endParaRPr>
          </a:p>
        </p:txBody>
      </p:sp>
      <p:sp>
        <p:nvSpPr>
          <p:cNvPr id="4" name="CuadroTexto 3">
            <a:extLst>
              <a:ext uri="{FF2B5EF4-FFF2-40B4-BE49-F238E27FC236}">
                <a16:creationId xmlns:a16="http://schemas.microsoft.com/office/drawing/2014/main" xmlns="" id="{B2FA6370-56A1-462C-BFF6-4889C03959B8}"/>
              </a:ext>
            </a:extLst>
          </p:cNvPr>
          <p:cNvSpPr txBox="1"/>
          <p:nvPr/>
        </p:nvSpPr>
        <p:spPr>
          <a:xfrm>
            <a:off x="457200" y="1175087"/>
            <a:ext cx="10626812" cy="4216539"/>
          </a:xfrm>
          <a:prstGeom prst="rect">
            <a:avLst/>
          </a:prstGeom>
          <a:noFill/>
        </p:spPr>
        <p:txBody>
          <a:bodyPr wrap="square" rtlCol="0">
            <a:spAutoFit/>
          </a:bodyPr>
          <a:lstStyle/>
          <a:p>
            <a:pPr algn="just"/>
            <a:endParaRPr lang="es-MX" sz="2400" dirty="0" smtClean="0">
              <a:latin typeface="Times New Roman" panose="02020603050405020304" pitchFamily="18" charset="0"/>
              <a:cs typeface="Times New Roman" panose="02020603050405020304" pitchFamily="18" charset="0"/>
            </a:endParaRPr>
          </a:p>
          <a:p>
            <a:pPr marL="457200" indent="-457200" algn="just">
              <a:buAutoNum type="arabicPeriod"/>
            </a:pPr>
            <a:r>
              <a:rPr lang="es-MX" sz="2800" dirty="0" smtClean="0">
                <a:latin typeface="Times New Roman" panose="02020603050405020304" pitchFamily="18" charset="0"/>
                <a:cs typeface="Times New Roman" panose="02020603050405020304" pitchFamily="18" charset="0"/>
              </a:rPr>
              <a:t>Generación de datos</a:t>
            </a:r>
            <a:endParaRPr lang="es-MX" sz="2800" dirty="0">
              <a:latin typeface="Times New Roman" panose="02020603050405020304" pitchFamily="18" charset="0"/>
              <a:cs typeface="Times New Roman" panose="02020603050405020304" pitchFamily="18" charset="0"/>
            </a:endParaRPr>
          </a:p>
          <a:p>
            <a:pPr algn="just"/>
            <a:endParaRPr lang="es-MX" sz="2800" dirty="0">
              <a:latin typeface="Times New Roman" panose="02020603050405020304" pitchFamily="18" charset="0"/>
              <a:cs typeface="Times New Roman" panose="02020603050405020304" pitchFamily="18" charset="0"/>
            </a:endParaRPr>
          </a:p>
          <a:p>
            <a:pPr algn="just"/>
            <a:endParaRPr lang="es-MX" sz="2800" dirty="0">
              <a:latin typeface="Times New Roman" panose="02020603050405020304" pitchFamily="18" charset="0"/>
              <a:cs typeface="Times New Roman" panose="02020603050405020304" pitchFamily="18" charset="0"/>
            </a:endParaRPr>
          </a:p>
          <a:p>
            <a:pPr algn="just"/>
            <a:r>
              <a:rPr lang="es-MX" sz="2800" dirty="0">
                <a:latin typeface="Times New Roman" panose="02020603050405020304" pitchFamily="18" charset="0"/>
                <a:cs typeface="Times New Roman" panose="02020603050405020304" pitchFamily="18" charset="0"/>
              </a:rPr>
              <a:t>2.  </a:t>
            </a:r>
            <a:r>
              <a:rPr lang="es-MX" sz="2800" dirty="0" smtClean="0">
                <a:latin typeface="Times New Roman" panose="02020603050405020304" pitchFamily="18" charset="0"/>
                <a:cs typeface="Times New Roman" panose="02020603050405020304" pitchFamily="18" charset="0"/>
              </a:rPr>
              <a:t>Programación práctica en R : bucles y funciones</a:t>
            </a:r>
            <a:endParaRPr lang="es-MX" sz="2800" dirty="0">
              <a:latin typeface="Times New Roman" panose="02020603050405020304" pitchFamily="18" charset="0"/>
              <a:cs typeface="Times New Roman" panose="02020603050405020304" pitchFamily="18" charset="0"/>
            </a:endParaRPr>
          </a:p>
          <a:p>
            <a:pPr marL="457200" indent="-457200" algn="just">
              <a:buAutoNum type="arabicPeriod"/>
            </a:pPr>
            <a:endParaRPr lang="es-MX" sz="2800" dirty="0">
              <a:latin typeface="Times New Roman" panose="02020603050405020304" pitchFamily="18" charset="0"/>
              <a:cs typeface="Times New Roman" panose="02020603050405020304" pitchFamily="18" charset="0"/>
            </a:endParaRPr>
          </a:p>
          <a:p>
            <a:pPr marL="457200" indent="-457200" algn="just">
              <a:buAutoNum type="arabicPeriod"/>
            </a:pPr>
            <a:endParaRPr lang="es-MX" sz="2800" dirty="0">
              <a:latin typeface="Times New Roman" panose="02020603050405020304" pitchFamily="18" charset="0"/>
              <a:cs typeface="Times New Roman" panose="02020603050405020304" pitchFamily="18" charset="0"/>
            </a:endParaRPr>
          </a:p>
          <a:p>
            <a:pPr algn="just"/>
            <a:r>
              <a:rPr lang="es-MX" sz="2800" dirty="0">
                <a:latin typeface="Times New Roman" panose="02020603050405020304" pitchFamily="18" charset="0"/>
                <a:cs typeface="Times New Roman" panose="02020603050405020304" pitchFamily="18" charset="0"/>
              </a:rPr>
              <a:t>3</a:t>
            </a:r>
            <a:r>
              <a:rPr lang="es-MX" sz="2800" dirty="0" smtClean="0">
                <a:latin typeface="Times New Roman" panose="02020603050405020304" pitchFamily="18" charset="0"/>
                <a:cs typeface="Times New Roman" panose="02020603050405020304" pitchFamily="18" charset="0"/>
              </a:rPr>
              <a:t>.  Ejercicios</a:t>
            </a:r>
            <a:endParaRPr lang="es-MX" sz="2800" dirty="0">
              <a:latin typeface="Times New Roman" panose="02020603050405020304" pitchFamily="18" charset="0"/>
              <a:cs typeface="Times New Roman" panose="02020603050405020304" pitchFamily="18" charset="0"/>
            </a:endParaRPr>
          </a:p>
          <a:p>
            <a:pPr algn="just"/>
            <a:endParaRPr lang="es-MX" sz="2400" dirty="0">
              <a:latin typeface="Times New Roman" panose="02020603050405020304" pitchFamily="18" charset="0"/>
              <a:cs typeface="Times New Roman" panose="02020603050405020304" pitchFamily="18" charset="0"/>
            </a:endParaRPr>
          </a:p>
          <a:p>
            <a:pPr marL="342900" indent="-342900" algn="just">
              <a:buAutoNum type="arabicPeriod"/>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6708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Generación</a:t>
            </a:r>
            <a:r>
              <a:rPr lang="en-US" sz="4000" dirty="0" smtClean="0">
                <a:latin typeface="Times New Roman" panose="02020603050405020304" pitchFamily="18" charset="0"/>
                <a:cs typeface="Times New Roman" panose="02020603050405020304" pitchFamily="18" charset="0"/>
              </a:rPr>
              <a:t> de </a:t>
            </a:r>
            <a:r>
              <a:rPr lang="en-US" sz="4000" dirty="0" err="1" smtClean="0">
                <a:latin typeface="Times New Roman" panose="02020603050405020304" pitchFamily="18" charset="0"/>
                <a:cs typeface="Times New Roman" panose="02020603050405020304" pitchFamily="18" charset="0"/>
              </a:rPr>
              <a:t>datos</a:t>
            </a:r>
            <a:endParaRPr lang="en-US" sz="4000" dirty="0">
              <a:latin typeface="Times New Roman" panose="02020603050405020304" pitchFamily="18" charset="0"/>
              <a:cs typeface="Times New Roman" panose="02020603050405020304" pitchFamily="18" charset="0"/>
            </a:endParaRPr>
          </a:p>
        </p:txBody>
      </p:sp>
      <p:sp>
        <p:nvSpPr>
          <p:cNvPr id="2" name="Rectángulo 1"/>
          <p:cNvSpPr/>
          <p:nvPr/>
        </p:nvSpPr>
        <p:spPr>
          <a:xfrm>
            <a:off x="690654" y="1252249"/>
            <a:ext cx="2735044" cy="461665"/>
          </a:xfrm>
          <a:prstGeom prst="rect">
            <a:avLst/>
          </a:prstGeom>
        </p:spPr>
        <p:txBody>
          <a:bodyPr wrap="none">
            <a:spAutoFit/>
          </a:bodyPr>
          <a:lstStyle/>
          <a:p>
            <a:r>
              <a:rPr lang="es-ES_tradnl" sz="2400" dirty="0" smtClean="0">
                <a:latin typeface="Times New Roman" charset="0"/>
                <a:ea typeface="Times New Roman" charset="0"/>
                <a:cs typeface="Times New Roman" charset="0"/>
              </a:rPr>
              <a:t>Años &lt;- </a:t>
            </a:r>
            <a:r>
              <a:rPr lang="es-ES_tradnl" sz="2400" dirty="0" err="1" smtClean="0">
                <a:latin typeface="Times New Roman" charset="0"/>
                <a:ea typeface="Times New Roman" charset="0"/>
                <a:cs typeface="Times New Roman" charset="0"/>
              </a:rPr>
              <a:t>seq</a:t>
            </a:r>
            <a:r>
              <a:rPr lang="es-ES_tradnl" sz="2400" dirty="0" smtClean="0">
                <a:latin typeface="Times New Roman" charset="0"/>
                <a:ea typeface="Times New Roman" charset="0"/>
                <a:cs typeface="Times New Roman" charset="0"/>
              </a:rPr>
              <a:t>(1:1000)</a:t>
            </a:r>
            <a:endParaRPr lang="es-ES_tradnl" sz="2400" dirty="0">
              <a:latin typeface="Times New Roman" charset="0"/>
              <a:ea typeface="Times New Roman" charset="0"/>
              <a:cs typeface="Times New Roman" charset="0"/>
            </a:endParaRPr>
          </a:p>
        </p:txBody>
      </p:sp>
      <p:sp>
        <p:nvSpPr>
          <p:cNvPr id="3" name="Rectángulo 2"/>
          <p:cNvSpPr/>
          <p:nvPr/>
        </p:nvSpPr>
        <p:spPr>
          <a:xfrm>
            <a:off x="1465377" y="3610766"/>
            <a:ext cx="8839200" cy="2308324"/>
          </a:xfrm>
          <a:prstGeom prst="rect">
            <a:avLst/>
          </a:prstGeom>
        </p:spPr>
        <p:txBody>
          <a:bodyPr wrap="square">
            <a:spAutoFit/>
          </a:bodyPr>
          <a:lstStyle/>
          <a:p>
            <a:r>
              <a:rPr lang="es-ES_tradnl" sz="2400" smtClean="0">
                <a:latin typeface="Times New Roman" charset="0"/>
                <a:ea typeface="Times New Roman" charset="0"/>
                <a:cs typeface="Times New Roman" charset="0"/>
              </a:rPr>
              <a:t>Años   1    2    3    4    5    6    7    8    9   10   11   12   13   14   15   16   17  18   19   20   21   22   23   24   25   26   27   28   29   30   31   32   33   34  35   36   37   38   39   40   41   42   43   44   45   46   47   48   49   50   51  52   53   54   55   56   57   58   59   60   61   62   63   64   65   66   67   68  69   70   71   72   73   74   75   76   77   78   79   80   81   82   83   84   85</a:t>
            </a:r>
            <a:r>
              <a:rPr lang="is-IS"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
        <p:nvSpPr>
          <p:cNvPr id="5" name="Rectángulo 4"/>
          <p:cNvSpPr/>
          <p:nvPr/>
        </p:nvSpPr>
        <p:spPr>
          <a:xfrm>
            <a:off x="2354660" y="2431507"/>
            <a:ext cx="5655715" cy="461665"/>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(Años) </a:t>
            </a:r>
            <a:r>
              <a:rPr lang="es-ES_tradnl" sz="2400" dirty="0" err="1" smtClean="0">
                <a:latin typeface="Times New Roman" charset="0"/>
                <a:ea typeface="Times New Roman" charset="0"/>
                <a:cs typeface="Times New Roman" charset="0"/>
              </a:rPr>
              <a:t>int</a:t>
            </a:r>
            <a:r>
              <a:rPr lang="es-ES_tradnl" sz="2400" dirty="0" smtClean="0">
                <a:latin typeface="Times New Roman" charset="0"/>
                <a:ea typeface="Times New Roman" charset="0"/>
                <a:cs typeface="Times New Roman" charset="0"/>
              </a:rPr>
              <a:t> [1:1000] 1 2 3 4 5 6 7 8 9 10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3224489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952763" y="2331774"/>
            <a:ext cx="3483646" cy="1200329"/>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seq</a:t>
            </a:r>
            <a:r>
              <a:rPr lang="es-ES_tradnl" sz="2400" dirty="0" smtClean="0">
                <a:latin typeface="Times New Roman" charset="0"/>
                <a:ea typeface="Times New Roman" charset="0"/>
                <a:cs typeface="Times New Roman" charset="0"/>
              </a:rPr>
              <a:t>(1, 20, </a:t>
            </a:r>
            <a:r>
              <a:rPr lang="es-ES_tradnl" sz="2400" dirty="0" err="1" smtClean="0">
                <a:latin typeface="Times New Roman" charset="0"/>
                <a:ea typeface="Times New Roman" charset="0"/>
                <a:cs typeface="Times New Roman" charset="0"/>
              </a:rPr>
              <a:t>by</a:t>
            </a:r>
            <a:r>
              <a:rPr lang="es-ES_tradnl" sz="2400" dirty="0" smtClean="0">
                <a:latin typeface="Times New Roman" charset="0"/>
                <a:ea typeface="Times New Roman" charset="0"/>
                <a:cs typeface="Times New Roman" charset="0"/>
              </a:rPr>
              <a:t> = 3) </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[1]  1  4  7 10 13 16 19</a:t>
            </a:r>
            <a:endParaRPr lang="es-ES_tradnl" sz="2400" dirty="0">
              <a:latin typeface="Times New Roman" charset="0"/>
              <a:ea typeface="Times New Roman" charset="0"/>
              <a:cs typeface="Times New Roman" charset="0"/>
            </a:endParaRPr>
          </a:p>
        </p:txBody>
      </p:sp>
      <p:sp>
        <p:nvSpPr>
          <p:cNvPr id="8" name="Rectángulo 7"/>
          <p:cNvSpPr/>
          <p:nvPr/>
        </p:nvSpPr>
        <p:spPr>
          <a:xfrm>
            <a:off x="5148943" y="2331774"/>
            <a:ext cx="6096000" cy="1569660"/>
          </a:xfrm>
          <a:prstGeom prst="rect">
            <a:avLst/>
          </a:prstGeom>
        </p:spPr>
        <p:txBody>
          <a:bodyPr>
            <a:spAutoFit/>
          </a:bodyPr>
          <a:lstStyle/>
          <a:p>
            <a:r>
              <a:rPr lang="es-ES_tradnl" sz="2400" dirty="0" err="1" smtClean="0">
                <a:latin typeface="Times New Roman" charset="0"/>
                <a:ea typeface="Times New Roman" charset="0"/>
                <a:cs typeface="Times New Roman" charset="0"/>
              </a:rPr>
              <a:t>seq</a:t>
            </a:r>
            <a:r>
              <a:rPr lang="es-ES_tradnl" sz="2400" dirty="0" smtClean="0">
                <a:latin typeface="Times New Roman" charset="0"/>
                <a:ea typeface="Times New Roman" charset="0"/>
                <a:cs typeface="Times New Roman" charset="0"/>
              </a:rPr>
              <a:t>(0, 1, </a:t>
            </a:r>
            <a:r>
              <a:rPr lang="es-ES_tradnl" sz="2400" dirty="0" err="1" smtClean="0">
                <a:latin typeface="Times New Roman" charset="0"/>
                <a:ea typeface="Times New Roman" charset="0"/>
                <a:cs typeface="Times New Roman" charset="0"/>
              </a:rPr>
              <a:t>length.out</a:t>
            </a:r>
            <a:r>
              <a:rPr lang="es-ES_tradnl" sz="2400" dirty="0" smtClean="0">
                <a:latin typeface="Times New Roman" charset="0"/>
                <a:ea typeface="Times New Roman" charset="0"/>
                <a:cs typeface="Times New Roman" charset="0"/>
              </a:rPr>
              <a:t>=10 ) </a:t>
            </a:r>
          </a:p>
          <a:p>
            <a:r>
              <a:rPr lang="es-ES_tradnl" sz="2400" dirty="0" smtClean="0">
                <a:latin typeface="Times New Roman" charset="0"/>
                <a:ea typeface="Times New Roman" charset="0"/>
                <a:cs typeface="Times New Roman" charset="0"/>
              </a:rPr>
              <a:t>0.0000000 0.1111111 0.2222222 0.3333333 0.4444444 0.5555556 0.6666667 0.7777778 0.88888891.0000000</a:t>
            </a:r>
            <a:endParaRPr lang="es-ES_tradnl" sz="2400" dirty="0">
              <a:latin typeface="Times New Roman" charset="0"/>
              <a:ea typeface="Times New Roman" charset="0"/>
              <a:cs typeface="Times New Roman" charset="0"/>
            </a:endParaRPr>
          </a:p>
        </p:txBody>
      </p:sp>
      <p:sp>
        <p:nvSpPr>
          <p:cNvPr id="10"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Generación</a:t>
            </a:r>
            <a:r>
              <a:rPr lang="en-US" sz="4000" dirty="0" smtClean="0">
                <a:latin typeface="Times New Roman" panose="02020603050405020304" pitchFamily="18" charset="0"/>
                <a:cs typeface="Times New Roman" panose="02020603050405020304" pitchFamily="18" charset="0"/>
              </a:rPr>
              <a:t> de </a:t>
            </a:r>
            <a:r>
              <a:rPr lang="en-US" sz="4000" smtClean="0">
                <a:latin typeface="Times New Roman" panose="02020603050405020304" pitchFamily="18" charset="0"/>
                <a:cs typeface="Times New Roman" panose="02020603050405020304" pitchFamily="18" charset="0"/>
              </a:rPr>
              <a:t>datos</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71391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871387" y="1525565"/>
            <a:ext cx="10765972" cy="1569660"/>
          </a:xfrm>
          <a:prstGeom prst="rect">
            <a:avLst/>
          </a:prstGeom>
        </p:spPr>
        <p:txBody>
          <a:bodyPr wrap="square">
            <a:spAutoFit/>
          </a:bodyPr>
          <a:lstStyle/>
          <a:p>
            <a:r>
              <a:rPr lang="es-ES_tradnl" sz="2400" dirty="0" smtClean="0">
                <a:latin typeface="Times New Roman" charset="0"/>
                <a:ea typeface="Times New Roman" charset="0"/>
                <a:cs typeface="Times New Roman" charset="0"/>
              </a:rPr>
              <a:t>Municipio &lt;- c("</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Tlalpan","Miguel</a:t>
            </a:r>
            <a:r>
              <a:rPr lang="es-ES_tradnl" sz="2400" dirty="0" smtClean="0">
                <a:latin typeface="Times New Roman" charset="0"/>
                <a:ea typeface="Times New Roman" charset="0"/>
                <a:cs typeface="Times New Roman" charset="0"/>
              </a:rPr>
              <a:t> Hidalgo", "</a:t>
            </a:r>
            <a:r>
              <a:rPr lang="es-ES_tradnl" sz="2400" dirty="0" err="1" smtClean="0">
                <a:latin typeface="Times New Roman" charset="0"/>
                <a:ea typeface="Times New Roman" charset="0"/>
                <a:cs typeface="Times New Roman" charset="0"/>
              </a:rPr>
              <a:t>Cuauhtemoc</a:t>
            </a:r>
            <a:r>
              <a:rPr lang="es-ES_tradnl" sz="2400" dirty="0" smtClean="0">
                <a:latin typeface="Times New Roman" charset="0"/>
                <a:ea typeface="Times New Roman" charset="0"/>
                <a:cs typeface="Times New Roman" charset="0"/>
              </a:rPr>
              <a:t>", "Venustiano Carranza", "</a:t>
            </a:r>
            <a:r>
              <a:rPr lang="es-ES_tradnl" sz="2400" dirty="0" err="1" smtClean="0">
                <a:latin typeface="Times New Roman" charset="0"/>
                <a:ea typeface="Times New Roman" charset="0"/>
                <a:cs typeface="Times New Roman" charset="0"/>
              </a:rPr>
              <a:t>Coyoacan</a:t>
            </a:r>
            <a:r>
              <a:rPr lang="es-ES_tradnl" sz="2400" dirty="0" smtClean="0">
                <a:latin typeface="Times New Roman" charset="0"/>
                <a:ea typeface="Times New Roman" charset="0"/>
                <a:cs typeface="Times New Roman" charset="0"/>
              </a:rPr>
              <a:t>", "Benito </a:t>
            </a:r>
            <a:r>
              <a:rPr lang="es-ES_tradnl" sz="2400" dirty="0" err="1" smtClean="0">
                <a:latin typeface="Times New Roman" charset="0"/>
                <a:ea typeface="Times New Roman" charset="0"/>
                <a:cs typeface="Times New Roman" charset="0"/>
              </a:rPr>
              <a:t>Juarez</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Cuajimalpa","Magdalena</a:t>
            </a:r>
            <a:r>
              <a:rPr lang="es-ES_tradnl" sz="2400" dirty="0" smtClean="0">
                <a:latin typeface="Times New Roman" charset="0"/>
                <a:ea typeface="Times New Roman" charset="0"/>
                <a:cs typeface="Times New Roman" charset="0"/>
              </a:rPr>
              <a:t> Contreras", "</a:t>
            </a:r>
            <a:r>
              <a:rPr lang="es-ES_tradnl" sz="2400" dirty="0" err="1" smtClean="0">
                <a:latin typeface="Times New Roman" charset="0"/>
                <a:ea typeface="Times New Roman" charset="0"/>
                <a:cs typeface="Times New Roman" charset="0"/>
              </a:rPr>
              <a:t>Xochimilco","Azcapotzalco</a:t>
            </a:r>
            <a:r>
              <a:rPr lang="es-ES_tradnl" sz="2400" dirty="0" smtClean="0">
                <a:latin typeface="Times New Roman" charset="0"/>
                <a:ea typeface="Times New Roman" charset="0"/>
                <a:cs typeface="Times New Roman" charset="0"/>
              </a:rPr>
              <a:t>", "Gustavo A. Madero", "</a:t>
            </a:r>
            <a:r>
              <a:rPr lang="es-ES_tradnl" sz="2400" dirty="0" err="1" smtClean="0">
                <a:latin typeface="Times New Roman" charset="0"/>
                <a:ea typeface="Times New Roman" charset="0"/>
                <a:cs typeface="Times New Roman" charset="0"/>
              </a:rPr>
              <a:t>Iztacalco","Iztapalapa</a:t>
            </a:r>
            <a:r>
              <a:rPr lang="es-ES_tradnl" sz="2400" dirty="0" smtClean="0">
                <a:latin typeface="Times New Roman" charset="0"/>
                <a:ea typeface="Times New Roman" charset="0"/>
                <a:cs typeface="Times New Roman" charset="0"/>
              </a:rPr>
              <a:t>", "Milpa Alta", "</a:t>
            </a:r>
            <a:r>
              <a:rPr lang="es-ES_tradnl" sz="2400" dirty="0" err="1" smtClean="0">
                <a:latin typeface="Times New Roman" charset="0"/>
                <a:ea typeface="Times New Roman" charset="0"/>
                <a:cs typeface="Times New Roman" charset="0"/>
              </a:rPr>
              <a:t>Alvaro</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Obregon</a:t>
            </a: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
        <p:nvSpPr>
          <p:cNvPr id="3" name="Rectángulo 2"/>
          <p:cNvSpPr/>
          <p:nvPr/>
        </p:nvSpPr>
        <p:spPr>
          <a:xfrm>
            <a:off x="3537856" y="3728958"/>
            <a:ext cx="3887603" cy="461665"/>
          </a:xfrm>
          <a:prstGeom prst="rect">
            <a:avLst/>
          </a:prstGeom>
        </p:spPr>
        <p:txBody>
          <a:bodyPr wrap="none">
            <a:spAutoFit/>
          </a:bodyPr>
          <a:lstStyle/>
          <a:p>
            <a:r>
              <a:rPr lang="es-ES_tradnl" sz="2400" dirty="0" smtClean="0">
                <a:latin typeface="Times New Roman" charset="0"/>
                <a:ea typeface="Times New Roman" charset="0"/>
                <a:cs typeface="Times New Roman" charset="0"/>
              </a:rPr>
              <a:t>Mu &lt;- </a:t>
            </a:r>
            <a:r>
              <a:rPr lang="es-ES_tradnl" sz="2400" dirty="0" err="1" smtClean="0">
                <a:latin typeface="Times New Roman" charset="0"/>
                <a:ea typeface="Times New Roman" charset="0"/>
                <a:cs typeface="Times New Roman" charset="0"/>
              </a:rPr>
              <a:t>rep</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Municipio,each</a:t>
            </a:r>
            <a:r>
              <a:rPr lang="es-ES_tradnl" sz="2400" dirty="0" smtClean="0">
                <a:latin typeface="Times New Roman" charset="0"/>
                <a:ea typeface="Times New Roman" charset="0"/>
                <a:cs typeface="Times New Roman" charset="0"/>
              </a:rPr>
              <a:t>=8)</a:t>
            </a:r>
            <a:endParaRPr lang="es-ES_tradnl" sz="2400" dirty="0">
              <a:latin typeface="Times New Roman" charset="0"/>
              <a:ea typeface="Times New Roman" charset="0"/>
              <a:cs typeface="Times New Roman" charset="0"/>
            </a:endParaRPr>
          </a:p>
        </p:txBody>
      </p:sp>
      <p:sp>
        <p:nvSpPr>
          <p:cNvPr id="4" name="Rectángulo 3"/>
          <p:cNvSpPr/>
          <p:nvPr/>
        </p:nvSpPr>
        <p:spPr>
          <a:xfrm>
            <a:off x="2906486" y="4771349"/>
            <a:ext cx="6096000" cy="830997"/>
          </a:xfrm>
          <a:prstGeom prst="rect">
            <a:avLst/>
          </a:prstGeom>
        </p:spPr>
        <p:txBody>
          <a:bodyPr>
            <a:spAutoFit/>
          </a:bodyPr>
          <a:lstStyle/>
          <a:p>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(Mu) </a:t>
            </a:r>
            <a:r>
              <a:rPr lang="es-ES_tradnl" sz="2400" dirty="0" err="1" smtClean="0">
                <a:latin typeface="Times New Roman" charset="0"/>
                <a:ea typeface="Times New Roman" charset="0"/>
                <a:cs typeface="Times New Roman" charset="0"/>
              </a:rPr>
              <a:t>chr</a:t>
            </a:r>
            <a:r>
              <a:rPr lang="es-ES_tradnl" sz="2400" dirty="0" smtClean="0">
                <a:latin typeface="Times New Roman" charset="0"/>
                <a:ea typeface="Times New Roman" charset="0"/>
                <a:cs typeface="Times New Roman" charset="0"/>
              </a:rPr>
              <a:t> [1:128]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Tlahuac</a:t>
            </a:r>
            <a:r>
              <a:rPr lang="es-ES_tradnl" sz="2400" dirty="0" smtClean="0">
                <a:latin typeface="Times New Roman" charset="0"/>
                <a:ea typeface="Times New Roman" charset="0"/>
                <a:cs typeface="Times New Roman" charset="0"/>
              </a:rPr>
              <a:t>" ...</a:t>
            </a:r>
            <a:endParaRPr lang="es-ES_tradnl" sz="2400" dirty="0">
              <a:latin typeface="Times New Roman" charset="0"/>
              <a:ea typeface="Times New Roman" charset="0"/>
              <a:cs typeface="Times New Roman" charset="0"/>
            </a:endParaRPr>
          </a:p>
        </p:txBody>
      </p:sp>
      <p:sp>
        <p:nvSpPr>
          <p:cNvPr id="8"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Generación</a:t>
            </a:r>
            <a:r>
              <a:rPr lang="en-US" sz="4000" dirty="0" smtClean="0">
                <a:latin typeface="Times New Roman" panose="02020603050405020304" pitchFamily="18" charset="0"/>
                <a:cs typeface="Times New Roman" panose="02020603050405020304" pitchFamily="18" charset="0"/>
              </a:rPr>
              <a:t> de </a:t>
            </a:r>
            <a:r>
              <a:rPr lang="en-US" sz="4000" smtClean="0">
                <a:latin typeface="Times New Roman" panose="02020603050405020304" pitchFamily="18" charset="0"/>
                <a:cs typeface="Times New Roman" panose="02020603050405020304" pitchFamily="18" charset="0"/>
              </a:rPr>
              <a:t>datos</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587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095368" y="1957713"/>
            <a:ext cx="8958943" cy="2308324"/>
          </a:xfrm>
          <a:prstGeom prst="rect">
            <a:avLst/>
          </a:prstGeom>
        </p:spPr>
        <p:txBody>
          <a:bodyPr wrap="square">
            <a:spAutoFit/>
          </a:bodyPr>
          <a:lstStyle/>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rep</a:t>
            </a:r>
            <a:r>
              <a:rPr lang="es-ES_tradnl" sz="2400" dirty="0" smtClean="0">
                <a:latin typeface="Times New Roman" charset="0"/>
                <a:ea typeface="Times New Roman" charset="0"/>
                <a:cs typeface="Times New Roman" charset="0"/>
              </a:rPr>
              <a:t>(1:20) </a:t>
            </a:r>
          </a:p>
          <a:p>
            <a:r>
              <a:rPr lang="es-ES_tradnl" sz="2400" dirty="0" smtClean="0">
                <a:latin typeface="Times New Roman" charset="0"/>
                <a:ea typeface="Times New Roman" charset="0"/>
                <a:cs typeface="Times New Roman" charset="0"/>
              </a:rPr>
              <a:t>  1  2  3  4  5  6  7  8  9 10 11 12 13 14 15 16 17 18 19 20</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rep</a:t>
            </a:r>
            <a:r>
              <a:rPr lang="es-ES_tradnl" sz="2400" dirty="0" smtClean="0">
                <a:latin typeface="Times New Roman" charset="0"/>
                <a:ea typeface="Times New Roman" charset="0"/>
                <a:cs typeface="Times New Roman" charset="0"/>
              </a:rPr>
              <a:t>(1:20, </a:t>
            </a:r>
            <a:r>
              <a:rPr lang="es-ES_tradnl" sz="2400" dirty="0" err="1" smtClean="0">
                <a:latin typeface="Times New Roman" charset="0"/>
                <a:ea typeface="Times New Roman" charset="0"/>
                <a:cs typeface="Times New Roman" charset="0"/>
              </a:rPr>
              <a:t>each</a:t>
            </a:r>
            <a:r>
              <a:rPr lang="es-ES_tradnl" sz="2400" dirty="0" smtClean="0">
                <a:latin typeface="Times New Roman" charset="0"/>
                <a:ea typeface="Times New Roman" charset="0"/>
                <a:cs typeface="Times New Roman" charset="0"/>
              </a:rPr>
              <a:t> = 2) </a:t>
            </a:r>
          </a:p>
          <a:p>
            <a:r>
              <a:rPr lang="es-ES_tradnl" sz="2400" dirty="0" smtClean="0">
                <a:latin typeface="Times New Roman" charset="0"/>
                <a:ea typeface="Times New Roman" charset="0"/>
                <a:cs typeface="Times New Roman" charset="0"/>
              </a:rPr>
              <a:t>  1  1  2  2  3  3  4  4  5  5  6  6  7  7  8  8  9  9 10 10 11 11 12 12 13 13 14 14 15 15[31] 16 16 17 17 18 18 19 19 20 20</a:t>
            </a:r>
            <a:endParaRPr lang="es-ES_tradnl" sz="2400" dirty="0">
              <a:latin typeface="Times New Roman" charset="0"/>
              <a:ea typeface="Times New Roman" charset="0"/>
              <a:cs typeface="Times New Roman" charset="0"/>
            </a:endParaRPr>
          </a:p>
        </p:txBody>
      </p:sp>
      <p:sp>
        <p:nvSpPr>
          <p:cNvPr id="6"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Generación</a:t>
            </a:r>
            <a:r>
              <a:rPr lang="en-US" sz="4000" dirty="0" smtClean="0">
                <a:latin typeface="Times New Roman" panose="02020603050405020304" pitchFamily="18" charset="0"/>
                <a:cs typeface="Times New Roman" panose="02020603050405020304" pitchFamily="18" charset="0"/>
              </a:rPr>
              <a:t> de </a:t>
            </a:r>
            <a:r>
              <a:rPr lang="en-US" sz="4000" smtClean="0">
                <a:latin typeface="Times New Roman" panose="02020603050405020304" pitchFamily="18" charset="0"/>
                <a:cs typeface="Times New Roman" panose="02020603050405020304" pitchFamily="18" charset="0"/>
              </a:rPr>
              <a:t>datos</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0105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Generación</a:t>
            </a:r>
            <a:r>
              <a:rPr lang="en-US" sz="4000" dirty="0" smtClean="0">
                <a:latin typeface="Times New Roman" panose="02020603050405020304" pitchFamily="18" charset="0"/>
                <a:cs typeface="Times New Roman" panose="02020603050405020304" pitchFamily="18" charset="0"/>
              </a:rPr>
              <a:t> de </a:t>
            </a:r>
            <a:r>
              <a:rPr lang="en-US" sz="4000" smtClean="0">
                <a:latin typeface="Times New Roman" panose="02020603050405020304" pitchFamily="18" charset="0"/>
                <a:cs typeface="Times New Roman" panose="02020603050405020304" pitchFamily="18" charset="0"/>
              </a:rPr>
              <a:t>datos</a:t>
            </a:r>
            <a:endParaRPr lang="en-US" sz="4000" dirty="0">
              <a:latin typeface="Times New Roman" panose="02020603050405020304" pitchFamily="18" charset="0"/>
              <a:cs typeface="Times New Roman" panose="02020603050405020304" pitchFamily="18" charset="0"/>
            </a:endParaRPr>
          </a:p>
        </p:txBody>
      </p:sp>
      <p:sp>
        <p:nvSpPr>
          <p:cNvPr id="2" name="CuadroTexto 1"/>
          <p:cNvSpPr txBox="1"/>
          <p:nvPr/>
        </p:nvSpPr>
        <p:spPr>
          <a:xfrm>
            <a:off x="335359" y="1128713"/>
            <a:ext cx="8418347" cy="1200329"/>
          </a:xfrm>
          <a:prstGeom prst="rect">
            <a:avLst/>
          </a:prstGeom>
          <a:noFill/>
        </p:spPr>
        <p:txBody>
          <a:bodyPr wrap="square" rtlCol="0">
            <a:spAutoFit/>
          </a:bodyPr>
          <a:lstStyle/>
          <a:p>
            <a:r>
              <a:rPr lang="es-ES_tradnl" sz="2400" b="1" dirty="0" smtClean="0">
                <a:latin typeface="Times New Roman" charset="0"/>
                <a:ea typeface="Times New Roman" charset="0"/>
                <a:cs typeface="Times New Roman" charset="0"/>
              </a:rPr>
              <a:t>Generación de números aleatorios</a:t>
            </a:r>
          </a:p>
          <a:p>
            <a:endParaRPr lang="es-ES_tradnl" sz="2400" b="1" dirty="0">
              <a:latin typeface="Times New Roman" charset="0"/>
              <a:ea typeface="Times New Roman" charset="0"/>
              <a:cs typeface="Times New Roman" charset="0"/>
            </a:endParaRPr>
          </a:p>
          <a:p>
            <a:r>
              <a:rPr lang="es-ES_tradnl" sz="2400" b="1" dirty="0" smtClean="0">
                <a:latin typeface="Times New Roman" charset="0"/>
                <a:ea typeface="Times New Roman" charset="0"/>
                <a:cs typeface="Times New Roman" charset="0"/>
              </a:rPr>
              <a:t>Funciones en R : </a:t>
            </a:r>
            <a:r>
              <a:rPr lang="es-ES_tradnl" sz="2400" b="1" dirty="0" err="1" smtClean="0">
                <a:latin typeface="Times New Roman" charset="0"/>
                <a:ea typeface="Times New Roman" charset="0"/>
                <a:cs typeface="Times New Roman" charset="0"/>
              </a:rPr>
              <a:t>rnorm</a:t>
            </a:r>
            <a:r>
              <a:rPr lang="es-ES_tradnl" sz="2400" b="1" dirty="0" smtClean="0">
                <a:latin typeface="Times New Roman" charset="0"/>
                <a:ea typeface="Times New Roman" charset="0"/>
                <a:cs typeface="Times New Roman" charset="0"/>
              </a:rPr>
              <a:t>, </a:t>
            </a:r>
            <a:r>
              <a:rPr lang="es-ES_tradnl" sz="2400" b="1" dirty="0" err="1" smtClean="0">
                <a:latin typeface="Times New Roman" charset="0"/>
                <a:ea typeface="Times New Roman" charset="0"/>
                <a:cs typeface="Times New Roman" charset="0"/>
              </a:rPr>
              <a:t>rpois</a:t>
            </a:r>
            <a:r>
              <a:rPr lang="es-ES_tradnl" sz="2400" b="1" dirty="0" smtClean="0">
                <a:latin typeface="Times New Roman" charset="0"/>
                <a:ea typeface="Times New Roman" charset="0"/>
                <a:cs typeface="Times New Roman" charset="0"/>
              </a:rPr>
              <a:t>, </a:t>
            </a:r>
            <a:r>
              <a:rPr lang="es-ES_tradnl" sz="2400" b="1" dirty="0" err="1" smtClean="0">
                <a:latin typeface="Times New Roman" charset="0"/>
                <a:ea typeface="Times New Roman" charset="0"/>
                <a:cs typeface="Times New Roman" charset="0"/>
              </a:rPr>
              <a:t>rbinom</a:t>
            </a:r>
            <a:r>
              <a:rPr lang="es-ES_tradnl" sz="2400" b="1" dirty="0" smtClean="0">
                <a:latin typeface="Times New Roman" charset="0"/>
                <a:ea typeface="Times New Roman" charset="0"/>
                <a:cs typeface="Times New Roman" charset="0"/>
              </a:rPr>
              <a:t>, entre otras</a:t>
            </a:r>
            <a:endParaRPr lang="es-ES_tradnl" sz="2400" b="1" dirty="0">
              <a:latin typeface="Times New Roman" charset="0"/>
              <a:ea typeface="Times New Roman" charset="0"/>
              <a:cs typeface="Times New Roman" charset="0"/>
            </a:endParaRPr>
          </a:p>
        </p:txBody>
      </p:sp>
      <p:sp>
        <p:nvSpPr>
          <p:cNvPr id="3" name="Rectángulo 2"/>
          <p:cNvSpPr/>
          <p:nvPr/>
        </p:nvSpPr>
        <p:spPr>
          <a:xfrm>
            <a:off x="1096536" y="2796756"/>
            <a:ext cx="9597483" cy="830997"/>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Datosaleatoriosnormal</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&lt;- </a:t>
            </a:r>
            <a:r>
              <a:rPr lang="es-ES_tradnl" sz="2400" dirty="0" err="1" smtClean="0">
                <a:latin typeface="Times New Roman" charset="0"/>
                <a:ea typeface="Times New Roman" charset="0"/>
                <a:cs typeface="Times New Roman" charset="0"/>
              </a:rPr>
              <a:t>rnorm</a:t>
            </a:r>
            <a:r>
              <a:rPr lang="es-ES_tradnl" sz="2400" dirty="0" smtClean="0">
                <a:latin typeface="Times New Roman" charset="0"/>
                <a:ea typeface="Times New Roman" charset="0"/>
                <a:cs typeface="Times New Roman" charset="0"/>
              </a:rPr>
              <a:t>(1000,0.5,0.5</a:t>
            </a:r>
            <a:r>
              <a:rPr lang="es-ES_tradnl" sz="2400" dirty="0" smtClean="0">
                <a:latin typeface="Times New Roman" charset="0"/>
                <a:ea typeface="Times New Roman" charset="0"/>
                <a:cs typeface="Times New Roman" charset="0"/>
              </a:rPr>
              <a:t>) </a:t>
            </a:r>
          </a:p>
          <a:p>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Datosaleatoriosnormal</a:t>
            </a:r>
            <a:r>
              <a:rPr lang="es-ES_tradnl" sz="2400" dirty="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num</a:t>
            </a:r>
            <a:r>
              <a:rPr lang="es-ES_tradnl" sz="2400" dirty="0">
                <a:latin typeface="Times New Roman" charset="0"/>
                <a:ea typeface="Times New Roman" charset="0"/>
                <a:cs typeface="Times New Roman" charset="0"/>
              </a:rPr>
              <a:t> [1:1000] -4.904 -7.173 6.063 -0.278 -</a:t>
            </a:r>
            <a:r>
              <a:rPr lang="es-ES_tradnl" sz="2400" dirty="0" smtClean="0">
                <a:latin typeface="Times New Roman" charset="0"/>
                <a:ea typeface="Times New Roman" charset="0"/>
                <a:cs typeface="Times New Roman" charset="0"/>
              </a:rPr>
              <a:t>0.188</a:t>
            </a:r>
            <a:endParaRPr lang="es-ES_tradnl" sz="2400" dirty="0">
              <a:latin typeface="Times New Roman" charset="0"/>
              <a:ea typeface="Times New Roman" charset="0"/>
              <a:cs typeface="Times New Roman" charset="0"/>
            </a:endParaRPr>
          </a:p>
        </p:txBody>
      </p:sp>
      <p:sp>
        <p:nvSpPr>
          <p:cNvPr id="4" name="Rectángulo 3"/>
          <p:cNvSpPr/>
          <p:nvPr/>
        </p:nvSpPr>
        <p:spPr>
          <a:xfrm>
            <a:off x="1096536" y="4003134"/>
            <a:ext cx="9396761" cy="830997"/>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Datosaleatoriosbinom</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&lt;- </a:t>
            </a:r>
            <a:r>
              <a:rPr lang="es-ES_tradnl" sz="2400" dirty="0" err="1">
                <a:latin typeface="Times New Roman" charset="0"/>
                <a:ea typeface="Times New Roman" charset="0"/>
                <a:cs typeface="Times New Roman" charset="0"/>
              </a:rPr>
              <a:t>rbinom</a:t>
            </a:r>
            <a:r>
              <a:rPr lang="es-ES_tradnl" sz="2400" dirty="0">
                <a:latin typeface="Times New Roman" charset="0"/>
                <a:ea typeface="Times New Roman" charset="0"/>
                <a:cs typeface="Times New Roman" charset="0"/>
              </a:rPr>
              <a:t> (50, </a:t>
            </a:r>
            <a:r>
              <a:rPr lang="es-ES_tradnl" sz="2400" dirty="0" smtClean="0">
                <a:latin typeface="Times New Roman" charset="0"/>
                <a:ea typeface="Times New Roman" charset="0"/>
                <a:cs typeface="Times New Roman" charset="0"/>
              </a:rPr>
              <a:t>50,0.5)</a:t>
            </a:r>
          </a:p>
          <a:p>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Datosaleatoriosbinom</a:t>
            </a:r>
            <a:r>
              <a:rPr lang="es-ES_tradnl" sz="2400" dirty="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int</a:t>
            </a:r>
            <a:r>
              <a:rPr lang="es-ES_tradnl" sz="2400" dirty="0">
                <a:latin typeface="Times New Roman" charset="0"/>
                <a:ea typeface="Times New Roman" charset="0"/>
                <a:cs typeface="Times New Roman" charset="0"/>
              </a:rPr>
              <a:t> [1:50] 29 28 31 31 28 23 20 25 24 20 </a:t>
            </a:r>
          </a:p>
        </p:txBody>
      </p:sp>
      <p:sp>
        <p:nvSpPr>
          <p:cNvPr id="5" name="Rectángulo 4"/>
          <p:cNvSpPr/>
          <p:nvPr/>
        </p:nvSpPr>
        <p:spPr>
          <a:xfrm>
            <a:off x="1096536" y="5348011"/>
            <a:ext cx="9508273" cy="830997"/>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Datosaleatoriospoi</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&lt;- </a:t>
            </a:r>
            <a:r>
              <a:rPr lang="es-ES_tradnl" sz="2400" dirty="0" err="1">
                <a:latin typeface="Times New Roman" charset="0"/>
                <a:ea typeface="Times New Roman" charset="0"/>
                <a:cs typeface="Times New Roman" charset="0"/>
              </a:rPr>
              <a:t>rpois</a:t>
            </a:r>
            <a:r>
              <a:rPr lang="es-ES_tradnl" sz="2400" dirty="0">
                <a:latin typeface="Times New Roman" charset="0"/>
                <a:ea typeface="Times New Roman" charset="0"/>
                <a:cs typeface="Times New Roman" charset="0"/>
              </a:rPr>
              <a:t>(1000,0.2</a:t>
            </a:r>
            <a:r>
              <a:rPr lang="es-ES_tradnl" sz="2400" dirty="0" smtClean="0">
                <a:latin typeface="Times New Roman" charset="0"/>
                <a:ea typeface="Times New Roman" charset="0"/>
                <a:cs typeface="Times New Roman" charset="0"/>
              </a:rPr>
              <a:t>) </a:t>
            </a:r>
          </a:p>
          <a:p>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Datosaleatoriospoi</a:t>
            </a:r>
            <a:r>
              <a:rPr lang="es-ES_tradnl" sz="2400" dirty="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int</a:t>
            </a:r>
            <a:r>
              <a:rPr lang="es-ES_tradnl" sz="2400" dirty="0">
                <a:latin typeface="Times New Roman" charset="0"/>
                <a:ea typeface="Times New Roman" charset="0"/>
                <a:cs typeface="Times New Roman" charset="0"/>
              </a:rPr>
              <a:t> [1:1000] 0 0 0 0 0 0 0 0 0 </a:t>
            </a:r>
            <a:r>
              <a:rPr lang="es-ES_tradnl" sz="2400" dirty="0" smtClean="0">
                <a:latin typeface="Times New Roman" charset="0"/>
                <a:ea typeface="Times New Roman" charset="0"/>
                <a:cs typeface="Times New Roman" charset="0"/>
              </a:rPr>
              <a:t>0</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5817190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pic>
        <p:nvPicPr>
          <p:cNvPr id="3" name="Imagen 2"/>
          <p:cNvPicPr>
            <a:picLocks noChangeAspect="1"/>
          </p:cNvPicPr>
          <p:nvPr/>
        </p:nvPicPr>
        <p:blipFill>
          <a:blip r:embed="rId3"/>
          <a:stretch>
            <a:fillRect/>
          </a:stretch>
        </p:blipFill>
        <p:spPr>
          <a:xfrm>
            <a:off x="8224651" y="1400176"/>
            <a:ext cx="3967349" cy="4909595"/>
          </a:xfrm>
          <a:prstGeom prst="rect">
            <a:avLst/>
          </a:prstGeom>
        </p:spPr>
      </p:pic>
      <p:sp>
        <p:nvSpPr>
          <p:cNvPr id="4" name="CuadroTexto 3"/>
          <p:cNvSpPr txBox="1"/>
          <p:nvPr/>
        </p:nvSpPr>
        <p:spPr>
          <a:xfrm>
            <a:off x="9273041" y="783524"/>
            <a:ext cx="2155372" cy="461665"/>
          </a:xfrm>
          <a:prstGeom prst="rect">
            <a:avLst/>
          </a:prstGeom>
          <a:noFill/>
        </p:spPr>
        <p:txBody>
          <a:bodyPr wrap="square" rtlCol="0">
            <a:spAutoFit/>
          </a:bodyPr>
          <a:lstStyle/>
          <a:p>
            <a:r>
              <a:rPr lang="es-ES_tradnl" sz="2400" b="1" i="1" dirty="0" smtClean="0">
                <a:latin typeface="Times New Roman" charset="0"/>
                <a:ea typeface="Times New Roman" charset="0"/>
                <a:cs typeface="Times New Roman" charset="0"/>
              </a:rPr>
              <a:t>REPEAT</a:t>
            </a:r>
            <a:endParaRPr lang="es-ES_tradnl" sz="2400" b="1" i="1" dirty="0">
              <a:latin typeface="Times New Roman" charset="0"/>
              <a:ea typeface="Times New Roman" charset="0"/>
              <a:cs typeface="Times New Roman" charset="0"/>
            </a:endParaRPr>
          </a:p>
        </p:txBody>
      </p:sp>
      <p:pic>
        <p:nvPicPr>
          <p:cNvPr id="5" name="Imagen 4"/>
          <p:cNvPicPr>
            <a:picLocks noChangeAspect="1"/>
          </p:cNvPicPr>
          <p:nvPr/>
        </p:nvPicPr>
        <p:blipFill rotWithShape="1">
          <a:blip r:embed="rId4"/>
          <a:srcRect b="7087"/>
          <a:stretch/>
        </p:blipFill>
        <p:spPr>
          <a:xfrm>
            <a:off x="679678" y="1280570"/>
            <a:ext cx="3177948" cy="5177380"/>
          </a:xfrm>
          <a:prstGeom prst="rect">
            <a:avLst/>
          </a:prstGeom>
        </p:spPr>
      </p:pic>
      <p:sp>
        <p:nvSpPr>
          <p:cNvPr id="8" name="CuadroTexto 7"/>
          <p:cNvSpPr txBox="1"/>
          <p:nvPr/>
        </p:nvSpPr>
        <p:spPr>
          <a:xfrm>
            <a:off x="1819616" y="660998"/>
            <a:ext cx="898071" cy="461665"/>
          </a:xfrm>
          <a:prstGeom prst="rect">
            <a:avLst/>
          </a:prstGeom>
          <a:noFill/>
        </p:spPr>
        <p:txBody>
          <a:bodyPr wrap="square" rtlCol="0">
            <a:spAutoFit/>
          </a:bodyPr>
          <a:lstStyle/>
          <a:p>
            <a:r>
              <a:rPr lang="es-ES_tradnl" sz="2400" b="1" i="1" dirty="0" smtClean="0">
                <a:latin typeface="Times New Roman" charset="0"/>
                <a:ea typeface="Times New Roman" charset="0"/>
                <a:cs typeface="Times New Roman" charset="0"/>
              </a:rPr>
              <a:t>FOR</a:t>
            </a:r>
            <a:endParaRPr lang="es-ES_tradnl" sz="2400" b="1" i="1" dirty="0">
              <a:latin typeface="Times New Roman" charset="0"/>
              <a:ea typeface="Times New Roman" charset="0"/>
              <a:cs typeface="Times New Roman" charset="0"/>
            </a:endParaRPr>
          </a:p>
        </p:txBody>
      </p:sp>
      <p:pic>
        <p:nvPicPr>
          <p:cNvPr id="6" name="Imagen 5"/>
          <p:cNvPicPr>
            <a:picLocks noChangeAspect="1"/>
          </p:cNvPicPr>
          <p:nvPr/>
        </p:nvPicPr>
        <p:blipFill rotWithShape="1">
          <a:blip r:embed="rId5"/>
          <a:srcRect b="6530"/>
          <a:stretch/>
        </p:blipFill>
        <p:spPr>
          <a:xfrm>
            <a:off x="4679950" y="1280571"/>
            <a:ext cx="3225460" cy="5029200"/>
          </a:xfrm>
          <a:prstGeom prst="rect">
            <a:avLst/>
          </a:prstGeom>
        </p:spPr>
      </p:pic>
      <p:sp>
        <p:nvSpPr>
          <p:cNvPr id="9" name="CuadroTexto 8"/>
          <p:cNvSpPr txBox="1"/>
          <p:nvPr/>
        </p:nvSpPr>
        <p:spPr>
          <a:xfrm>
            <a:off x="5404757" y="660999"/>
            <a:ext cx="1382486" cy="461665"/>
          </a:xfrm>
          <a:prstGeom prst="rect">
            <a:avLst/>
          </a:prstGeom>
          <a:noFill/>
        </p:spPr>
        <p:txBody>
          <a:bodyPr wrap="square" rtlCol="0">
            <a:spAutoFit/>
          </a:bodyPr>
          <a:lstStyle/>
          <a:p>
            <a:r>
              <a:rPr lang="es-ES_tradnl" sz="2400" b="1" i="1" dirty="0" smtClean="0">
                <a:latin typeface="Times New Roman" charset="0"/>
                <a:ea typeface="Times New Roman" charset="0"/>
                <a:cs typeface="Times New Roman" charset="0"/>
              </a:rPr>
              <a:t>WHILE</a:t>
            </a:r>
            <a:endParaRPr lang="es-ES_tradnl" sz="2400" b="1" i="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7102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3" name="CuadroTexto 2"/>
          <p:cNvSpPr txBox="1"/>
          <p:nvPr/>
        </p:nvSpPr>
        <p:spPr>
          <a:xfrm>
            <a:off x="881742" y="1295400"/>
            <a:ext cx="9927771" cy="1938992"/>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El siguiente bucle </a:t>
            </a:r>
            <a:r>
              <a:rPr lang="es-ES_tradnl" sz="2400" i="1"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calcula la raíz cuadrada de todos los elementos del vector </a:t>
            </a:r>
            <a:r>
              <a:rPr lang="es-ES_tradnl" sz="2400" dirty="0" err="1" smtClean="0">
                <a:latin typeface="Times New Roman" charset="0"/>
                <a:ea typeface="Times New Roman" charset="0"/>
                <a:cs typeface="Times New Roman" charset="0"/>
              </a:rPr>
              <a:t>tmp</a:t>
            </a:r>
            <a:endParaRPr lang="es-ES_tradnl" sz="2400" dirty="0" smtClean="0">
              <a:latin typeface="Times New Roman" charset="0"/>
              <a:ea typeface="Times New Roman" charset="0"/>
              <a:cs typeface="Times New Roman" charset="0"/>
            </a:endParaRPr>
          </a:p>
          <a:p>
            <a:endParaRPr lang="es-ES_tradnl" sz="2400" dirty="0">
              <a:latin typeface="Times New Roman" charset="0"/>
              <a:ea typeface="Times New Roman" charset="0"/>
              <a:cs typeface="Times New Roman" charset="0"/>
            </a:endParaRPr>
          </a:p>
          <a:p>
            <a:pPr marL="457200" indent="-457200">
              <a:buAutoNum type="arabicPeriod"/>
            </a:pPr>
            <a:r>
              <a:rPr lang="es-ES_tradnl" sz="2400" dirty="0" smtClean="0">
                <a:latin typeface="Times New Roman" charset="0"/>
                <a:ea typeface="Times New Roman" charset="0"/>
                <a:cs typeface="Times New Roman" charset="0"/>
              </a:rPr>
              <a:t>Generar un vector </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con los datos a evaluar                                                                             </a:t>
            </a:r>
            <a:r>
              <a:rPr lang="pt-BR" sz="2400" dirty="0" err="1" smtClean="0">
                <a:latin typeface="Times New Roman" charset="0"/>
                <a:ea typeface="Times New Roman" charset="0"/>
                <a:cs typeface="Times New Roman" charset="0"/>
              </a:rPr>
              <a:t>tmp</a:t>
            </a:r>
            <a:r>
              <a:rPr lang="pt-BR" sz="2400" dirty="0" smtClean="0">
                <a:latin typeface="Times New Roman" charset="0"/>
                <a:ea typeface="Times New Roman" charset="0"/>
                <a:cs typeface="Times New Roman" charset="0"/>
              </a:rPr>
              <a:t>&lt;-</a:t>
            </a:r>
            <a:r>
              <a:rPr lang="pt-BR" sz="2400" dirty="0" err="1" smtClean="0">
                <a:latin typeface="Times New Roman" charset="0"/>
                <a:ea typeface="Times New Roman" charset="0"/>
                <a:cs typeface="Times New Roman" charset="0"/>
              </a:rPr>
              <a:t>seq</a:t>
            </a:r>
            <a:r>
              <a:rPr lang="pt-BR" sz="2400" dirty="0" smtClean="0">
                <a:latin typeface="Times New Roman" charset="0"/>
                <a:ea typeface="Times New Roman" charset="0"/>
                <a:cs typeface="Times New Roman" charset="0"/>
              </a:rPr>
              <a:t>(30,1000,by=2)</a:t>
            </a:r>
            <a:endParaRPr lang="es-ES_tradnl" sz="2400" dirty="0">
              <a:latin typeface="Times New Roman" charset="0"/>
              <a:ea typeface="Times New Roman" charset="0"/>
              <a:cs typeface="Times New Roman" charset="0"/>
            </a:endParaRPr>
          </a:p>
        </p:txBody>
      </p:sp>
      <p:sp>
        <p:nvSpPr>
          <p:cNvPr id="5" name="Rectángulo 4"/>
          <p:cNvSpPr/>
          <p:nvPr/>
        </p:nvSpPr>
        <p:spPr>
          <a:xfrm>
            <a:off x="1262126" y="3026620"/>
            <a:ext cx="6989414" cy="461665"/>
          </a:xfrm>
          <a:prstGeom prst="rect">
            <a:avLst/>
          </a:prstGeom>
        </p:spPr>
        <p:txBody>
          <a:bodyPr wrap="none">
            <a:spAutoFit/>
          </a:bodyPr>
          <a:lstStyle/>
          <a:p>
            <a:r>
              <a:rPr lang="es-ES_tradnl" dirty="0" smtClean="0"/>
              <a:t> </a:t>
            </a:r>
            <a:r>
              <a:rPr lang="es-ES_tradnl" sz="2400" dirty="0" err="1" smtClean="0">
                <a:latin typeface="Times New Roman" charset="0"/>
                <a:ea typeface="Times New Roman" charset="0"/>
                <a:cs typeface="Times New Roman" charset="0"/>
              </a:rPr>
              <a:t>str</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num</a:t>
            </a:r>
            <a:r>
              <a:rPr lang="es-ES_tradnl" sz="2400" dirty="0" smtClean="0">
                <a:latin typeface="Times New Roman" charset="0"/>
                <a:ea typeface="Times New Roman" charset="0"/>
                <a:cs typeface="Times New Roman" charset="0"/>
              </a:rPr>
              <a:t> [1:486] 30 32 34 36 38 40 42 44 46 48 ...</a:t>
            </a:r>
            <a:endParaRPr lang="es-ES_tradnl" sz="2400" dirty="0">
              <a:latin typeface="Times New Roman" charset="0"/>
              <a:ea typeface="Times New Roman" charset="0"/>
              <a:cs typeface="Times New Roman" charset="0"/>
            </a:endParaRPr>
          </a:p>
        </p:txBody>
      </p:sp>
      <p:sp>
        <p:nvSpPr>
          <p:cNvPr id="8" name="CuadroTexto 7"/>
          <p:cNvSpPr txBox="1"/>
          <p:nvPr/>
        </p:nvSpPr>
        <p:spPr>
          <a:xfrm>
            <a:off x="881742" y="4337661"/>
            <a:ext cx="9927771" cy="1200329"/>
          </a:xfrm>
          <a:prstGeom prst="rect">
            <a:avLst/>
          </a:prstGeom>
          <a:noFill/>
        </p:spPr>
        <p:txBody>
          <a:bodyPr wrap="square" rtlCol="0">
            <a:spAutoFit/>
          </a:bodyPr>
          <a:lstStyle/>
          <a:p>
            <a:pPr marL="457200" indent="-457200">
              <a:buAutoNum type="arabicPeriod" startAt="2"/>
            </a:pPr>
            <a:r>
              <a:rPr lang="es-ES_tradnl" sz="2400" dirty="0" smtClean="0">
                <a:latin typeface="Times New Roman" charset="0"/>
                <a:ea typeface="Times New Roman" charset="0"/>
                <a:cs typeface="Times New Roman" charset="0"/>
              </a:rPr>
              <a:t>Generar un vector vacío para guardar los resultados de la operación. Debe ser de la misma dimensión que </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rc</a:t>
            </a:r>
            <a:r>
              <a:rPr lang="es-ES_tradnl" sz="2400" dirty="0" smtClean="0">
                <a:latin typeface="Times New Roman" charset="0"/>
                <a:ea typeface="Times New Roman" charset="0"/>
                <a:cs typeface="Times New Roman" charset="0"/>
              </a:rPr>
              <a:t> &lt;- </a:t>
            </a:r>
            <a:r>
              <a:rPr lang="es-ES_tradnl" sz="2400" dirty="0" err="1" smtClean="0">
                <a:latin typeface="Times New Roman" charset="0"/>
                <a:ea typeface="Times New Roman" charset="0"/>
                <a:cs typeface="Times New Roman" charset="0"/>
              </a:rPr>
              <a:t>numeric</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length</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0553698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6" name="CuadroTexto 5"/>
          <p:cNvSpPr txBox="1"/>
          <p:nvPr/>
        </p:nvSpPr>
        <p:spPr>
          <a:xfrm>
            <a:off x="794656" y="1496490"/>
            <a:ext cx="9927771" cy="830997"/>
          </a:xfrm>
          <a:prstGeom prst="rect">
            <a:avLst/>
          </a:prstGeom>
          <a:noFill/>
        </p:spPr>
        <p:txBody>
          <a:bodyPr wrap="square" rtlCol="0">
            <a:spAutoFit/>
          </a:bodyPr>
          <a:lstStyle/>
          <a:p>
            <a:pPr marL="457200" marR="0" lvl="0" indent="-457200" defTabSz="914400" eaLnBrk="1" fontAlgn="auto" latinLnBrk="0" hangingPunct="1">
              <a:lnSpc>
                <a:spcPct val="100000"/>
              </a:lnSpc>
              <a:spcBef>
                <a:spcPts val="0"/>
              </a:spcBef>
              <a:spcAft>
                <a:spcPts val="0"/>
              </a:spcAft>
              <a:buClrTx/>
              <a:buSzTx/>
              <a:buFontTx/>
              <a:buNone/>
              <a:tabLst/>
              <a:defRPr/>
            </a:pPr>
            <a:r>
              <a:rPr lang="es-ES_tradnl" sz="2400" dirty="0" smtClean="0">
                <a:latin typeface="Times New Roman" charset="0"/>
                <a:ea typeface="Times New Roman" charset="0"/>
                <a:cs typeface="Times New Roman" charset="0"/>
              </a:rPr>
              <a:t>3. Crear el bucle </a:t>
            </a:r>
            <a:r>
              <a:rPr lang="es-ES_tradnl" sz="2400" i="1"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para evaluar cada elemento </a:t>
            </a:r>
            <a:r>
              <a:rPr lang="es-ES_tradnl" sz="2400" i="1" dirty="0" smtClean="0">
                <a:latin typeface="Times New Roman" charset="0"/>
                <a:ea typeface="Times New Roman" charset="0"/>
                <a:cs typeface="Times New Roman" charset="0"/>
              </a:rPr>
              <a:t>i</a:t>
            </a:r>
            <a:r>
              <a:rPr lang="es-ES_tradnl" sz="2400" dirty="0" smtClean="0">
                <a:latin typeface="Times New Roman" charset="0"/>
                <a:ea typeface="Times New Roman" charset="0"/>
                <a:cs typeface="Times New Roman" charset="0"/>
              </a:rPr>
              <a:t> del vector </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y guardarlo en la posición </a:t>
            </a:r>
            <a:r>
              <a:rPr lang="es-ES_tradnl" sz="2400" i="1" dirty="0" smtClean="0">
                <a:latin typeface="Times New Roman" charset="0"/>
                <a:ea typeface="Times New Roman" charset="0"/>
                <a:cs typeface="Times New Roman" charset="0"/>
              </a:rPr>
              <a:t>i </a:t>
            </a:r>
            <a:r>
              <a:rPr lang="es-ES_tradnl" sz="2400" dirty="0" smtClean="0">
                <a:latin typeface="Times New Roman" charset="0"/>
                <a:ea typeface="Times New Roman" charset="0"/>
                <a:cs typeface="Times New Roman" charset="0"/>
              </a:rPr>
              <a:t>del vector </a:t>
            </a:r>
            <a:r>
              <a:rPr lang="es-ES_tradnl" sz="2400" dirty="0" err="1" smtClean="0">
                <a:latin typeface="Times New Roman" charset="0"/>
                <a:ea typeface="Times New Roman" charset="0"/>
                <a:cs typeface="Times New Roman" charset="0"/>
              </a:rPr>
              <a:t>rc</a:t>
            </a:r>
            <a:endParaRPr lang="es-ES_tradnl" sz="2400" dirty="0">
              <a:latin typeface="Times New Roman" charset="0"/>
              <a:ea typeface="Times New Roman" charset="0"/>
              <a:cs typeface="Times New Roman" charset="0"/>
            </a:endParaRPr>
          </a:p>
        </p:txBody>
      </p:sp>
      <p:sp>
        <p:nvSpPr>
          <p:cNvPr id="2" name="Rectángulo 1"/>
          <p:cNvSpPr/>
          <p:nvPr/>
        </p:nvSpPr>
        <p:spPr>
          <a:xfrm>
            <a:off x="3183995" y="3413740"/>
            <a:ext cx="3369205" cy="1569660"/>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(i in 1:length(</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rc</a:t>
            </a:r>
            <a:r>
              <a:rPr lang="es-ES_tradnl" sz="2400" dirty="0" smtClean="0">
                <a:latin typeface="Times New Roman" charset="0"/>
                <a:ea typeface="Times New Roman" charset="0"/>
                <a:cs typeface="Times New Roman" charset="0"/>
              </a:rPr>
              <a:t>[i] &lt;- </a:t>
            </a:r>
            <a:r>
              <a:rPr lang="es-ES_tradnl" sz="2400" dirty="0" err="1" smtClean="0">
                <a:latin typeface="Times New Roman" charset="0"/>
                <a:ea typeface="Times New Roman" charset="0"/>
                <a:cs typeface="Times New Roman" charset="0"/>
              </a:rPr>
              <a:t>sqrt</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[i])  </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rc</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648069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6" name="CuadroTexto 5"/>
          <p:cNvSpPr txBox="1"/>
          <p:nvPr/>
        </p:nvSpPr>
        <p:spPr>
          <a:xfrm>
            <a:off x="794656" y="1496490"/>
            <a:ext cx="9927771" cy="461665"/>
          </a:xfrm>
          <a:prstGeom prst="rect">
            <a:avLst/>
          </a:prstGeom>
          <a:noFill/>
        </p:spPr>
        <p:txBody>
          <a:bodyPr wrap="square" rtlCol="0">
            <a:spAutoFit/>
          </a:bodyPr>
          <a:lstStyle/>
          <a:p>
            <a:pPr marL="457200" marR="0" lvl="0" indent="-457200" defTabSz="914400" eaLnBrk="1" fontAlgn="auto" latinLnBrk="0" hangingPunct="1">
              <a:lnSpc>
                <a:spcPct val="100000"/>
              </a:lnSpc>
              <a:spcBef>
                <a:spcPts val="0"/>
              </a:spcBef>
              <a:spcAft>
                <a:spcPts val="0"/>
              </a:spcAft>
              <a:buClrTx/>
              <a:buSzTx/>
              <a:buFontTx/>
              <a:buNone/>
              <a:tabLst/>
              <a:defRPr/>
            </a:pPr>
            <a:r>
              <a:rPr lang="es-ES_tradnl" sz="2400" dirty="0" smtClean="0">
                <a:latin typeface="Times New Roman" charset="0"/>
                <a:ea typeface="Times New Roman" charset="0"/>
                <a:cs typeface="Times New Roman" charset="0"/>
              </a:rPr>
              <a:t>4. Llamar al objeto </a:t>
            </a:r>
            <a:r>
              <a:rPr lang="es-ES_tradnl" sz="2400" dirty="0" err="1" smtClean="0">
                <a:latin typeface="Times New Roman" charset="0"/>
                <a:ea typeface="Times New Roman" charset="0"/>
                <a:cs typeface="Times New Roman" charset="0"/>
              </a:rPr>
              <a:t>rc</a:t>
            </a:r>
            <a:r>
              <a:rPr lang="es-ES_tradnl" sz="2400" dirty="0" smtClean="0">
                <a:latin typeface="Times New Roman" charset="0"/>
                <a:ea typeface="Times New Roman" charset="0"/>
                <a:cs typeface="Times New Roman" charset="0"/>
              </a:rPr>
              <a:t> que alberga los resultados de la operación</a:t>
            </a:r>
            <a:endParaRPr lang="es-ES_tradnl" sz="2400" dirty="0">
              <a:latin typeface="Times New Roman" charset="0"/>
              <a:ea typeface="Times New Roman" charset="0"/>
              <a:cs typeface="Times New Roman" charset="0"/>
            </a:endParaRPr>
          </a:p>
        </p:txBody>
      </p:sp>
      <p:sp>
        <p:nvSpPr>
          <p:cNvPr id="5" name="Rectángulo 4"/>
          <p:cNvSpPr/>
          <p:nvPr/>
        </p:nvSpPr>
        <p:spPr>
          <a:xfrm>
            <a:off x="1006927" y="2471286"/>
            <a:ext cx="9503227" cy="3046988"/>
          </a:xfrm>
          <a:prstGeom prst="rect">
            <a:avLst/>
          </a:prstGeom>
        </p:spPr>
        <p:txBody>
          <a:bodyPr wrap="square">
            <a:spAutoFit/>
          </a:bodyPr>
          <a:lstStyle/>
          <a:p>
            <a:r>
              <a:rPr lang="es-ES_tradnl" sz="2400" dirty="0" smtClean="0">
                <a:latin typeface="Times New Roman" charset="0"/>
                <a:ea typeface="Times New Roman" charset="0"/>
                <a:cs typeface="Times New Roman" charset="0"/>
              </a:rPr>
              <a:t>&gt; </a:t>
            </a:r>
            <a:r>
              <a:rPr lang="es-ES_tradnl" sz="2400" dirty="0" err="1" smtClean="0">
                <a:latin typeface="Times New Roman" charset="0"/>
                <a:ea typeface="Times New Roman" charset="0"/>
                <a:cs typeface="Times New Roman" charset="0"/>
              </a:rPr>
              <a:t>rc</a:t>
            </a:r>
            <a:r>
              <a:rPr lang="es-ES_tradnl" sz="2400" dirty="0" smtClean="0">
                <a:latin typeface="Times New Roman" charset="0"/>
                <a:ea typeface="Times New Roman" charset="0"/>
                <a:cs typeface="Times New Roman" charset="0"/>
              </a:rPr>
              <a:t>  </a:t>
            </a:r>
          </a:p>
          <a:p>
            <a:r>
              <a:rPr lang="es-ES_tradnl" sz="2400" dirty="0" smtClean="0">
                <a:latin typeface="Times New Roman" charset="0"/>
                <a:ea typeface="Times New Roman" charset="0"/>
                <a:cs typeface="Times New Roman" charset="0"/>
              </a:rPr>
              <a:t>5.477226  5.656854  5.830952  6.000000  6.164414  6.324555  6.480741  6.633250  6.782330  6.928203  7.071068  7.211103  7.348469  7.483315 7.615773  7.745967  7.874008  8.000000  8.124038  8.246211  8.366600 8.485281  8.602325  8.717798  8.831761  8.944272  9.055385  9.165151 9.273618  9.380832  9.486833  9.591663  9.695360  9.797959  9.899495 10.000000 10.099505 10.198039 10.295630 10.392305 10.488088 10.583005</a:t>
            </a:r>
            <a:r>
              <a:rPr lang="is-IS"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6152075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2" name="Rectángulo 1"/>
          <p:cNvSpPr/>
          <p:nvPr/>
        </p:nvSpPr>
        <p:spPr>
          <a:xfrm>
            <a:off x="4142228" y="1869143"/>
            <a:ext cx="2970685" cy="2677656"/>
          </a:xfrm>
          <a:prstGeom prst="rect">
            <a:avLst/>
          </a:prstGeom>
        </p:spPr>
        <p:txBody>
          <a:bodyPr wrap="none">
            <a:spAutoFit/>
          </a:bodyPr>
          <a:lstStyle/>
          <a:p>
            <a:r>
              <a:rPr lang="es-ES_tradnl" sz="2400" dirty="0" smtClean="0">
                <a:latin typeface="Times New Roman" charset="0"/>
                <a:ea typeface="Times New Roman" charset="0"/>
                <a:cs typeface="Times New Roman" charset="0"/>
              </a:rPr>
              <a:t>m &lt;- 20</a:t>
            </a:r>
          </a:p>
          <a:p>
            <a:r>
              <a:rPr lang="es-ES_tradnl" sz="2400" dirty="0" smtClean="0">
                <a:latin typeface="Times New Roman" charset="0"/>
                <a:ea typeface="Times New Roman" charset="0"/>
                <a:cs typeface="Times New Roman" charset="0"/>
              </a:rPr>
              <a:t>n &lt;- 0</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(k in 1:length(m)){</a:t>
            </a:r>
          </a:p>
          <a:p>
            <a:r>
              <a:rPr lang="es-ES_tradnl" sz="2400" dirty="0" smtClean="0">
                <a:latin typeface="Times New Roman" charset="0"/>
                <a:ea typeface="Times New Roman" charset="0"/>
                <a:cs typeface="Times New Roman" charset="0"/>
              </a:rPr>
              <a:t>    n[k] &lt;- m*2/4</a:t>
            </a:r>
          </a:p>
          <a:p>
            <a:r>
              <a:rPr lang="es-ES_tradnl" sz="2400" dirty="0" smtClean="0">
                <a:latin typeface="Times New Roman" charset="0"/>
                <a:ea typeface="Times New Roman" charset="0"/>
                <a:cs typeface="Times New Roman" charset="0"/>
              </a:rPr>
              <a:t>    n</a:t>
            </a:r>
          </a:p>
          <a:p>
            <a:r>
              <a:rPr lang="es-ES_tradnl" sz="2400" dirty="0" smtClean="0">
                <a:latin typeface="Times New Roman" charset="0"/>
                <a:ea typeface="Times New Roman" charset="0"/>
                <a:cs typeface="Times New Roman" charset="0"/>
              </a:rPr>
              <a:t>    }</a:t>
            </a:r>
            <a:endParaRPr lang="es-ES_tradnl" sz="2400" dirty="0">
              <a:latin typeface="Times New Roman" charset="0"/>
              <a:ea typeface="Times New Roman" charset="0"/>
              <a:cs typeface="Times New Roman" charset="0"/>
            </a:endParaRPr>
          </a:p>
        </p:txBody>
      </p:sp>
      <p:sp>
        <p:nvSpPr>
          <p:cNvPr id="3" name="CuadroTexto 2"/>
          <p:cNvSpPr txBox="1"/>
          <p:nvPr/>
        </p:nvSpPr>
        <p:spPr>
          <a:xfrm>
            <a:off x="4337056" y="5154778"/>
            <a:ext cx="5551714" cy="461665"/>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Resultado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7962483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6" name="Rectángulo 5"/>
          <p:cNvSpPr/>
          <p:nvPr/>
        </p:nvSpPr>
        <p:spPr>
          <a:xfrm>
            <a:off x="1243627" y="1316971"/>
            <a:ext cx="9307285" cy="4524315"/>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&lt;- </a:t>
            </a:r>
            <a:r>
              <a:rPr lang="es-ES_tradnl" sz="2400" dirty="0" err="1" smtClean="0">
                <a:latin typeface="Times New Roman" charset="0"/>
                <a:ea typeface="Times New Roman" charset="0"/>
                <a:cs typeface="Times New Roman" charset="0"/>
              </a:rPr>
              <a:t>seq</a:t>
            </a:r>
            <a:r>
              <a:rPr lang="es-ES_tradnl" sz="2400" dirty="0" smtClean="0">
                <a:latin typeface="Times New Roman" charset="0"/>
                <a:ea typeface="Times New Roman" charset="0"/>
                <a:cs typeface="Times New Roman" charset="0"/>
              </a:rPr>
              <a:t> (1200,2000,by=100)</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NuevaPoblacion</a:t>
            </a:r>
            <a:r>
              <a:rPr lang="es-ES_tradnl" sz="2400" dirty="0" smtClean="0">
                <a:latin typeface="Times New Roman" charset="0"/>
                <a:ea typeface="Times New Roman" charset="0"/>
                <a:cs typeface="Times New Roman" charset="0"/>
              </a:rPr>
              <a:t> &lt;- </a:t>
            </a:r>
            <a:r>
              <a:rPr lang="es-ES_tradnl" sz="2400" dirty="0" err="1" smtClean="0">
                <a:latin typeface="Times New Roman" charset="0"/>
                <a:ea typeface="Times New Roman" charset="0"/>
                <a:cs typeface="Times New Roman" charset="0"/>
              </a:rPr>
              <a:t>numeric</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length</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a:t>
            </a:r>
          </a:p>
          <a:p>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Nacimientos &lt;- 2</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(b in 1:length(</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NuevaPoblacion</a:t>
            </a:r>
            <a:r>
              <a:rPr lang="es-ES_tradnl" sz="2400" dirty="0" smtClean="0">
                <a:latin typeface="Times New Roman" charset="0"/>
                <a:ea typeface="Times New Roman" charset="0"/>
                <a:cs typeface="Times New Roman" charset="0"/>
              </a:rPr>
              <a:t>[b] &lt;- </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[b] + Nacimientos  </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NuevaPoblacion</a:t>
            </a:r>
            <a:endParaRPr lang="es-ES_tradnl" sz="2400" dirty="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p>
          <a:p>
            <a:r>
              <a:rPr lang="es-ES_tradnl" sz="2400" dirty="0" smtClean="0">
                <a:latin typeface="Times New Roman" charset="0"/>
                <a:ea typeface="Times New Roman" charset="0"/>
                <a:cs typeface="Times New Roman" charset="0"/>
              </a:rPr>
              <a:t> </a:t>
            </a:r>
          </a:p>
          <a:p>
            <a:r>
              <a:rPr lang="es-ES_tradnl" sz="2400" dirty="0" err="1" smtClean="0">
                <a:latin typeface="Times New Roman" charset="0"/>
                <a:ea typeface="Times New Roman" charset="0"/>
                <a:cs typeface="Times New Roman" charset="0"/>
              </a:rPr>
              <a:t>NuevaPoblacion</a:t>
            </a:r>
            <a:r>
              <a:rPr lang="es-ES_tradnl" sz="2400" dirty="0" smtClean="0">
                <a:latin typeface="Times New Roman" charset="0"/>
                <a:ea typeface="Times New Roman" charset="0"/>
                <a:cs typeface="Times New Roman" charset="0"/>
              </a:rPr>
              <a:t>[1] 1202 1302 1402 1502 1602 1702 1802 1902 2002 </a:t>
            </a:r>
            <a:endParaRPr lang="es-ES_tradnl" sz="2400" dirty="0">
              <a:latin typeface="Times New Roman" charset="0"/>
              <a:ea typeface="Times New Roman" charset="0"/>
              <a:cs typeface="Times New Roman" charset="0"/>
            </a:endParaRPr>
          </a:p>
        </p:txBody>
      </p:sp>
      <p:sp>
        <p:nvSpPr>
          <p:cNvPr id="2" name="Flecha izquierda 1"/>
          <p:cNvSpPr/>
          <p:nvPr/>
        </p:nvSpPr>
        <p:spPr>
          <a:xfrm rot="19329941">
            <a:off x="8463775" y="1617770"/>
            <a:ext cx="1271239" cy="84749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CuadroTexto 2"/>
          <p:cNvSpPr txBox="1"/>
          <p:nvPr/>
        </p:nvSpPr>
        <p:spPr>
          <a:xfrm>
            <a:off x="8762032" y="855304"/>
            <a:ext cx="2888166" cy="461665"/>
          </a:xfrm>
          <a:prstGeom prst="rect">
            <a:avLst/>
          </a:prstGeom>
          <a:noFill/>
        </p:spPr>
        <p:txBody>
          <a:bodyPr wrap="square" rtlCol="0">
            <a:spAutoFit/>
          </a:bodyPr>
          <a:lstStyle/>
          <a:p>
            <a:r>
              <a:rPr lang="es-ES_tradnl" sz="2400" smtClean="0">
                <a:latin typeface="Times New Roman" charset="0"/>
                <a:ea typeface="Times New Roman" charset="0"/>
                <a:cs typeface="Times New Roman" charset="0"/>
              </a:rPr>
              <a:t>Inicializar variables</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193152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4" name="Rectángulo 3"/>
          <p:cNvSpPr/>
          <p:nvPr/>
        </p:nvSpPr>
        <p:spPr>
          <a:xfrm>
            <a:off x="1524000" y="1544322"/>
            <a:ext cx="8937172" cy="3046988"/>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&lt;- </a:t>
            </a:r>
            <a:r>
              <a:rPr lang="es-ES_tradnl" sz="2400" dirty="0" err="1" smtClean="0">
                <a:latin typeface="Times New Roman" charset="0"/>
                <a:ea typeface="Times New Roman" charset="0"/>
                <a:cs typeface="Times New Roman" charset="0"/>
              </a:rPr>
              <a:t>seq</a:t>
            </a:r>
            <a:r>
              <a:rPr lang="es-ES_tradnl" sz="2400" dirty="0" smtClean="0">
                <a:latin typeface="Times New Roman" charset="0"/>
                <a:ea typeface="Times New Roman" charset="0"/>
                <a:cs typeface="Times New Roman" charset="0"/>
              </a:rPr>
              <a:t> (1200,2000,by=100)</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CambioPob</a:t>
            </a:r>
            <a:r>
              <a:rPr lang="es-ES_tradnl" sz="2400" dirty="0" smtClean="0">
                <a:latin typeface="Times New Roman" charset="0"/>
                <a:ea typeface="Times New Roman" charset="0"/>
                <a:cs typeface="Times New Roman" charset="0"/>
              </a:rPr>
              <a:t> &lt;- </a:t>
            </a:r>
            <a:r>
              <a:rPr lang="es-ES_tradnl" sz="2400" dirty="0" err="1" smtClean="0">
                <a:latin typeface="Times New Roman" charset="0"/>
                <a:ea typeface="Times New Roman" charset="0"/>
                <a:cs typeface="Times New Roman" charset="0"/>
              </a:rPr>
              <a:t>numeric</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length</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)-1)</a:t>
            </a:r>
          </a:p>
          <a:p>
            <a:endParaRPr lang="es-ES_tradnl" sz="2400" dirty="0" smtClean="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for</a:t>
            </a:r>
            <a:r>
              <a:rPr lang="es-ES_tradnl" sz="2400" dirty="0" smtClean="0">
                <a:latin typeface="Times New Roman" charset="0"/>
                <a:ea typeface="Times New Roman" charset="0"/>
                <a:cs typeface="Times New Roman" charset="0"/>
              </a:rPr>
              <a:t> (b in 1:length(</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)-1){  </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CambioPob</a:t>
            </a:r>
            <a:r>
              <a:rPr lang="es-ES_tradnl" sz="2400" dirty="0" smtClean="0">
                <a:latin typeface="Times New Roman" charset="0"/>
                <a:ea typeface="Times New Roman" charset="0"/>
                <a:cs typeface="Times New Roman" charset="0"/>
              </a:rPr>
              <a:t>[b] &lt;- </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[b+1] - </a:t>
            </a:r>
            <a:r>
              <a:rPr lang="es-ES_tradnl" sz="2400" dirty="0" err="1" smtClean="0">
                <a:latin typeface="Times New Roman" charset="0"/>
                <a:ea typeface="Times New Roman" charset="0"/>
                <a:cs typeface="Times New Roman" charset="0"/>
              </a:rPr>
              <a:t>PoblacionBallenas</a:t>
            </a:r>
            <a:r>
              <a:rPr lang="es-ES_tradnl" sz="2400" dirty="0" smtClean="0">
                <a:latin typeface="Times New Roman" charset="0"/>
                <a:ea typeface="Times New Roman" charset="0"/>
                <a:cs typeface="Times New Roman" charset="0"/>
              </a:rPr>
              <a:t> [b]</a:t>
            </a: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CambioPob</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endParaRPr lang="es-ES_tradnl" sz="2400" dirty="0">
              <a:latin typeface="Times New Roman" charset="0"/>
              <a:ea typeface="Times New Roman" charset="0"/>
              <a:cs typeface="Times New Roman" charset="0"/>
            </a:endParaRPr>
          </a:p>
        </p:txBody>
      </p:sp>
      <p:sp>
        <p:nvSpPr>
          <p:cNvPr id="5" name="Rectángulo 4"/>
          <p:cNvSpPr/>
          <p:nvPr/>
        </p:nvSpPr>
        <p:spPr>
          <a:xfrm>
            <a:off x="2424942" y="5096151"/>
            <a:ext cx="7135287" cy="461665"/>
          </a:xfrm>
          <a:prstGeom prst="rect">
            <a:avLst/>
          </a:prstGeom>
        </p:spPr>
        <p:txBody>
          <a:bodyPr wrap="none">
            <a:spAutoFit/>
          </a:bodyPr>
          <a:lstStyle/>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NuevaPoblacion</a:t>
            </a:r>
            <a:r>
              <a:rPr lang="es-ES_tradnl" sz="2400" dirty="0" smtClean="0">
                <a:latin typeface="Times New Roman" charset="0"/>
                <a:ea typeface="Times New Roman" charset="0"/>
                <a:cs typeface="Times New Roman" charset="0"/>
              </a:rPr>
              <a:t>[1] 100 100 100 100 100 100 100 100</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426766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6" name="CuadroTexto 5"/>
          <p:cNvSpPr txBox="1"/>
          <p:nvPr/>
        </p:nvSpPr>
        <p:spPr>
          <a:xfrm>
            <a:off x="881742" y="1295400"/>
            <a:ext cx="9927771" cy="1569660"/>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El </a:t>
            </a:r>
            <a:r>
              <a:rPr lang="es-ES_tradnl" sz="2400" i="1"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loop</a:t>
            </a:r>
            <a:r>
              <a:rPr lang="es-ES_tradnl" sz="2400" dirty="0" smtClean="0">
                <a:latin typeface="Times New Roman" charset="0"/>
                <a:ea typeface="Times New Roman" charset="0"/>
                <a:cs typeface="Times New Roman" charset="0"/>
              </a:rPr>
              <a:t> presenta el siguiente formato:</a:t>
            </a:r>
          </a:p>
          <a:p>
            <a:endParaRPr lang="es-ES_tradnl" sz="2400" dirty="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 donde </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es la condición a evaluar y </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 es una expresión</a:t>
            </a:r>
          </a:p>
          <a:p>
            <a:endParaRPr lang="es-ES_tradnl" sz="2400" dirty="0">
              <a:latin typeface="Times New Roman" charset="0"/>
              <a:ea typeface="Times New Roman" charset="0"/>
              <a:cs typeface="Times New Roman" charset="0"/>
            </a:endParaRPr>
          </a:p>
        </p:txBody>
      </p:sp>
      <p:sp>
        <p:nvSpPr>
          <p:cNvPr id="3" name="Rectángulo 2"/>
          <p:cNvSpPr/>
          <p:nvPr/>
        </p:nvSpPr>
        <p:spPr>
          <a:xfrm>
            <a:off x="4234265" y="3390995"/>
            <a:ext cx="2093843" cy="1938992"/>
          </a:xfrm>
          <a:prstGeom prst="rect">
            <a:avLst/>
          </a:prstGeom>
        </p:spPr>
        <p:txBody>
          <a:bodyPr wrap="none">
            <a:spAutoFit/>
          </a:bodyPr>
          <a:lstStyle/>
          <a:p>
            <a:r>
              <a:rPr lang="es-ES_tradnl" sz="2400" dirty="0" smtClean="0">
                <a:latin typeface="Times New Roman" charset="0"/>
                <a:ea typeface="Times New Roman" charset="0"/>
                <a:cs typeface="Times New Roman" charset="0"/>
              </a:rPr>
              <a:t>i &lt;- 1</a:t>
            </a:r>
          </a:p>
          <a:p>
            <a:r>
              <a:rPr lang="es-ES_tradnl" sz="2400"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(i &lt; 6) {  </a:t>
            </a:r>
          </a:p>
          <a:p>
            <a:r>
              <a:rPr lang="es-ES_tradnl" sz="2400" dirty="0" err="1" smtClean="0">
                <a:latin typeface="Times New Roman" charset="0"/>
                <a:ea typeface="Times New Roman" charset="0"/>
                <a:cs typeface="Times New Roman" charset="0"/>
              </a:rPr>
              <a:t>print</a:t>
            </a:r>
            <a:r>
              <a:rPr lang="es-ES_tradnl" sz="2400" dirty="0" smtClean="0">
                <a:latin typeface="Times New Roman" charset="0"/>
                <a:ea typeface="Times New Roman" charset="0"/>
                <a:cs typeface="Times New Roman" charset="0"/>
              </a:rPr>
              <a:t>(i)  </a:t>
            </a:r>
          </a:p>
          <a:p>
            <a:r>
              <a:rPr lang="es-ES_tradnl" sz="2400" dirty="0" smtClean="0">
                <a:latin typeface="Times New Roman" charset="0"/>
                <a:ea typeface="Times New Roman" charset="0"/>
                <a:cs typeface="Times New Roman" charset="0"/>
              </a:rPr>
              <a:t>i = i+1</a:t>
            </a:r>
          </a:p>
          <a:p>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5304042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6" name="CuadroTexto 5"/>
          <p:cNvSpPr txBox="1"/>
          <p:nvPr/>
        </p:nvSpPr>
        <p:spPr>
          <a:xfrm>
            <a:off x="881742" y="1295400"/>
            <a:ext cx="9927771" cy="1569660"/>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El bucle </a:t>
            </a:r>
            <a:r>
              <a:rPr lang="es-ES_tradnl" sz="2400" i="1"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presenta el siguiente formato:</a:t>
            </a:r>
          </a:p>
          <a:p>
            <a:endParaRPr lang="es-ES_tradnl" sz="2400" dirty="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 donde </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es la condición a evaluar y </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 es una expresión</a:t>
            </a:r>
          </a:p>
          <a:p>
            <a:endParaRPr lang="es-ES_tradnl" sz="2400" dirty="0">
              <a:latin typeface="Times New Roman" charset="0"/>
              <a:ea typeface="Times New Roman" charset="0"/>
              <a:cs typeface="Times New Roman" charset="0"/>
            </a:endParaRPr>
          </a:p>
        </p:txBody>
      </p:sp>
      <p:sp>
        <p:nvSpPr>
          <p:cNvPr id="2" name="Rectángulo 1"/>
          <p:cNvSpPr/>
          <p:nvPr/>
        </p:nvSpPr>
        <p:spPr>
          <a:xfrm>
            <a:off x="4398099" y="3499461"/>
            <a:ext cx="1697901" cy="461665"/>
          </a:xfrm>
          <a:prstGeom prst="rect">
            <a:avLst/>
          </a:prstGeom>
        </p:spPr>
        <p:txBody>
          <a:bodyPr wrap="none">
            <a:spAutoFit/>
          </a:bodyPr>
          <a:lstStyle/>
          <a:p>
            <a:r>
              <a:rPr lang="es-ES_tradnl" sz="2400" dirty="0" smtClean="0">
                <a:latin typeface="Times New Roman" charset="0"/>
                <a:ea typeface="Times New Roman" charset="0"/>
                <a:cs typeface="Times New Roman" charset="0"/>
              </a:rPr>
              <a:t>[1] 1 2 3 4 5</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9430100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3" name="Rectángulo 2"/>
          <p:cNvSpPr/>
          <p:nvPr/>
        </p:nvSpPr>
        <p:spPr>
          <a:xfrm>
            <a:off x="2960914" y="1732394"/>
            <a:ext cx="6096000" cy="3416320"/>
          </a:xfrm>
          <a:prstGeom prst="rect">
            <a:avLst/>
          </a:prstGeom>
        </p:spPr>
        <p:txBody>
          <a:bodyPr>
            <a:spAutoFit/>
          </a:bodyPr>
          <a:lstStyle/>
          <a:p>
            <a:r>
              <a:rPr lang="es-ES_tradnl" sz="2400" dirty="0" smtClean="0">
                <a:latin typeface="Times New Roman" charset="0"/>
                <a:ea typeface="Times New Roman" charset="0"/>
                <a:cs typeface="Times New Roman" charset="0"/>
              </a:rPr>
              <a:t>numero &lt;- 1</a:t>
            </a:r>
          </a:p>
          <a:p>
            <a:r>
              <a:rPr lang="es-ES_tradnl" sz="2400" dirty="0" err="1" smtClean="0">
                <a:latin typeface="Times New Roman" charset="0"/>
                <a:ea typeface="Times New Roman" charset="0"/>
                <a:cs typeface="Times New Roman" charset="0"/>
              </a:rPr>
              <a:t>while</a:t>
            </a:r>
            <a:r>
              <a:rPr lang="es-ES_tradnl" sz="2400" dirty="0" smtClean="0">
                <a:latin typeface="Times New Roman" charset="0"/>
                <a:ea typeface="Times New Roman" charset="0"/>
                <a:cs typeface="Times New Roman" charset="0"/>
              </a:rPr>
              <a:t> (numero &lt;5){</a:t>
            </a:r>
          </a:p>
          <a:p>
            <a:r>
              <a:rPr lang="es-ES_tradnl" sz="2400" dirty="0" err="1" smtClean="0">
                <a:latin typeface="Times New Roman" charset="0"/>
                <a:ea typeface="Times New Roman" charset="0"/>
                <a:cs typeface="Times New Roman" charset="0"/>
              </a:rPr>
              <a:t>print</a:t>
            </a:r>
            <a:r>
              <a:rPr lang="es-ES_tradnl" sz="2400" dirty="0" smtClean="0">
                <a:latin typeface="Times New Roman" charset="0"/>
                <a:ea typeface="Times New Roman" charset="0"/>
                <a:cs typeface="Times New Roman" charset="0"/>
              </a:rPr>
              <a:t>("este número es menor que cinco")</a:t>
            </a:r>
          </a:p>
          <a:p>
            <a:r>
              <a:rPr lang="es-ES_tradnl" sz="2400" dirty="0" smtClean="0">
                <a:latin typeface="Times New Roman" charset="0"/>
                <a:ea typeface="Times New Roman" charset="0"/>
                <a:cs typeface="Times New Roman" charset="0"/>
              </a:rPr>
              <a:t>numero &lt;- numero+1</a:t>
            </a:r>
          </a:p>
          <a:p>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[1] "este número es menor que cinco”</a:t>
            </a:r>
          </a:p>
          <a:p>
            <a:r>
              <a:rPr lang="es-ES_tradnl" sz="2400" dirty="0" smtClean="0">
                <a:latin typeface="Times New Roman" charset="0"/>
                <a:ea typeface="Times New Roman" charset="0"/>
                <a:cs typeface="Times New Roman" charset="0"/>
              </a:rPr>
              <a:t>[1] "este número es menor que cinco”</a:t>
            </a:r>
          </a:p>
          <a:p>
            <a:r>
              <a:rPr lang="es-ES_tradnl" sz="2400" dirty="0" smtClean="0">
                <a:latin typeface="Times New Roman" charset="0"/>
                <a:ea typeface="Times New Roman" charset="0"/>
                <a:cs typeface="Times New Roman" charset="0"/>
              </a:rPr>
              <a:t>[1] "este número es menor que cinco”</a:t>
            </a:r>
          </a:p>
          <a:p>
            <a:r>
              <a:rPr lang="es-ES_tradnl" sz="2400" dirty="0" smtClean="0">
                <a:latin typeface="Times New Roman" charset="0"/>
                <a:ea typeface="Times New Roman" charset="0"/>
                <a:cs typeface="Times New Roman" charset="0"/>
              </a:rPr>
              <a:t>[1] "este número es menor que cinco"</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308677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Bucles</a:t>
            </a:r>
            <a:endParaRPr lang="en-US" sz="4000" dirty="0">
              <a:latin typeface="Times New Roman" panose="02020603050405020304" pitchFamily="18" charset="0"/>
              <a:cs typeface="Times New Roman" panose="02020603050405020304" pitchFamily="18" charset="0"/>
            </a:endParaRPr>
          </a:p>
        </p:txBody>
      </p:sp>
      <p:sp>
        <p:nvSpPr>
          <p:cNvPr id="4" name="CuadroTexto 3"/>
          <p:cNvSpPr txBox="1"/>
          <p:nvPr/>
        </p:nvSpPr>
        <p:spPr>
          <a:xfrm>
            <a:off x="881742" y="1295400"/>
            <a:ext cx="9927771" cy="2308324"/>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El bucle </a:t>
            </a:r>
            <a:r>
              <a:rPr lang="es-ES_tradnl" sz="2400" i="1" dirty="0" err="1" smtClean="0">
                <a:latin typeface="Times New Roman" charset="0"/>
                <a:ea typeface="Times New Roman" charset="0"/>
                <a:cs typeface="Times New Roman" charset="0"/>
              </a:rPr>
              <a:t>repeat</a:t>
            </a:r>
            <a:r>
              <a:rPr lang="es-ES_tradnl" sz="2400" dirty="0" smtClean="0">
                <a:latin typeface="Times New Roman" charset="0"/>
                <a:ea typeface="Times New Roman" charset="0"/>
                <a:cs typeface="Times New Roman" charset="0"/>
              </a:rPr>
              <a:t> presenta el siguiente formato:</a:t>
            </a:r>
          </a:p>
          <a:p>
            <a:endParaRPr lang="es-ES_tradnl" sz="2400" dirty="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repeat</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(break), donde </a:t>
            </a:r>
            <a:r>
              <a:rPr lang="es-ES_tradnl" sz="2400" dirty="0" err="1" smtClean="0">
                <a:latin typeface="Times New Roman" charset="0"/>
                <a:ea typeface="Times New Roman" charset="0"/>
                <a:cs typeface="Times New Roman" charset="0"/>
              </a:rPr>
              <a:t>exp</a:t>
            </a:r>
            <a:r>
              <a:rPr lang="es-ES_tradnl" sz="2400" dirty="0" smtClean="0">
                <a:latin typeface="Times New Roman" charset="0"/>
                <a:ea typeface="Times New Roman" charset="0"/>
                <a:cs typeface="Times New Roman" charset="0"/>
              </a:rPr>
              <a:t> es una expresión, </a:t>
            </a:r>
            <a:r>
              <a:rPr lang="es-ES_tradnl" sz="2400" dirty="0" err="1" smtClean="0">
                <a:latin typeface="Times New Roman" charset="0"/>
                <a:ea typeface="Times New Roman" charset="0"/>
                <a:cs typeface="Times New Roman" charset="0"/>
              </a:rPr>
              <a:t>cond</a:t>
            </a:r>
            <a:r>
              <a:rPr lang="es-ES_tradnl" sz="2400" dirty="0" smtClean="0">
                <a:latin typeface="Times New Roman" charset="0"/>
                <a:ea typeface="Times New Roman" charset="0"/>
                <a:cs typeface="Times New Roman" charset="0"/>
              </a:rPr>
              <a:t> es una condición y break es un comando que termina el </a:t>
            </a:r>
            <a:r>
              <a:rPr lang="es-ES_tradnl" sz="2400" dirty="0" err="1" smtClean="0">
                <a:latin typeface="Times New Roman" charset="0"/>
                <a:ea typeface="Times New Roman" charset="0"/>
                <a:cs typeface="Times New Roman" charset="0"/>
              </a:rPr>
              <a:t>loop</a:t>
            </a:r>
            <a:r>
              <a:rPr lang="es-ES_tradnl" sz="2400" dirty="0" smtClean="0">
                <a:latin typeface="Times New Roman" charset="0"/>
                <a:ea typeface="Times New Roman" charset="0"/>
                <a:cs typeface="Times New Roman" charset="0"/>
              </a:rPr>
              <a:t> cuando la condición no se cumple más</a:t>
            </a:r>
          </a:p>
          <a:p>
            <a:endParaRPr lang="es-ES_tradnl" sz="2400" dirty="0">
              <a:latin typeface="Times New Roman" charset="0"/>
              <a:ea typeface="Times New Roman" charset="0"/>
              <a:cs typeface="Times New Roman" charset="0"/>
            </a:endParaRPr>
          </a:p>
        </p:txBody>
      </p:sp>
      <p:sp>
        <p:nvSpPr>
          <p:cNvPr id="2" name="Rectángulo 1"/>
          <p:cNvSpPr/>
          <p:nvPr/>
        </p:nvSpPr>
        <p:spPr>
          <a:xfrm>
            <a:off x="4776445" y="3046511"/>
            <a:ext cx="2138363" cy="3416320"/>
          </a:xfrm>
          <a:prstGeom prst="rect">
            <a:avLst/>
          </a:prstGeom>
        </p:spPr>
        <p:txBody>
          <a:bodyPr wrap="square">
            <a:spAutoFit/>
          </a:bodyPr>
          <a:lstStyle/>
          <a:p>
            <a:r>
              <a:rPr lang="es-ES_tradnl" sz="2400" dirty="0" smtClean="0">
                <a:latin typeface="Times New Roman" charset="0"/>
                <a:ea typeface="Times New Roman" charset="0"/>
                <a:cs typeface="Times New Roman" charset="0"/>
              </a:rPr>
              <a:t>x </a:t>
            </a:r>
            <a:r>
              <a:rPr lang="es-ES_tradnl" sz="2400" dirty="0">
                <a:latin typeface="Times New Roman" charset="0"/>
                <a:ea typeface="Times New Roman" charset="0"/>
                <a:cs typeface="Times New Roman" charset="0"/>
              </a:rPr>
              <a:t>&lt;- </a:t>
            </a:r>
            <a:r>
              <a:rPr lang="es-ES_tradnl" sz="2400" dirty="0" smtClean="0">
                <a:latin typeface="Times New Roman" charset="0"/>
                <a:ea typeface="Times New Roman" charset="0"/>
                <a:cs typeface="Times New Roman" charset="0"/>
              </a:rPr>
              <a:t>1</a:t>
            </a:r>
          </a:p>
          <a:p>
            <a:r>
              <a:rPr lang="es-ES_tradnl" sz="2400" dirty="0" err="1" smtClean="0">
                <a:latin typeface="Times New Roman" charset="0"/>
                <a:ea typeface="Times New Roman" charset="0"/>
                <a:cs typeface="Times New Roman" charset="0"/>
              </a:rPr>
              <a:t>repeat</a:t>
            </a:r>
            <a:r>
              <a:rPr lang="es-ES_tradnl" sz="2400" dirty="0" smtClean="0">
                <a:latin typeface="Times New Roman" charset="0"/>
                <a:ea typeface="Times New Roman" charset="0"/>
                <a:cs typeface="Times New Roman" charset="0"/>
              </a:rPr>
              <a:t> {</a:t>
            </a:r>
          </a:p>
          <a:p>
            <a:r>
              <a:rPr lang="es-ES_tradnl" sz="2400" dirty="0" err="1" smtClean="0">
                <a:latin typeface="Times New Roman" charset="0"/>
                <a:ea typeface="Times New Roman" charset="0"/>
                <a:cs typeface="Times New Roman" charset="0"/>
              </a:rPr>
              <a:t>print</a:t>
            </a:r>
            <a:r>
              <a:rPr lang="es-ES_tradnl" sz="2400" dirty="0" smtClean="0">
                <a:latin typeface="Times New Roman" charset="0"/>
                <a:ea typeface="Times New Roman" charset="0"/>
                <a:cs typeface="Times New Roman" charset="0"/>
              </a:rPr>
              <a:t>(x)</a:t>
            </a:r>
          </a:p>
          <a:p>
            <a:r>
              <a:rPr lang="es-ES_tradnl" sz="2400" dirty="0" smtClean="0">
                <a:latin typeface="Times New Roman" charset="0"/>
                <a:ea typeface="Times New Roman" charset="0"/>
                <a:cs typeface="Times New Roman" charset="0"/>
              </a:rPr>
              <a:t>x </a:t>
            </a:r>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x+1</a:t>
            </a:r>
            <a:endParaRPr lang="es-ES_tradnl" sz="2400" dirty="0">
              <a:latin typeface="Times New Roman" charset="0"/>
              <a:ea typeface="Times New Roman" charset="0"/>
              <a:cs typeface="Times New Roman" charset="0"/>
            </a:endParaRPr>
          </a:p>
          <a:p>
            <a:r>
              <a:rPr lang="es-ES_tradnl" sz="2400" dirty="0" err="1" smtClean="0">
                <a:latin typeface="Times New Roman" charset="0"/>
                <a:ea typeface="Times New Roman" charset="0"/>
                <a:cs typeface="Times New Roman" charset="0"/>
              </a:rPr>
              <a:t>if</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(x == 6</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break }</a:t>
            </a:r>
          </a:p>
          <a:p>
            <a:r>
              <a:rPr lang="es-ES_tradnl" sz="2400" dirty="0" smtClean="0">
                <a:latin typeface="Times New Roman" charset="0"/>
                <a:ea typeface="Times New Roman" charset="0"/>
                <a:cs typeface="Times New Roman" charset="0"/>
              </a:rPr>
              <a:t>}</a:t>
            </a:r>
          </a:p>
          <a:p>
            <a:endParaRPr lang="es-ES_tradnl" sz="2400" dirty="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1 2 3 4 </a:t>
            </a:r>
            <a:r>
              <a:rPr lang="es-ES_tradnl" sz="2400" dirty="0">
                <a:latin typeface="Times New Roman" charset="0"/>
                <a:ea typeface="Times New Roman" charset="0"/>
                <a:cs typeface="Times New Roman" charset="0"/>
              </a:rPr>
              <a:t>5</a:t>
            </a:r>
          </a:p>
        </p:txBody>
      </p:sp>
    </p:spTree>
    <p:extLst>
      <p:ext uri="{BB962C8B-B14F-4D97-AF65-F5344CB8AC3E}">
        <p14:creationId xmlns:p14="http://schemas.microsoft.com/office/powerpoint/2010/main" val="20902150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3" name="CuadroTexto 2"/>
          <p:cNvSpPr txBox="1"/>
          <p:nvPr/>
        </p:nvSpPr>
        <p:spPr>
          <a:xfrm>
            <a:off x="881742" y="1295400"/>
            <a:ext cx="9927771" cy="1938992"/>
          </a:xfrm>
          <a:prstGeom prst="rect">
            <a:avLst/>
          </a:prstGeom>
          <a:noFill/>
        </p:spPr>
        <p:txBody>
          <a:bodyPr wrap="square" rtlCol="0">
            <a:spAutoFit/>
          </a:bodyPr>
          <a:lstStyle/>
          <a:p>
            <a:pPr algn="just"/>
            <a:r>
              <a:rPr lang="es-ES_tradnl" sz="2400" dirty="0" smtClean="0">
                <a:latin typeface="Times New Roman" charset="0"/>
                <a:ea typeface="Times New Roman" charset="0"/>
                <a:cs typeface="Times New Roman" charset="0"/>
              </a:rPr>
              <a:t>Es otro tipo de objeto. La mayor parte del trabajo en R se realiza a través de funciones con sus respectivos argumentos entre paréntesis. R permite al usuario escribir sus propias funciones con </a:t>
            </a:r>
            <a:r>
              <a:rPr lang="es-ES_tradnl" sz="2400" dirty="0" err="1" smtClean="0">
                <a:latin typeface="Times New Roman" charset="0"/>
                <a:ea typeface="Times New Roman" charset="0"/>
                <a:cs typeface="Times New Roman" charset="0"/>
              </a:rPr>
              <a:t>function</a:t>
            </a:r>
            <a:r>
              <a:rPr lang="es-ES_tradnl" sz="2400" dirty="0" smtClean="0">
                <a:latin typeface="Times New Roman" charset="0"/>
                <a:ea typeface="Times New Roman" charset="0"/>
                <a:cs typeface="Times New Roman" charset="0"/>
              </a:rPr>
              <a:t> () para efectuar tareas repetitivas. Éstas tendrán las mismas propiedades que las otras funciones ya implementadas en R</a:t>
            </a:r>
            <a:r>
              <a:rPr lang="es-ES_tradnl" sz="2400" dirty="0">
                <a:latin typeface="Times New Roman" charset="0"/>
                <a:ea typeface="Times New Roman" charset="0"/>
                <a:cs typeface="Times New Roman" charset="0"/>
              </a:rPr>
              <a:t>.</a:t>
            </a:r>
          </a:p>
        </p:txBody>
      </p:sp>
      <p:sp>
        <p:nvSpPr>
          <p:cNvPr id="4" name="Rectángulo 3"/>
          <p:cNvSpPr/>
          <p:nvPr/>
        </p:nvSpPr>
        <p:spPr>
          <a:xfrm>
            <a:off x="3787210" y="3499461"/>
            <a:ext cx="4116833" cy="1569660"/>
          </a:xfrm>
          <a:prstGeom prst="rect">
            <a:avLst/>
          </a:prstGeom>
        </p:spPr>
        <p:txBody>
          <a:bodyPr wrap="none">
            <a:spAutoFit/>
          </a:bodyPr>
          <a:lstStyle/>
          <a:p>
            <a:r>
              <a:rPr lang="es-ES_tradnl" sz="2400" dirty="0" err="1">
                <a:latin typeface="Times New Roman" charset="0"/>
                <a:ea typeface="Times New Roman" charset="0"/>
                <a:cs typeface="Times New Roman" charset="0"/>
              </a:rPr>
              <a:t>primerafuncion</a:t>
            </a:r>
            <a:r>
              <a:rPr lang="es-ES_tradnl" sz="2400" dirty="0">
                <a:latin typeface="Times New Roman" charset="0"/>
                <a:ea typeface="Times New Roman" charset="0"/>
                <a:cs typeface="Times New Roman" charset="0"/>
              </a:rPr>
              <a:t> &lt;- </a:t>
            </a:r>
            <a:r>
              <a:rPr lang="es-ES_tradnl" sz="2400" dirty="0" err="1">
                <a:latin typeface="Times New Roman" charset="0"/>
                <a:ea typeface="Times New Roman" charset="0"/>
                <a:cs typeface="Times New Roman" charset="0"/>
              </a:rPr>
              <a:t>function</a:t>
            </a:r>
            <a:r>
              <a:rPr lang="es-ES_tradnl" sz="2400" dirty="0">
                <a:latin typeface="Times New Roman" charset="0"/>
                <a:ea typeface="Times New Roman" charset="0"/>
                <a:cs typeface="Times New Roman" charset="0"/>
              </a:rPr>
              <a:t> (x</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x &lt;- </a:t>
            </a:r>
            <a:r>
              <a:rPr lang="es-ES_tradnl" sz="2400" dirty="0" smtClean="0">
                <a:latin typeface="Times New Roman" charset="0"/>
                <a:ea typeface="Times New Roman" charset="0"/>
                <a:cs typeface="Times New Roman" charset="0"/>
              </a:rPr>
              <a:t>x*5   </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x</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a:t>
            </a:r>
          </a:p>
        </p:txBody>
      </p:sp>
      <p:cxnSp>
        <p:nvCxnSpPr>
          <p:cNvPr id="6" name="Conector recto de flecha 5"/>
          <p:cNvCxnSpPr/>
          <p:nvPr/>
        </p:nvCxnSpPr>
        <p:spPr>
          <a:xfrm flipH="1">
            <a:off x="7482562" y="3171825"/>
            <a:ext cx="589876" cy="365724"/>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p:cNvSpPr txBox="1"/>
          <p:nvPr/>
        </p:nvSpPr>
        <p:spPr>
          <a:xfrm>
            <a:off x="8072438" y="2864648"/>
            <a:ext cx="2386012" cy="461665"/>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argumentos</a:t>
            </a:r>
            <a:endParaRPr lang="es-ES_tradnl" sz="2400" dirty="0">
              <a:latin typeface="Times New Roman" charset="0"/>
              <a:ea typeface="Times New Roman" charset="0"/>
              <a:cs typeface="Times New Roman" charset="0"/>
            </a:endParaRPr>
          </a:p>
        </p:txBody>
      </p:sp>
      <p:cxnSp>
        <p:nvCxnSpPr>
          <p:cNvPr id="11" name="Conector recto de flecha 10"/>
          <p:cNvCxnSpPr/>
          <p:nvPr/>
        </p:nvCxnSpPr>
        <p:spPr>
          <a:xfrm flipV="1">
            <a:off x="3010248" y="4152828"/>
            <a:ext cx="776962" cy="4835"/>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p:cNvSpPr txBox="1"/>
          <p:nvPr/>
        </p:nvSpPr>
        <p:spPr>
          <a:xfrm>
            <a:off x="1528426" y="3921995"/>
            <a:ext cx="1481822" cy="1569660"/>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Expresión</a:t>
            </a:r>
          </a:p>
          <a:p>
            <a:r>
              <a:rPr lang="es-ES_tradnl" sz="2400" dirty="0">
                <a:latin typeface="Times New Roman" charset="0"/>
                <a:ea typeface="Times New Roman" charset="0"/>
                <a:cs typeface="Times New Roman" charset="0"/>
              </a:rPr>
              <a:t>o</a:t>
            </a:r>
            <a:r>
              <a:rPr lang="es-ES_tradnl" sz="2400" dirty="0" smtClean="0">
                <a:latin typeface="Times New Roman" charset="0"/>
                <a:ea typeface="Times New Roman" charset="0"/>
                <a:cs typeface="Times New Roman" charset="0"/>
              </a:rPr>
              <a:t> cuerpo de la función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93806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4" name="Rectángulo 3"/>
          <p:cNvSpPr/>
          <p:nvPr/>
        </p:nvSpPr>
        <p:spPr>
          <a:xfrm>
            <a:off x="4037583" y="1328349"/>
            <a:ext cx="4116833" cy="1569660"/>
          </a:xfrm>
          <a:prstGeom prst="rect">
            <a:avLst/>
          </a:prstGeom>
        </p:spPr>
        <p:txBody>
          <a:bodyPr wrap="none">
            <a:spAutoFit/>
          </a:bodyPr>
          <a:lstStyle/>
          <a:p>
            <a:r>
              <a:rPr lang="es-ES_tradnl" sz="2400" dirty="0" err="1">
                <a:latin typeface="Times New Roman" charset="0"/>
                <a:ea typeface="Times New Roman" charset="0"/>
                <a:cs typeface="Times New Roman" charset="0"/>
              </a:rPr>
              <a:t>primerafuncion</a:t>
            </a:r>
            <a:r>
              <a:rPr lang="es-ES_tradnl" sz="2400" dirty="0">
                <a:latin typeface="Times New Roman" charset="0"/>
                <a:ea typeface="Times New Roman" charset="0"/>
                <a:cs typeface="Times New Roman" charset="0"/>
              </a:rPr>
              <a:t> &lt;- </a:t>
            </a:r>
            <a:r>
              <a:rPr lang="es-ES_tradnl" sz="2400" dirty="0" err="1">
                <a:latin typeface="Times New Roman" charset="0"/>
                <a:ea typeface="Times New Roman" charset="0"/>
                <a:cs typeface="Times New Roman" charset="0"/>
              </a:rPr>
              <a:t>function</a:t>
            </a:r>
            <a:r>
              <a:rPr lang="es-ES_tradnl" sz="2400" dirty="0">
                <a:latin typeface="Times New Roman" charset="0"/>
                <a:ea typeface="Times New Roman" charset="0"/>
                <a:cs typeface="Times New Roman" charset="0"/>
              </a:rPr>
              <a:t> (x</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x &lt;- </a:t>
            </a:r>
            <a:r>
              <a:rPr lang="es-ES_tradnl" sz="2400" dirty="0" smtClean="0">
                <a:latin typeface="Times New Roman" charset="0"/>
                <a:ea typeface="Times New Roman" charset="0"/>
                <a:cs typeface="Times New Roman" charset="0"/>
              </a:rPr>
              <a:t>x*5   </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x</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a:t>
            </a:r>
          </a:p>
        </p:txBody>
      </p:sp>
      <p:sp>
        <p:nvSpPr>
          <p:cNvPr id="2" name="Rectángulo 1"/>
          <p:cNvSpPr/>
          <p:nvPr/>
        </p:nvSpPr>
        <p:spPr>
          <a:xfrm>
            <a:off x="1226012" y="3565360"/>
            <a:ext cx="2438488"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primerafuncion</a:t>
            </a:r>
            <a:r>
              <a:rPr lang="es-ES_tradnl" sz="2400" dirty="0" smtClean="0">
                <a:latin typeface="Times New Roman" charset="0"/>
                <a:ea typeface="Times New Roman" charset="0"/>
                <a:cs typeface="Times New Roman" charset="0"/>
              </a:rPr>
              <a:t>(5)</a:t>
            </a:r>
          </a:p>
          <a:p>
            <a:r>
              <a:rPr lang="es-ES_tradnl" sz="2400" dirty="0" smtClean="0">
                <a:latin typeface="Times New Roman" charset="0"/>
                <a:ea typeface="Times New Roman" charset="0"/>
                <a:cs typeface="Times New Roman" charset="0"/>
              </a:rPr>
              <a:t> 25</a:t>
            </a:r>
            <a:endParaRPr lang="es-ES_tradnl" sz="2400" dirty="0">
              <a:latin typeface="Times New Roman" charset="0"/>
              <a:ea typeface="Times New Roman" charset="0"/>
              <a:cs typeface="Times New Roman" charset="0"/>
            </a:endParaRPr>
          </a:p>
        </p:txBody>
      </p:sp>
      <p:sp>
        <p:nvSpPr>
          <p:cNvPr id="5" name="Rectángulo 4"/>
          <p:cNvSpPr/>
          <p:nvPr/>
        </p:nvSpPr>
        <p:spPr>
          <a:xfrm>
            <a:off x="4465200" y="3565359"/>
            <a:ext cx="2515432" cy="830997"/>
          </a:xfrm>
          <a:prstGeom prst="rect">
            <a:avLst/>
          </a:prstGeom>
        </p:spPr>
        <p:txBody>
          <a:bodyPr wrap="none">
            <a:spAutoFit/>
          </a:bodyPr>
          <a:lstStyle/>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primerafuncion</a:t>
            </a:r>
            <a:r>
              <a:rPr lang="es-ES_tradnl" sz="2400" dirty="0" smtClean="0">
                <a:latin typeface="Times New Roman" charset="0"/>
                <a:ea typeface="Times New Roman" charset="0"/>
                <a:cs typeface="Times New Roman" charset="0"/>
              </a:rPr>
              <a:t>(8)</a:t>
            </a:r>
          </a:p>
          <a:p>
            <a:r>
              <a:rPr lang="es-ES_tradnl" sz="2400" dirty="0" smtClean="0">
                <a:latin typeface="Times New Roman" charset="0"/>
                <a:ea typeface="Times New Roman" charset="0"/>
                <a:cs typeface="Times New Roman" charset="0"/>
              </a:rPr>
              <a:t>40</a:t>
            </a:r>
            <a:endParaRPr lang="es-ES_tradnl" sz="2400" dirty="0">
              <a:latin typeface="Times New Roman" charset="0"/>
              <a:ea typeface="Times New Roman" charset="0"/>
              <a:cs typeface="Times New Roman" charset="0"/>
            </a:endParaRPr>
          </a:p>
        </p:txBody>
      </p:sp>
      <p:sp>
        <p:nvSpPr>
          <p:cNvPr id="8" name="Rectángulo 7"/>
          <p:cNvSpPr/>
          <p:nvPr/>
        </p:nvSpPr>
        <p:spPr>
          <a:xfrm>
            <a:off x="8387532" y="3565359"/>
            <a:ext cx="2900153"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primerafuncion</a:t>
            </a:r>
            <a:r>
              <a:rPr lang="es-ES_tradnl" sz="2400" dirty="0" smtClean="0">
                <a:latin typeface="Times New Roman" charset="0"/>
                <a:ea typeface="Times New Roman" charset="0"/>
                <a:cs typeface="Times New Roman" charset="0"/>
              </a:rPr>
              <a:t>(1000)</a:t>
            </a:r>
          </a:p>
          <a:p>
            <a:r>
              <a:rPr lang="es-ES_tradnl" sz="2400" dirty="0" smtClean="0">
                <a:latin typeface="Times New Roman" charset="0"/>
                <a:ea typeface="Times New Roman" charset="0"/>
                <a:cs typeface="Times New Roman" charset="0"/>
              </a:rPr>
              <a:t>5000</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3057261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3" name="Rectángulo 2"/>
          <p:cNvSpPr/>
          <p:nvPr/>
        </p:nvSpPr>
        <p:spPr>
          <a:xfrm>
            <a:off x="3818774" y="1433998"/>
            <a:ext cx="4554452" cy="1569660"/>
          </a:xfrm>
          <a:prstGeom prst="rect">
            <a:avLst/>
          </a:prstGeom>
        </p:spPr>
        <p:txBody>
          <a:bodyPr wrap="none">
            <a:spAutoFit/>
          </a:bodyPr>
          <a:lstStyle/>
          <a:p>
            <a:r>
              <a:rPr lang="es-ES_tradnl" sz="2400" dirty="0" err="1">
                <a:latin typeface="Times New Roman" charset="0"/>
                <a:ea typeface="Times New Roman" charset="0"/>
                <a:cs typeface="Times New Roman" charset="0"/>
              </a:rPr>
              <a:t>segundafuncion</a:t>
            </a:r>
            <a:r>
              <a:rPr lang="es-ES_tradnl" sz="2400" dirty="0">
                <a:latin typeface="Times New Roman" charset="0"/>
                <a:ea typeface="Times New Roman" charset="0"/>
                <a:cs typeface="Times New Roman" charset="0"/>
              </a:rPr>
              <a:t> &lt;- </a:t>
            </a:r>
            <a:r>
              <a:rPr lang="es-ES_tradnl" sz="2400" dirty="0" err="1">
                <a:latin typeface="Times New Roman" charset="0"/>
                <a:ea typeface="Times New Roman" charset="0"/>
                <a:cs typeface="Times New Roman" charset="0"/>
              </a:rPr>
              <a:t>function</a:t>
            </a:r>
            <a:r>
              <a:rPr lang="es-ES_tradnl" sz="2400" dirty="0">
                <a:latin typeface="Times New Roman" charset="0"/>
                <a:ea typeface="Times New Roman" charset="0"/>
                <a:cs typeface="Times New Roman" charset="0"/>
              </a:rPr>
              <a:t> (x, y){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tmp</a:t>
            </a:r>
            <a:r>
              <a:rPr lang="es-ES_tradnl" sz="2400" dirty="0">
                <a:latin typeface="Times New Roman" charset="0"/>
                <a:ea typeface="Times New Roman" charset="0"/>
                <a:cs typeface="Times New Roman" charset="0"/>
              </a:rPr>
              <a:t> &lt;- x*y   </a:t>
            </a:r>
            <a:endParaRPr lang="es-ES_tradnl" sz="2400" dirty="0" smtClean="0">
              <a:latin typeface="Times New Roman" charset="0"/>
              <a:ea typeface="Times New Roman" charset="0"/>
              <a:cs typeface="Times New Roman" charset="0"/>
            </a:endParaRP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a:t>
            </a:r>
          </a:p>
          <a:p>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
        <p:nvSpPr>
          <p:cNvPr id="6" name="Rectángulo 5"/>
          <p:cNvSpPr/>
          <p:nvPr/>
        </p:nvSpPr>
        <p:spPr>
          <a:xfrm>
            <a:off x="596902" y="3781429"/>
            <a:ext cx="2722220"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segundafuncion</a:t>
            </a:r>
            <a:r>
              <a:rPr lang="es-ES_tradnl" sz="2400" dirty="0" smtClean="0">
                <a:latin typeface="Times New Roman" charset="0"/>
                <a:ea typeface="Times New Roman" charset="0"/>
                <a:cs typeface="Times New Roman" charset="0"/>
              </a:rPr>
              <a:t>(3,3)</a:t>
            </a:r>
          </a:p>
          <a:p>
            <a:r>
              <a:rPr lang="es-ES_tradnl" sz="2400" dirty="0" smtClean="0">
                <a:latin typeface="Times New Roman" charset="0"/>
                <a:ea typeface="Times New Roman" charset="0"/>
                <a:cs typeface="Times New Roman" charset="0"/>
              </a:rPr>
              <a:t>9</a:t>
            </a:r>
            <a:endParaRPr lang="es-ES_tradnl" sz="2400" dirty="0">
              <a:latin typeface="Times New Roman" charset="0"/>
              <a:ea typeface="Times New Roman" charset="0"/>
              <a:cs typeface="Times New Roman" charset="0"/>
            </a:endParaRPr>
          </a:p>
        </p:txBody>
      </p:sp>
      <p:sp>
        <p:nvSpPr>
          <p:cNvPr id="9" name="Rectángulo 8"/>
          <p:cNvSpPr/>
          <p:nvPr/>
        </p:nvSpPr>
        <p:spPr>
          <a:xfrm>
            <a:off x="4130229" y="3786199"/>
            <a:ext cx="3183885"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segundafuncion</a:t>
            </a:r>
            <a:r>
              <a:rPr lang="es-ES_tradnl" sz="2400" dirty="0" smtClean="0">
                <a:latin typeface="Times New Roman" charset="0"/>
                <a:ea typeface="Times New Roman" charset="0"/>
                <a:cs typeface="Times New Roman" charset="0"/>
              </a:rPr>
              <a:t>(1000,3)</a:t>
            </a:r>
          </a:p>
          <a:p>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3000</a:t>
            </a:r>
          </a:p>
        </p:txBody>
      </p:sp>
      <p:sp>
        <p:nvSpPr>
          <p:cNvPr id="10" name="Rectángulo 9"/>
          <p:cNvSpPr/>
          <p:nvPr/>
        </p:nvSpPr>
        <p:spPr>
          <a:xfrm>
            <a:off x="8211090" y="3781428"/>
            <a:ext cx="3645550"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segundafuncion</a:t>
            </a:r>
            <a:r>
              <a:rPr lang="es-ES_tradnl" sz="2400" dirty="0" smtClean="0">
                <a:latin typeface="Times New Roman" charset="0"/>
                <a:ea typeface="Times New Roman" charset="0"/>
                <a:cs typeface="Times New Roman" charset="0"/>
              </a:rPr>
              <a:t>(8789,8768)</a:t>
            </a:r>
          </a:p>
          <a:p>
            <a:r>
              <a:rPr lang="es-ES_tradnl" sz="2400" dirty="0" smtClean="0">
                <a:latin typeface="Times New Roman" charset="0"/>
                <a:ea typeface="Times New Roman" charset="0"/>
                <a:cs typeface="Times New Roman" charset="0"/>
              </a:rPr>
              <a:t> 77061952</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6721191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3" name="Rectángulo 2"/>
          <p:cNvSpPr/>
          <p:nvPr/>
        </p:nvSpPr>
        <p:spPr>
          <a:xfrm>
            <a:off x="3450784" y="2827901"/>
            <a:ext cx="4881465" cy="1569660"/>
          </a:xfrm>
          <a:prstGeom prst="rect">
            <a:avLst/>
          </a:prstGeom>
        </p:spPr>
        <p:txBody>
          <a:bodyPr wrap="none">
            <a:spAutoFit/>
          </a:bodyPr>
          <a:lstStyle/>
          <a:p>
            <a:r>
              <a:rPr lang="es-ES_tradnl" sz="2400" dirty="0" err="1">
                <a:latin typeface="Times New Roman" charset="0"/>
                <a:ea typeface="Times New Roman" charset="0"/>
                <a:cs typeface="Times New Roman" charset="0"/>
              </a:rPr>
              <a:t>segundafuncion</a:t>
            </a:r>
            <a:r>
              <a:rPr lang="es-ES_tradnl" sz="2400" dirty="0">
                <a:latin typeface="Times New Roman" charset="0"/>
                <a:ea typeface="Times New Roman" charset="0"/>
                <a:cs typeface="Times New Roman" charset="0"/>
              </a:rPr>
              <a:t> &lt;- </a:t>
            </a:r>
            <a:r>
              <a:rPr lang="es-ES_tradnl" sz="2400" dirty="0" err="1">
                <a:latin typeface="Times New Roman" charset="0"/>
                <a:ea typeface="Times New Roman" charset="0"/>
                <a:cs typeface="Times New Roman" charset="0"/>
              </a:rPr>
              <a:t>function</a:t>
            </a:r>
            <a:r>
              <a:rPr lang="es-ES_tradnl" sz="2400" dirty="0">
                <a:latin typeface="Times New Roman" charset="0"/>
                <a:ea typeface="Times New Roman" charset="0"/>
                <a:cs typeface="Times New Roman" charset="0"/>
              </a:rPr>
              <a:t> (x, </a:t>
            </a:r>
            <a:r>
              <a:rPr lang="es-ES_tradnl" sz="2400" dirty="0" smtClean="0">
                <a:latin typeface="Times New Roman" charset="0"/>
                <a:ea typeface="Times New Roman" charset="0"/>
                <a:cs typeface="Times New Roman" charset="0"/>
              </a:rPr>
              <a:t>y=3){ </a:t>
            </a:r>
          </a:p>
          <a:p>
            <a:r>
              <a:rPr lang="es-ES_tradnl" sz="2400" dirty="0" smtClean="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tmp</a:t>
            </a:r>
            <a:r>
              <a:rPr lang="es-ES_tradnl" sz="2400" dirty="0">
                <a:latin typeface="Times New Roman" charset="0"/>
                <a:ea typeface="Times New Roman" charset="0"/>
                <a:cs typeface="Times New Roman" charset="0"/>
              </a:rPr>
              <a:t> &lt;- x*y   </a:t>
            </a:r>
            <a:endParaRPr lang="es-ES_tradnl" sz="2400" dirty="0" smtClean="0">
              <a:latin typeface="Times New Roman" charset="0"/>
              <a:ea typeface="Times New Roman" charset="0"/>
              <a:cs typeface="Times New Roman" charset="0"/>
            </a:endParaRP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tmp</a:t>
            </a:r>
            <a:r>
              <a:rPr lang="es-ES_tradnl" sz="2400" dirty="0" smtClean="0">
                <a:latin typeface="Times New Roman" charset="0"/>
                <a:ea typeface="Times New Roman" charset="0"/>
                <a:cs typeface="Times New Roman" charset="0"/>
              </a:rPr>
              <a:t> </a:t>
            </a:r>
          </a:p>
          <a:p>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p:txBody>
      </p:sp>
      <p:sp>
        <p:nvSpPr>
          <p:cNvPr id="2" name="CuadroTexto 1"/>
          <p:cNvSpPr txBox="1"/>
          <p:nvPr/>
        </p:nvSpPr>
        <p:spPr>
          <a:xfrm>
            <a:off x="2241395" y="1159727"/>
            <a:ext cx="7883912" cy="830997"/>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Una función puede contener más de un argumento. Además, podemos asignar un valor, por defecto, a los argumentos.</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875052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5" name="Rectángulo 4"/>
          <p:cNvSpPr/>
          <p:nvPr/>
        </p:nvSpPr>
        <p:spPr>
          <a:xfrm>
            <a:off x="1609493" y="1118014"/>
            <a:ext cx="7545658" cy="2677656"/>
          </a:xfrm>
          <a:prstGeom prst="rect">
            <a:avLst/>
          </a:prstGeom>
        </p:spPr>
        <p:txBody>
          <a:bodyPr wrap="square">
            <a:spAutoFit/>
          </a:bodyPr>
          <a:lstStyle/>
          <a:p>
            <a:r>
              <a:rPr lang="es-ES_tradnl" sz="2400" dirty="0" smtClean="0">
                <a:latin typeface="Times New Roman" charset="0"/>
                <a:ea typeface="Times New Roman" charset="0"/>
                <a:cs typeface="Times New Roman" charset="0"/>
              </a:rPr>
              <a:t>head(Datos3</a:t>
            </a:r>
            <a:r>
              <a:rPr lang="es-ES_tradnl" sz="2400" dirty="0">
                <a:latin typeface="Times New Roman" charset="0"/>
                <a:ea typeface="Times New Roman" charset="0"/>
                <a:cs typeface="Times New Roman" charset="0"/>
              </a:rPr>
              <a:t>)           Var1     </a:t>
            </a:r>
            <a:r>
              <a:rPr lang="es-ES_tradnl" sz="2400" dirty="0" smtClean="0">
                <a:latin typeface="Times New Roman" charset="0"/>
                <a:ea typeface="Times New Roman" charset="0"/>
                <a:cs typeface="Times New Roman" charset="0"/>
              </a:rPr>
              <a:t>             Var2            Var3</a:t>
            </a:r>
          </a:p>
          <a:p>
            <a:r>
              <a:rPr lang="es-ES_tradnl" sz="2400" dirty="0" smtClean="0">
                <a:latin typeface="Times New Roman" charset="0"/>
                <a:ea typeface="Times New Roman" charset="0"/>
                <a:cs typeface="Times New Roman" charset="0"/>
              </a:rPr>
              <a:t>                                0.00000000   20.00000     103.0000</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0.01010101   26.86869     105.0404       </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0.02020202   33.73737     107.0808</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0.03030303   40.60606     109.1212</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0.04040404   47.47475     111.1616</a:t>
            </a:r>
          </a:p>
          <a:p>
            <a:r>
              <a:rPr lang="es-ES_tradnl" sz="2400" dirty="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                               0.05050505   54.34343     113.2020</a:t>
            </a:r>
            <a:endParaRPr lang="es-ES_tradnl" sz="2400" dirty="0">
              <a:latin typeface="Times New Roman" charset="0"/>
              <a:ea typeface="Times New Roman" charset="0"/>
              <a:cs typeface="Times New Roman" charset="0"/>
            </a:endParaRPr>
          </a:p>
        </p:txBody>
      </p:sp>
      <p:sp>
        <p:nvSpPr>
          <p:cNvPr id="8" name="Rectángulo 7"/>
          <p:cNvSpPr/>
          <p:nvPr/>
        </p:nvSpPr>
        <p:spPr>
          <a:xfrm>
            <a:off x="2161478" y="4495052"/>
            <a:ext cx="7869044" cy="1200329"/>
          </a:xfrm>
          <a:prstGeom prst="rect">
            <a:avLst/>
          </a:prstGeom>
        </p:spPr>
        <p:txBody>
          <a:bodyPr wrap="square">
            <a:spAutoFit/>
          </a:bodyPr>
          <a:lstStyle/>
          <a:p>
            <a:r>
              <a:rPr lang="es-ES_tradnl" sz="2400" dirty="0">
                <a:latin typeface="Times New Roman" charset="0"/>
                <a:ea typeface="Times New Roman" charset="0"/>
                <a:cs typeface="Times New Roman" charset="0"/>
              </a:rPr>
              <a:t>&gt; </a:t>
            </a:r>
            <a:r>
              <a:rPr lang="es-ES_tradnl" sz="2400" dirty="0" err="1">
                <a:latin typeface="Times New Roman" charset="0"/>
                <a:ea typeface="Times New Roman" charset="0"/>
                <a:cs typeface="Times New Roman" charset="0"/>
              </a:rPr>
              <a:t>str</a:t>
            </a:r>
            <a:r>
              <a:rPr lang="es-ES_tradnl" sz="2400" dirty="0">
                <a:latin typeface="Times New Roman" charset="0"/>
                <a:ea typeface="Times New Roman" charset="0"/>
                <a:cs typeface="Times New Roman" charset="0"/>
              </a:rPr>
              <a:t>(Datos3) </a:t>
            </a:r>
            <a:r>
              <a:rPr lang="es-ES_tradnl" sz="2400" dirty="0" err="1">
                <a:latin typeface="Times New Roman" charset="0"/>
                <a:ea typeface="Times New Roman" charset="0"/>
                <a:cs typeface="Times New Roman" charset="0"/>
              </a:rPr>
              <a:t>num</a:t>
            </a:r>
            <a:r>
              <a:rPr lang="es-ES_tradnl" sz="2400" dirty="0">
                <a:latin typeface="Times New Roman" charset="0"/>
                <a:ea typeface="Times New Roman" charset="0"/>
                <a:cs typeface="Times New Roman" charset="0"/>
              </a:rPr>
              <a:t> [1:100, 1:3] 0 0.0101 0.0202 0.0303 0.0404 ... - </a:t>
            </a:r>
            <a:r>
              <a:rPr lang="es-ES_tradnl" sz="2400" dirty="0" err="1">
                <a:latin typeface="Times New Roman" charset="0"/>
                <a:ea typeface="Times New Roman" charset="0"/>
                <a:cs typeface="Times New Roman" charset="0"/>
              </a:rPr>
              <a:t>attr</a:t>
            </a:r>
            <a:r>
              <a:rPr lang="es-ES_tradnl" sz="2400" dirty="0">
                <a:latin typeface="Times New Roman" charset="0"/>
                <a:ea typeface="Times New Roman" charset="0"/>
                <a:cs typeface="Times New Roman" charset="0"/>
              </a:rPr>
              <a:t>(*, "</a:t>
            </a:r>
            <a:r>
              <a:rPr lang="es-ES_tradnl" sz="2400" dirty="0" err="1">
                <a:latin typeface="Times New Roman" charset="0"/>
                <a:ea typeface="Times New Roman" charset="0"/>
                <a:cs typeface="Times New Roman" charset="0"/>
              </a:rPr>
              <a:t>dimnames</a:t>
            </a:r>
            <a:r>
              <a:rPr lang="es-ES_tradnl" sz="2400" dirty="0">
                <a:latin typeface="Times New Roman" charset="0"/>
                <a:ea typeface="Times New Roman" charset="0"/>
                <a:cs typeface="Times New Roman" charset="0"/>
              </a:rPr>
              <a:t>")=</a:t>
            </a:r>
            <a:r>
              <a:rPr lang="es-ES_tradnl" sz="2400" dirty="0" err="1">
                <a:latin typeface="Times New Roman" charset="0"/>
                <a:ea typeface="Times New Roman" charset="0"/>
                <a:cs typeface="Times New Roman" charset="0"/>
              </a:rPr>
              <a:t>List</a:t>
            </a:r>
            <a:r>
              <a:rPr lang="es-ES_tradnl" sz="2400" dirty="0">
                <a:latin typeface="Times New Roman" charset="0"/>
                <a:ea typeface="Times New Roman" charset="0"/>
                <a:cs typeface="Times New Roman" charset="0"/>
              </a:rPr>
              <a:t> of 2  ..$ : NULL  ..$ : </a:t>
            </a:r>
            <a:r>
              <a:rPr lang="es-ES_tradnl" sz="2400" dirty="0" err="1">
                <a:latin typeface="Times New Roman" charset="0"/>
                <a:ea typeface="Times New Roman" charset="0"/>
                <a:cs typeface="Times New Roman" charset="0"/>
              </a:rPr>
              <a:t>chr</a:t>
            </a:r>
            <a:r>
              <a:rPr lang="es-ES_tradnl" sz="2400" dirty="0">
                <a:latin typeface="Times New Roman" charset="0"/>
                <a:ea typeface="Times New Roman" charset="0"/>
                <a:cs typeface="Times New Roman" charset="0"/>
              </a:rPr>
              <a:t> [1:3] "Var1" "Var2" "Var3"&gt; </a:t>
            </a:r>
          </a:p>
        </p:txBody>
      </p:sp>
    </p:spTree>
    <p:extLst>
      <p:ext uri="{BB962C8B-B14F-4D97-AF65-F5344CB8AC3E}">
        <p14:creationId xmlns:p14="http://schemas.microsoft.com/office/powerpoint/2010/main" val="580827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4" name="Rectángulo 3"/>
          <p:cNvSpPr/>
          <p:nvPr/>
        </p:nvSpPr>
        <p:spPr>
          <a:xfrm>
            <a:off x="3549803" y="2350319"/>
            <a:ext cx="4289503" cy="2308324"/>
          </a:xfrm>
          <a:prstGeom prst="rect">
            <a:avLst/>
          </a:prstGeom>
        </p:spPr>
        <p:txBody>
          <a:bodyPr wrap="square">
            <a:spAutoFit/>
          </a:bodyPr>
          <a:lstStyle/>
          <a:p>
            <a:r>
              <a:rPr lang="es-ES_tradnl" sz="2400" dirty="0" err="1" smtClean="0">
                <a:latin typeface="Times New Roman" charset="0"/>
                <a:ea typeface="Times New Roman" charset="0"/>
                <a:cs typeface="Times New Roman" charset="0"/>
              </a:rPr>
              <a:t>tercerafuncion</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&lt;- </a:t>
            </a:r>
            <a:r>
              <a:rPr lang="es-ES_tradnl" sz="2400" dirty="0" err="1">
                <a:latin typeface="Times New Roman" charset="0"/>
                <a:ea typeface="Times New Roman" charset="0"/>
                <a:cs typeface="Times New Roman" charset="0"/>
              </a:rPr>
              <a:t>function</a:t>
            </a:r>
            <a:r>
              <a:rPr lang="es-ES_tradnl" sz="2400" dirty="0">
                <a:latin typeface="Times New Roman" charset="0"/>
                <a:ea typeface="Times New Roman" charset="0"/>
                <a:cs typeface="Times New Roman" charset="0"/>
              </a:rPr>
              <a:t> (x){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tmp1 </a:t>
            </a:r>
            <a:r>
              <a:rPr lang="es-ES_tradnl" sz="2400" dirty="0">
                <a:latin typeface="Times New Roman" charset="0"/>
                <a:ea typeface="Times New Roman" charset="0"/>
                <a:cs typeface="Times New Roman" charset="0"/>
              </a:rPr>
              <a:t>&lt;- mean(x[,1])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tmp2 </a:t>
            </a:r>
            <a:r>
              <a:rPr lang="es-ES_tradnl" sz="2400" dirty="0">
                <a:latin typeface="Times New Roman" charset="0"/>
                <a:ea typeface="Times New Roman" charset="0"/>
                <a:cs typeface="Times New Roman" charset="0"/>
              </a:rPr>
              <a:t>&lt;- mean(x[,2])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tmp3 </a:t>
            </a:r>
            <a:r>
              <a:rPr lang="es-ES_tradnl" sz="2400" dirty="0">
                <a:latin typeface="Times New Roman" charset="0"/>
                <a:ea typeface="Times New Roman" charset="0"/>
                <a:cs typeface="Times New Roman" charset="0"/>
              </a:rPr>
              <a:t>&lt;- mean(x[,3])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return</a:t>
            </a:r>
            <a:r>
              <a:rPr lang="es-ES_tradnl"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(c(tmp1,tmp2,tmp3)) </a:t>
            </a:r>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endParaRPr lang="es-ES_tradnl" sz="2400" dirty="0">
              <a:latin typeface="Times New Roman" charset="0"/>
              <a:ea typeface="Times New Roman" charset="0"/>
              <a:cs typeface="Times New Roman" charset="0"/>
            </a:endParaRPr>
          </a:p>
        </p:txBody>
      </p:sp>
      <p:sp>
        <p:nvSpPr>
          <p:cNvPr id="2" name="Rectángulo 1"/>
          <p:cNvSpPr/>
          <p:nvPr/>
        </p:nvSpPr>
        <p:spPr>
          <a:xfrm>
            <a:off x="3793305" y="5128890"/>
            <a:ext cx="3267241" cy="830997"/>
          </a:xfrm>
          <a:prstGeom prst="rect">
            <a:avLst/>
          </a:prstGeom>
        </p:spPr>
        <p:txBody>
          <a:bodyPr wrap="none">
            <a:spAutoFit/>
          </a:bodyPr>
          <a:lstStyle/>
          <a:p>
            <a:r>
              <a:rPr lang="es-ES_tradnl" sz="2400" dirty="0" err="1" smtClean="0">
                <a:latin typeface="Times New Roman" charset="0"/>
                <a:ea typeface="Times New Roman" charset="0"/>
                <a:cs typeface="Times New Roman" charset="0"/>
              </a:rPr>
              <a:t>tercerafuncion</a:t>
            </a:r>
            <a:r>
              <a:rPr lang="es-ES_tradnl" sz="2400" dirty="0" smtClean="0">
                <a:latin typeface="Times New Roman" charset="0"/>
                <a:ea typeface="Times New Roman" charset="0"/>
                <a:cs typeface="Times New Roman" charset="0"/>
              </a:rPr>
              <a:t>(Datos3)   </a:t>
            </a:r>
          </a:p>
          <a:p>
            <a:r>
              <a:rPr lang="es-ES_tradnl" sz="2400" dirty="0" smtClean="0">
                <a:latin typeface="Times New Roman" charset="0"/>
                <a:ea typeface="Times New Roman" charset="0"/>
                <a:cs typeface="Times New Roman" charset="0"/>
              </a:rPr>
              <a:t>    0.5 </a:t>
            </a:r>
            <a:r>
              <a:rPr lang="es-ES_tradnl" sz="2400" dirty="0">
                <a:latin typeface="Times New Roman" charset="0"/>
                <a:ea typeface="Times New Roman" charset="0"/>
                <a:cs typeface="Times New Roman" charset="0"/>
              </a:rPr>
              <a:t>360.0 </a:t>
            </a:r>
            <a:r>
              <a:rPr lang="es-ES_tradnl" sz="2400" dirty="0" smtClean="0">
                <a:latin typeface="Times New Roman" charset="0"/>
                <a:ea typeface="Times New Roman" charset="0"/>
                <a:cs typeface="Times New Roman" charset="0"/>
              </a:rPr>
              <a:t>204.0</a:t>
            </a:r>
            <a:endParaRPr lang="es-ES_tradnl" sz="2400" dirty="0">
              <a:latin typeface="Times New Roman" charset="0"/>
              <a:ea typeface="Times New Roman" charset="0"/>
              <a:cs typeface="Times New Roman" charset="0"/>
            </a:endParaRPr>
          </a:p>
        </p:txBody>
      </p:sp>
      <p:sp>
        <p:nvSpPr>
          <p:cNvPr id="5" name="Rectángulo 4"/>
          <p:cNvSpPr/>
          <p:nvPr/>
        </p:nvSpPr>
        <p:spPr>
          <a:xfrm>
            <a:off x="1483112" y="1049075"/>
            <a:ext cx="8140390" cy="830997"/>
          </a:xfrm>
          <a:prstGeom prst="rect">
            <a:avLst/>
          </a:prstGeom>
        </p:spPr>
        <p:txBody>
          <a:bodyPr wrap="square">
            <a:spAutoFit/>
          </a:bodyPr>
          <a:lstStyle/>
          <a:p>
            <a:pPr algn="just"/>
            <a:r>
              <a:rPr lang="es-ES_tradnl" sz="2400" dirty="0" smtClean="0">
                <a:latin typeface="Times New Roman" charset="0"/>
                <a:ea typeface="Times New Roman" charset="0"/>
                <a:cs typeface="Times New Roman" charset="0"/>
              </a:rPr>
              <a:t>Para extraer los valores utilizamos el operados $, o los paréntesis cuadrados para acceder a los elementos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5272693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Funciones</a:t>
            </a:r>
            <a:endParaRPr lang="en-US" sz="4000" dirty="0">
              <a:latin typeface="Times New Roman" panose="02020603050405020304" pitchFamily="18" charset="0"/>
              <a:cs typeface="Times New Roman" panose="02020603050405020304" pitchFamily="18" charset="0"/>
            </a:endParaRPr>
          </a:p>
        </p:txBody>
      </p:sp>
      <p:sp>
        <p:nvSpPr>
          <p:cNvPr id="3" name="CuadroTexto 2"/>
          <p:cNvSpPr txBox="1"/>
          <p:nvPr/>
        </p:nvSpPr>
        <p:spPr>
          <a:xfrm>
            <a:off x="1059365" y="1639229"/>
            <a:ext cx="10247971" cy="2677656"/>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Una función puede arrojar, al evaluarse, distintos elementos. El resultado de una función puede ser una constante, un vector, una hoja de datos, una lista, etc. Es posible además guardar nuestra función como un objeto en R con la función </a:t>
            </a:r>
            <a:r>
              <a:rPr lang="es-ES_tradnl" sz="2400" dirty="0" err="1" smtClean="0">
                <a:latin typeface="Times New Roman" charset="0"/>
                <a:ea typeface="Times New Roman" charset="0"/>
                <a:cs typeface="Times New Roman" charset="0"/>
              </a:rPr>
              <a:t>save</a:t>
            </a:r>
            <a:r>
              <a:rPr lang="es-ES_tradnl" sz="2400" dirty="0" smtClean="0">
                <a:latin typeface="Times New Roman" charset="0"/>
                <a:ea typeface="Times New Roman" charset="0"/>
                <a:cs typeface="Times New Roman" charset="0"/>
              </a:rPr>
              <a:t> (), y acceder a ella cuando se tenga necesidad con la función load ()</a:t>
            </a:r>
          </a:p>
          <a:p>
            <a:endParaRPr lang="es-ES_tradnl" sz="2400" dirty="0" smtClean="0">
              <a:latin typeface="Times New Roman" charset="0"/>
              <a:ea typeface="Times New Roman" charset="0"/>
              <a:cs typeface="Times New Roman" charset="0"/>
            </a:endParaRPr>
          </a:p>
          <a:p>
            <a:r>
              <a:rPr lang="es-ES_tradnl" sz="2400" dirty="0" smtClean="0">
                <a:latin typeface="Times New Roman" charset="0"/>
                <a:ea typeface="Times New Roman" charset="0"/>
                <a:cs typeface="Times New Roman" charset="0"/>
              </a:rPr>
              <a:t>                     </a:t>
            </a:r>
            <a:r>
              <a:rPr lang="es-ES_tradnl" sz="2400" dirty="0" err="1" smtClean="0">
                <a:latin typeface="Times New Roman" charset="0"/>
                <a:ea typeface="Times New Roman" charset="0"/>
                <a:cs typeface="Times New Roman" charset="0"/>
              </a:rPr>
              <a:t>save</a:t>
            </a:r>
            <a:r>
              <a:rPr lang="es-ES_tradnl" sz="2400" dirty="0" smtClean="0">
                <a:latin typeface="Times New Roman" charset="0"/>
                <a:ea typeface="Times New Roman" charset="0"/>
                <a:cs typeface="Times New Roman" charset="0"/>
              </a:rPr>
              <a:t>(</a:t>
            </a:r>
            <a:r>
              <a:rPr lang="es-ES_tradnl" sz="2400" dirty="0" err="1" smtClean="0">
                <a:latin typeface="Times New Roman" charset="0"/>
                <a:ea typeface="Times New Roman" charset="0"/>
                <a:cs typeface="Times New Roman" charset="0"/>
              </a:rPr>
              <a:t>segundafuncion,file</a:t>
            </a:r>
            <a:r>
              <a:rPr lang="es-ES_tradnl" sz="2400" dirty="0">
                <a:latin typeface="Times New Roman" charset="0"/>
                <a:ea typeface="Times New Roman" charset="0"/>
                <a:cs typeface="Times New Roman" charset="0"/>
              </a:rPr>
              <a:t>="</a:t>
            </a:r>
            <a:r>
              <a:rPr lang="es-ES_tradnl" sz="2400" dirty="0" err="1">
                <a:latin typeface="Times New Roman" charset="0"/>
                <a:ea typeface="Times New Roman" charset="0"/>
                <a:cs typeface="Times New Roman" charset="0"/>
              </a:rPr>
              <a:t>segundafuncion.Rdata</a:t>
            </a:r>
            <a:r>
              <a:rPr lang="es-ES_tradnl" sz="2400" dirty="0" smtClean="0">
                <a:latin typeface="Times New Roman" charset="0"/>
                <a:ea typeface="Times New Roman" charset="0"/>
                <a:cs typeface="Times New Roman" charset="0"/>
              </a:rPr>
              <a:t>")</a:t>
            </a:r>
          </a:p>
          <a:p>
            <a:r>
              <a:rPr lang="es-ES_tradnl" sz="2400" dirty="0" smtClean="0">
                <a:latin typeface="Times New Roman" charset="0"/>
                <a:ea typeface="Times New Roman" charset="0"/>
                <a:cs typeface="Times New Roman" charset="0"/>
              </a:rPr>
              <a:t>                                 load(file</a:t>
            </a:r>
            <a:r>
              <a:rPr lang="es-ES_tradnl" sz="2400" dirty="0">
                <a:latin typeface="Times New Roman" charset="0"/>
                <a:ea typeface="Times New Roman" charset="0"/>
                <a:cs typeface="Times New Roman" charset="0"/>
              </a:rPr>
              <a:t>="</a:t>
            </a:r>
            <a:r>
              <a:rPr lang="es-ES_tradnl" sz="2400" dirty="0" err="1">
                <a:latin typeface="Times New Roman" charset="0"/>
                <a:ea typeface="Times New Roman" charset="0"/>
                <a:cs typeface="Times New Roman" charset="0"/>
              </a:rPr>
              <a:t>segundafuncion.Rdata</a:t>
            </a:r>
            <a:r>
              <a:rPr lang="es-ES_tradnl" sz="2400" dirty="0">
                <a:latin typeface="Times New Roman" charset="0"/>
                <a:ea typeface="Times New Roman" charset="0"/>
                <a:cs typeface="Times New Roman" charset="0"/>
              </a:rPr>
              <a:t>")</a:t>
            </a:r>
          </a:p>
        </p:txBody>
      </p:sp>
    </p:spTree>
    <p:extLst>
      <p:ext uri="{BB962C8B-B14F-4D97-AF65-F5344CB8AC3E}">
        <p14:creationId xmlns:p14="http://schemas.microsoft.com/office/powerpoint/2010/main" val="18467499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Ejercicio</a:t>
            </a:r>
            <a:r>
              <a:rPr lang="en-US" sz="4000" dirty="0" smtClean="0">
                <a:latin typeface="Times New Roman" panose="02020603050405020304" pitchFamily="18" charset="0"/>
                <a:cs typeface="Times New Roman" panose="02020603050405020304" pitchFamily="18" charset="0"/>
              </a:rPr>
              <a:t> 3</a:t>
            </a:r>
            <a:endParaRPr lang="en-US" sz="4000" dirty="0">
              <a:latin typeface="Times New Roman" panose="02020603050405020304" pitchFamily="18" charset="0"/>
              <a:cs typeface="Times New Roman" panose="02020603050405020304" pitchFamily="18" charset="0"/>
            </a:endParaRPr>
          </a:p>
        </p:txBody>
      </p:sp>
      <p:sp>
        <p:nvSpPr>
          <p:cNvPr id="2" name="CuadroTexto 1"/>
          <p:cNvSpPr txBox="1"/>
          <p:nvPr/>
        </p:nvSpPr>
        <p:spPr>
          <a:xfrm>
            <a:off x="780585" y="1360449"/>
            <a:ext cx="10404088" cy="4524315"/>
          </a:xfrm>
          <a:prstGeom prst="rect">
            <a:avLst/>
          </a:prstGeom>
          <a:noFill/>
        </p:spPr>
        <p:txBody>
          <a:bodyPr wrap="square" rtlCol="0">
            <a:spAutoFit/>
          </a:bodyPr>
          <a:lstStyle/>
          <a:p>
            <a:pPr marL="342900" indent="-342900">
              <a:buAutoNum type="arabicPeriod"/>
            </a:pPr>
            <a:r>
              <a:rPr lang="es-ES_tradnl" sz="2400" dirty="0" smtClean="0">
                <a:latin typeface="Times New Roman" charset="0"/>
                <a:ea typeface="Times New Roman" charset="0"/>
                <a:cs typeface="Times New Roman" charset="0"/>
              </a:rPr>
              <a:t>Generar una hoja de datos con dos variables: Practica (factor) y Tasa de Secuestro Carbono (numérico).  </a:t>
            </a:r>
          </a:p>
          <a:p>
            <a:pPr marL="342900" indent="-342900">
              <a:buAutoNum type="arabicPeriod"/>
            </a:pPr>
            <a:r>
              <a:rPr lang="es-ES_tradnl" sz="2400" dirty="0" smtClean="0">
                <a:latin typeface="Times New Roman" charset="0"/>
                <a:ea typeface="Times New Roman" charset="0"/>
                <a:cs typeface="Times New Roman" charset="0"/>
              </a:rPr>
              <a:t>El factor Practica debe tener tres niveles: “Composta”, “Fertilización” y ”Laboreo”. Cada nivel repetido 200 veces. </a:t>
            </a:r>
          </a:p>
          <a:p>
            <a:pPr marL="342900" indent="-342900">
              <a:buAutoNum type="arabicPeriod"/>
            </a:pPr>
            <a:r>
              <a:rPr lang="es-ES_tradnl" sz="2400" dirty="0">
                <a:latin typeface="Times New Roman" charset="0"/>
                <a:ea typeface="Times New Roman" charset="0"/>
                <a:cs typeface="Times New Roman" charset="0"/>
              </a:rPr>
              <a:t>Generar </a:t>
            </a:r>
            <a:r>
              <a:rPr lang="es-ES_tradnl" sz="2400" dirty="0" smtClean="0">
                <a:latin typeface="Times New Roman" charset="0"/>
                <a:ea typeface="Times New Roman" charset="0"/>
                <a:cs typeface="Times New Roman" charset="0"/>
              </a:rPr>
              <a:t>números aleatorios para la tasa de secuestro de carbono en función del factor práctica: a) Tasa de secuestro(Composta):  Generar 200 números bajo una distribución normal con media 0.5 y desviación estándar de 0.13.                                           b) Tasa de secuestro (Fertilización) : </a:t>
            </a:r>
            <a:r>
              <a:rPr lang="es-ES_tradnl" sz="2400" dirty="0">
                <a:latin typeface="Times New Roman" charset="0"/>
                <a:ea typeface="Times New Roman" charset="0"/>
                <a:cs typeface="Times New Roman" charset="0"/>
              </a:rPr>
              <a:t>Generar 200 números bajo una distribución normal con media </a:t>
            </a:r>
            <a:r>
              <a:rPr lang="es-ES_tradnl" sz="2400" dirty="0" smtClean="0">
                <a:latin typeface="Times New Roman" charset="0"/>
                <a:ea typeface="Times New Roman" charset="0"/>
                <a:cs typeface="Times New Roman" charset="0"/>
              </a:rPr>
              <a:t>0.9 </a:t>
            </a:r>
            <a:r>
              <a:rPr lang="es-ES_tradnl" sz="2400" dirty="0">
                <a:latin typeface="Times New Roman" charset="0"/>
                <a:ea typeface="Times New Roman" charset="0"/>
                <a:cs typeface="Times New Roman" charset="0"/>
              </a:rPr>
              <a:t>y desviación estándar de </a:t>
            </a:r>
            <a:r>
              <a:rPr lang="es-ES_tradnl" sz="2400" dirty="0" smtClean="0">
                <a:latin typeface="Times New Roman" charset="0"/>
                <a:ea typeface="Times New Roman" charset="0"/>
                <a:cs typeface="Times New Roman" charset="0"/>
              </a:rPr>
              <a:t>0.13.                                            c) Tasa de secuestro (Laboreo): Generar </a:t>
            </a:r>
            <a:r>
              <a:rPr lang="es-ES_tradnl" sz="2400" dirty="0">
                <a:latin typeface="Times New Roman" charset="0"/>
                <a:ea typeface="Times New Roman" charset="0"/>
                <a:cs typeface="Times New Roman" charset="0"/>
              </a:rPr>
              <a:t>200 números bajo una distribución normal con media </a:t>
            </a:r>
            <a:r>
              <a:rPr lang="es-ES_tradnl" sz="2400" dirty="0" smtClean="0">
                <a:latin typeface="Times New Roman" charset="0"/>
                <a:ea typeface="Times New Roman" charset="0"/>
                <a:cs typeface="Times New Roman" charset="0"/>
              </a:rPr>
              <a:t>0.1 </a:t>
            </a:r>
            <a:r>
              <a:rPr lang="es-ES_tradnl" sz="2400" dirty="0">
                <a:latin typeface="Times New Roman" charset="0"/>
                <a:ea typeface="Times New Roman" charset="0"/>
                <a:cs typeface="Times New Roman" charset="0"/>
              </a:rPr>
              <a:t>y desviación estándar de 0.13.</a:t>
            </a:r>
          </a:p>
          <a:p>
            <a:pPr marL="342900" indent="-342900">
              <a:buAutoNum type="arabicPeriod"/>
            </a:pP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3999257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Ejercicio</a:t>
            </a:r>
            <a:r>
              <a:rPr lang="en-US" sz="4000" dirty="0" smtClean="0">
                <a:latin typeface="Times New Roman" panose="02020603050405020304" pitchFamily="18" charset="0"/>
                <a:cs typeface="Times New Roman" panose="02020603050405020304" pitchFamily="18" charset="0"/>
              </a:rPr>
              <a:t> 3</a:t>
            </a:r>
            <a:endParaRPr lang="en-US" sz="4000" dirty="0">
              <a:latin typeface="Times New Roman" panose="02020603050405020304" pitchFamily="18" charset="0"/>
              <a:cs typeface="Times New Roman" panose="02020603050405020304" pitchFamily="18" charset="0"/>
            </a:endParaRPr>
          </a:p>
        </p:txBody>
      </p:sp>
      <p:graphicFrame>
        <p:nvGraphicFramePr>
          <p:cNvPr id="4" name="Tabla 3"/>
          <p:cNvGraphicFramePr>
            <a:graphicFrameLocks noGrp="1"/>
          </p:cNvGraphicFramePr>
          <p:nvPr>
            <p:extLst>
              <p:ext uri="{D42A27DB-BD31-4B8C-83A1-F6EECF244321}">
                <p14:modId xmlns:p14="http://schemas.microsoft.com/office/powerpoint/2010/main" val="1295109585"/>
              </p:ext>
            </p:extLst>
          </p:nvPr>
        </p:nvGraphicFramePr>
        <p:xfrm>
          <a:off x="1764371" y="2102417"/>
          <a:ext cx="8128000" cy="3657600"/>
        </p:xfrm>
        <a:graphic>
          <a:graphicData uri="http://schemas.openxmlformats.org/drawingml/2006/table">
            <a:tbl>
              <a:tblPr firstRow="1" bandRow="1">
                <a:tableStyleId>{073A0DAA-6AF3-43AB-8588-CEC1D06C72B9}</a:tableStyleId>
              </a:tblPr>
              <a:tblGrid>
                <a:gridCol w="4064000"/>
                <a:gridCol w="4064000"/>
              </a:tblGrid>
              <a:tr h="370840">
                <a:tc>
                  <a:txBody>
                    <a:bodyPr/>
                    <a:lstStyle/>
                    <a:p>
                      <a:pPr algn="ctr"/>
                      <a:r>
                        <a:rPr lang="es-ES_tradnl" sz="2400" dirty="0" smtClean="0"/>
                        <a:t>Práctica</a:t>
                      </a:r>
                      <a:endParaRPr lang="es-ES_tradnl" sz="2400" dirty="0">
                        <a:latin typeface="Times New Roman" charset="0"/>
                        <a:ea typeface="Times New Roman" charset="0"/>
                        <a:cs typeface="Times New Roman" charset="0"/>
                      </a:endParaRPr>
                    </a:p>
                  </a:txBody>
                  <a:tcPr/>
                </a:tc>
                <a:tc>
                  <a:txBody>
                    <a:bodyPr/>
                    <a:lstStyle/>
                    <a:p>
                      <a:pPr algn="ctr"/>
                      <a:r>
                        <a:rPr lang="es-ES_tradnl" sz="2400" dirty="0" err="1" smtClean="0"/>
                        <a:t>Tasa_Secuestro</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Laboreo</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mn-lt"/>
                          <a:ea typeface="+mn-ea"/>
                          <a:cs typeface="+mn-cs"/>
                        </a:rPr>
                        <a:t>0.06</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Laboreo</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0.07</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Laboreo</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Fertilización</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Fertilización</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Composta</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txBody>
                  <a:tcPr/>
                </a:tc>
              </a:tr>
              <a:tr h="370840">
                <a:tc>
                  <a:txBody>
                    <a:bodyPr/>
                    <a:lstStyle/>
                    <a:p>
                      <a:pPr algn="ctr"/>
                      <a:r>
                        <a:rPr lang="es-ES_tradnl" sz="2400" dirty="0" smtClean="0"/>
                        <a:t>Composta</a:t>
                      </a:r>
                      <a:endParaRPr lang="es-ES_tradnl" sz="2400" dirty="0">
                        <a:latin typeface="Times New Roman" charset="0"/>
                        <a:ea typeface="Times New Roman" charset="0"/>
                        <a:cs typeface="Times New Roman" charset="0"/>
                      </a:endParaRPr>
                    </a:p>
                  </a:txBody>
                  <a:tcPr/>
                </a:tc>
                <a:tc>
                  <a:txBody>
                    <a:bodyPr/>
                    <a:lstStyle/>
                    <a:p>
                      <a:pPr algn="ct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txBody>
                  <a:tcPr/>
                </a:tc>
              </a:tr>
            </a:tbl>
          </a:graphicData>
        </a:graphic>
      </p:graphicFrame>
      <p:sp>
        <p:nvSpPr>
          <p:cNvPr id="5" name="CuadroTexto 4"/>
          <p:cNvSpPr txBox="1"/>
          <p:nvPr/>
        </p:nvSpPr>
        <p:spPr>
          <a:xfrm>
            <a:off x="2644697" y="1193247"/>
            <a:ext cx="8263053" cy="461665"/>
          </a:xfrm>
          <a:prstGeom prst="rect">
            <a:avLst/>
          </a:prstGeom>
          <a:noFill/>
        </p:spPr>
        <p:txBody>
          <a:bodyPr wrap="square" rtlCol="0">
            <a:spAutoFit/>
          </a:bodyPr>
          <a:lstStyle/>
          <a:p>
            <a:r>
              <a:rPr lang="es-ES_tradnl" sz="2400" dirty="0" smtClean="0">
                <a:latin typeface="Times New Roman" charset="0"/>
                <a:ea typeface="Times New Roman" charset="0"/>
                <a:cs typeface="Times New Roman" charset="0"/>
              </a:rPr>
              <a:t>El formato de la hoja de datos debe ser :</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75021637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xmlns="" id="{2AB79E2F-5447-48D0-BE9F-AD06F0C85ABE}"/>
              </a:ext>
            </a:extLst>
          </p:cNvPr>
          <p:cNvSpPr txBox="1">
            <a:spLocks noGrp="1"/>
          </p:cNvSpPr>
          <p:nvPr>
            <p:ph type="title"/>
          </p:nvPr>
        </p:nvSpPr>
        <p:spPr>
          <a:xfrm>
            <a:off x="335360" y="107001"/>
            <a:ext cx="11521280" cy="553998"/>
          </a:xfrm>
          <a:prstGeom prst="rect">
            <a:avLst/>
          </a:prstGeom>
          <a:noFill/>
        </p:spPr>
        <p:txBody>
          <a:bodyPr wrap="square" rtlCol="0">
            <a:spAutoFit/>
          </a:bodyPr>
          <a:lstStyle/>
          <a:p>
            <a:r>
              <a:rPr lang="en-US" sz="4000" dirty="0" err="1" smtClean="0">
                <a:latin typeface="Times New Roman" panose="02020603050405020304" pitchFamily="18" charset="0"/>
                <a:cs typeface="Times New Roman" panose="02020603050405020304" pitchFamily="18" charset="0"/>
              </a:rPr>
              <a:t>Ejercicio</a:t>
            </a:r>
            <a:r>
              <a:rPr lang="en-US" sz="4000" dirty="0" smtClean="0">
                <a:latin typeface="Times New Roman" panose="02020603050405020304" pitchFamily="18" charset="0"/>
                <a:cs typeface="Times New Roman" panose="02020603050405020304" pitchFamily="18" charset="0"/>
              </a:rPr>
              <a:t> 4</a:t>
            </a:r>
            <a:endParaRPr lang="en-US" sz="4000" dirty="0">
              <a:latin typeface="Times New Roman" panose="02020603050405020304" pitchFamily="18" charset="0"/>
              <a:cs typeface="Times New Roman" panose="02020603050405020304" pitchFamily="18" charset="0"/>
            </a:endParaRPr>
          </a:p>
        </p:txBody>
      </p:sp>
      <p:sp>
        <p:nvSpPr>
          <p:cNvPr id="2" name="CuadroTexto 1"/>
          <p:cNvSpPr txBox="1"/>
          <p:nvPr/>
        </p:nvSpPr>
        <p:spPr>
          <a:xfrm>
            <a:off x="602166" y="1349297"/>
            <a:ext cx="10404088" cy="4154984"/>
          </a:xfrm>
          <a:prstGeom prst="rect">
            <a:avLst/>
          </a:prstGeom>
          <a:noFill/>
        </p:spPr>
        <p:txBody>
          <a:bodyPr wrap="square" rtlCol="0">
            <a:spAutoFit/>
          </a:bodyPr>
          <a:lstStyle/>
          <a:p>
            <a:pPr marL="342900" indent="-342900">
              <a:buAutoNum type="arabicPeriod"/>
            </a:pPr>
            <a:r>
              <a:rPr lang="es-ES_tradnl" sz="2400" dirty="0" smtClean="0">
                <a:latin typeface="Times New Roman" charset="0"/>
                <a:ea typeface="Times New Roman" charset="0"/>
                <a:cs typeface="Times New Roman" charset="0"/>
              </a:rPr>
              <a:t>Importar los datos </a:t>
            </a:r>
            <a:r>
              <a:rPr lang="es-ES_tradnl" sz="2400" dirty="0" err="1" smtClean="0">
                <a:latin typeface="Times New Roman" charset="0"/>
                <a:ea typeface="Times New Roman" charset="0"/>
                <a:cs typeface="Times New Roman" charset="0"/>
              </a:rPr>
              <a:t>AreaBasal.csv</a:t>
            </a:r>
            <a:r>
              <a:rPr lang="es-ES_tradnl" sz="2400" dirty="0" smtClean="0">
                <a:latin typeface="Times New Roman" charset="0"/>
                <a:ea typeface="Times New Roman" charset="0"/>
                <a:cs typeface="Times New Roman" charset="0"/>
              </a:rPr>
              <a:t>. Los datos se obtuvieron del inventario forestal para 10 parcelas de 1.0 ha cada una. Cada parcela tiene información sobre el número de árboles distribuidos en 10 clases diametrales de 2 cm cada una. </a:t>
            </a:r>
          </a:p>
          <a:p>
            <a:pPr marL="342900" indent="-342900">
              <a:buFontTx/>
              <a:buAutoNum type="arabicPeriod"/>
            </a:pPr>
            <a:r>
              <a:rPr lang="es-ES_tradnl" sz="2400" dirty="0">
                <a:latin typeface="Times New Roman" charset="0"/>
                <a:ea typeface="Times New Roman" charset="0"/>
                <a:cs typeface="Times New Roman" charset="0"/>
              </a:rPr>
              <a:t>El </a:t>
            </a:r>
            <a:r>
              <a:rPr lang="es-ES_tradnl" sz="2400" dirty="0" smtClean="0">
                <a:latin typeface="Times New Roman" charset="0"/>
                <a:ea typeface="Times New Roman" charset="0"/>
                <a:cs typeface="Times New Roman" charset="0"/>
              </a:rPr>
              <a:t>objetivo del ejercicio </a:t>
            </a:r>
            <a:r>
              <a:rPr lang="es-ES_tradnl" sz="2400" dirty="0">
                <a:latin typeface="Times New Roman" charset="0"/>
                <a:ea typeface="Times New Roman" charset="0"/>
                <a:cs typeface="Times New Roman" charset="0"/>
              </a:rPr>
              <a:t>es calcular el área basal </a:t>
            </a:r>
            <a:r>
              <a:rPr lang="es-ES_tradnl" sz="2400" dirty="0" smtClean="0">
                <a:latin typeface="Times New Roman" charset="0"/>
                <a:ea typeface="Times New Roman" charset="0"/>
                <a:cs typeface="Times New Roman" charset="0"/>
              </a:rPr>
              <a:t>total (m</a:t>
            </a:r>
            <a:r>
              <a:rPr lang="es-ES_tradnl" sz="2400" baseline="30000" dirty="0" smtClean="0">
                <a:latin typeface="Times New Roman" charset="0"/>
                <a:ea typeface="Times New Roman" charset="0"/>
                <a:cs typeface="Times New Roman" charset="0"/>
              </a:rPr>
              <a:t>2</a:t>
            </a:r>
            <a:r>
              <a:rPr lang="es-ES_tradnl" sz="2400" dirty="0" smtClean="0">
                <a:latin typeface="Times New Roman" charset="0"/>
                <a:ea typeface="Times New Roman" charset="0"/>
                <a:cs typeface="Times New Roman" charset="0"/>
              </a:rPr>
              <a:t>/ha) </a:t>
            </a:r>
            <a:r>
              <a:rPr lang="es-ES_tradnl" sz="2400" dirty="0">
                <a:latin typeface="Times New Roman" charset="0"/>
                <a:ea typeface="Times New Roman" charset="0"/>
                <a:cs typeface="Times New Roman" charset="0"/>
              </a:rPr>
              <a:t>para cada una de las 10 parcelas y guardar la información en un vector llamado </a:t>
            </a:r>
            <a:r>
              <a:rPr lang="es-ES_tradnl" sz="2400" dirty="0" err="1" smtClean="0">
                <a:latin typeface="Times New Roman" charset="0"/>
                <a:ea typeface="Times New Roman" charset="0"/>
                <a:cs typeface="Times New Roman" charset="0"/>
              </a:rPr>
              <a:t>Area_Basal</a:t>
            </a:r>
            <a:r>
              <a:rPr lang="es-ES_tradnl" sz="2400" dirty="0" smtClean="0">
                <a:latin typeface="Times New Roman" charset="0"/>
                <a:ea typeface="Times New Roman" charset="0"/>
                <a:cs typeface="Times New Roman" charset="0"/>
              </a:rPr>
              <a:t>.</a:t>
            </a:r>
            <a:endParaRPr lang="es-ES_tradnl" sz="2400" dirty="0">
              <a:latin typeface="Times New Roman" charset="0"/>
              <a:ea typeface="Times New Roman" charset="0"/>
              <a:cs typeface="Times New Roman" charset="0"/>
            </a:endParaRPr>
          </a:p>
          <a:p>
            <a:pPr marL="342900" indent="-342900">
              <a:buAutoNum type="arabicPeriod"/>
            </a:pPr>
            <a:r>
              <a:rPr lang="pt-BR" sz="2400" dirty="0" err="1" smtClean="0">
                <a:latin typeface="Times New Roman" charset="0"/>
                <a:ea typeface="Times New Roman" charset="0"/>
                <a:cs typeface="Times New Roman" charset="0"/>
              </a:rPr>
              <a:t>Sabiendo</a:t>
            </a:r>
            <a:r>
              <a:rPr lang="pt-BR" sz="2400" dirty="0" smtClean="0">
                <a:latin typeface="Times New Roman" charset="0"/>
                <a:ea typeface="Times New Roman" charset="0"/>
                <a:cs typeface="Times New Roman" charset="0"/>
              </a:rPr>
              <a:t> </a:t>
            </a:r>
            <a:r>
              <a:rPr lang="pt-BR" sz="2400" dirty="0">
                <a:latin typeface="Times New Roman" charset="0"/>
                <a:ea typeface="Times New Roman" charset="0"/>
                <a:cs typeface="Times New Roman" charset="0"/>
              </a:rPr>
              <a:t>que </a:t>
            </a:r>
            <a:r>
              <a:rPr lang="pt-BR" sz="2400" dirty="0" err="1" smtClean="0">
                <a:latin typeface="Times New Roman" charset="0"/>
                <a:ea typeface="Times New Roman" charset="0"/>
                <a:cs typeface="Times New Roman" charset="0"/>
              </a:rPr>
              <a:t>el</a:t>
            </a:r>
            <a:r>
              <a:rPr lang="pt-BR" sz="2400" dirty="0" smtClean="0">
                <a:latin typeface="Times New Roman" charset="0"/>
                <a:ea typeface="Times New Roman" charset="0"/>
                <a:cs typeface="Times New Roman" charset="0"/>
              </a:rPr>
              <a:t> área basal de </a:t>
            </a:r>
            <a:r>
              <a:rPr lang="pt-BR" sz="2400" dirty="0" err="1" smtClean="0">
                <a:latin typeface="Times New Roman" charset="0"/>
                <a:ea typeface="Times New Roman" charset="0"/>
                <a:cs typeface="Times New Roman" charset="0"/>
              </a:rPr>
              <a:t>un</a:t>
            </a:r>
            <a:r>
              <a:rPr lang="pt-BR" sz="2400" dirty="0" smtClean="0">
                <a:latin typeface="Times New Roman" charset="0"/>
                <a:ea typeface="Times New Roman" charset="0"/>
                <a:cs typeface="Times New Roman" charset="0"/>
              </a:rPr>
              <a:t> </a:t>
            </a:r>
            <a:r>
              <a:rPr lang="pt-BR" sz="2400" dirty="0" err="1" smtClean="0">
                <a:latin typeface="Times New Roman" charset="0"/>
                <a:ea typeface="Times New Roman" charset="0"/>
                <a:cs typeface="Times New Roman" charset="0"/>
              </a:rPr>
              <a:t>árbol</a:t>
            </a:r>
            <a:r>
              <a:rPr lang="pt-BR" sz="2400" dirty="0" smtClean="0">
                <a:latin typeface="Times New Roman" charset="0"/>
                <a:ea typeface="Times New Roman" charset="0"/>
                <a:cs typeface="Times New Roman" charset="0"/>
              </a:rPr>
              <a:t> (m</a:t>
            </a:r>
            <a:r>
              <a:rPr lang="pt-BR" sz="2400" baseline="30000" dirty="0" smtClean="0">
                <a:latin typeface="Times New Roman" charset="0"/>
                <a:ea typeface="Times New Roman" charset="0"/>
                <a:cs typeface="Times New Roman" charset="0"/>
              </a:rPr>
              <a:t>2</a:t>
            </a:r>
            <a:r>
              <a:rPr lang="pt-BR" sz="2400" dirty="0" smtClean="0">
                <a:latin typeface="Times New Roman" charset="0"/>
                <a:ea typeface="Times New Roman" charset="0"/>
                <a:cs typeface="Times New Roman" charset="0"/>
              </a:rPr>
              <a:t>) </a:t>
            </a:r>
            <a:r>
              <a:rPr lang="pt-BR" sz="2400" dirty="0">
                <a:latin typeface="Times New Roman" charset="0"/>
                <a:ea typeface="Times New Roman" charset="0"/>
                <a:cs typeface="Times New Roman" charset="0"/>
              </a:rPr>
              <a:t>=3.142</a:t>
            </a:r>
            <a:r>
              <a:rPr lang="pt-BR" sz="2400" dirty="0" smtClean="0">
                <a:latin typeface="Times New Roman" charset="0"/>
                <a:ea typeface="Times New Roman" charset="0"/>
                <a:cs typeface="Times New Roman" charset="0"/>
              </a:rPr>
              <a:t>*(DAP^2/40000) </a:t>
            </a:r>
            <a:r>
              <a:rPr lang="pt-BR" sz="2400" dirty="0" err="1" smtClean="0">
                <a:latin typeface="Times New Roman" charset="0"/>
                <a:ea typeface="Times New Roman" charset="0"/>
                <a:cs typeface="Times New Roman" charset="0"/>
              </a:rPr>
              <a:t>y</a:t>
            </a:r>
            <a:r>
              <a:rPr lang="pt-BR" sz="2400" dirty="0" smtClean="0">
                <a:latin typeface="Times New Roman" charset="0"/>
                <a:ea typeface="Times New Roman" charset="0"/>
                <a:cs typeface="Times New Roman" charset="0"/>
              </a:rPr>
              <a:t> que </a:t>
            </a:r>
            <a:r>
              <a:rPr lang="pt-BR" sz="2400" dirty="0" err="1" smtClean="0">
                <a:latin typeface="Times New Roman" charset="0"/>
                <a:ea typeface="Times New Roman" charset="0"/>
                <a:cs typeface="Times New Roman" charset="0"/>
              </a:rPr>
              <a:t>el</a:t>
            </a:r>
            <a:r>
              <a:rPr lang="pt-BR" sz="2400" dirty="0" smtClean="0">
                <a:latin typeface="Times New Roman" charset="0"/>
                <a:ea typeface="Times New Roman" charset="0"/>
                <a:cs typeface="Times New Roman" charset="0"/>
              </a:rPr>
              <a:t> DAP (</a:t>
            </a:r>
            <a:r>
              <a:rPr lang="pt-BR" sz="2400" dirty="0" err="1" smtClean="0">
                <a:latin typeface="Times New Roman" charset="0"/>
                <a:ea typeface="Times New Roman" charset="0"/>
                <a:cs typeface="Times New Roman" charset="0"/>
              </a:rPr>
              <a:t>diámetro</a:t>
            </a:r>
            <a:r>
              <a:rPr lang="pt-BR" sz="2400" dirty="0" smtClean="0">
                <a:latin typeface="Times New Roman" charset="0"/>
                <a:ea typeface="Times New Roman" charset="0"/>
                <a:cs typeface="Times New Roman" charset="0"/>
              </a:rPr>
              <a:t> a </a:t>
            </a:r>
            <a:r>
              <a:rPr lang="pt-BR" sz="2400" dirty="0" err="1" smtClean="0">
                <a:latin typeface="Times New Roman" charset="0"/>
                <a:ea typeface="Times New Roman" charset="0"/>
                <a:cs typeface="Times New Roman" charset="0"/>
              </a:rPr>
              <a:t>la</a:t>
            </a:r>
            <a:r>
              <a:rPr lang="pt-BR" sz="2400" dirty="0" smtClean="0">
                <a:latin typeface="Times New Roman" charset="0"/>
                <a:ea typeface="Times New Roman" charset="0"/>
                <a:cs typeface="Times New Roman" charset="0"/>
              </a:rPr>
              <a:t> altura </a:t>
            </a:r>
            <a:r>
              <a:rPr lang="pt-BR" sz="2400" dirty="0" err="1" smtClean="0">
                <a:latin typeface="Times New Roman" charset="0"/>
                <a:ea typeface="Times New Roman" charset="0"/>
                <a:cs typeface="Times New Roman" charset="0"/>
              </a:rPr>
              <a:t>del</a:t>
            </a:r>
            <a:r>
              <a:rPr lang="pt-BR" sz="2400" dirty="0" smtClean="0">
                <a:latin typeface="Times New Roman" charset="0"/>
                <a:ea typeface="Times New Roman" charset="0"/>
                <a:cs typeface="Times New Roman" charset="0"/>
              </a:rPr>
              <a:t> pecho) para cada </a:t>
            </a:r>
            <a:r>
              <a:rPr lang="pt-BR" sz="2400" dirty="0" err="1" smtClean="0">
                <a:latin typeface="Times New Roman" charset="0"/>
                <a:ea typeface="Times New Roman" charset="0"/>
                <a:cs typeface="Times New Roman" charset="0"/>
              </a:rPr>
              <a:t>clase</a:t>
            </a:r>
            <a:r>
              <a:rPr lang="pt-BR" sz="2400" dirty="0" smtClean="0">
                <a:latin typeface="Times New Roman" charset="0"/>
                <a:ea typeface="Times New Roman" charset="0"/>
                <a:cs typeface="Times New Roman" charset="0"/>
              </a:rPr>
              <a:t> diametral es: </a:t>
            </a:r>
            <a:r>
              <a:rPr lang="es-ES_tradnl" sz="2400" dirty="0" smtClean="0">
                <a:latin typeface="Times New Roman" charset="0"/>
                <a:ea typeface="Times New Roman" charset="0"/>
                <a:cs typeface="Times New Roman" charset="0"/>
              </a:rPr>
              <a:t>2.3,4.5,5.5,6.0,6.4,6.8,7.7,7.9,8.1,9.0 </a:t>
            </a:r>
            <a:endParaRPr lang="es-ES_tradnl" sz="2400" dirty="0">
              <a:latin typeface="Times New Roman" charset="0"/>
              <a:ea typeface="Times New Roman" charset="0"/>
              <a:cs typeface="Times New Roman" charset="0"/>
            </a:endParaRPr>
          </a:p>
          <a:p>
            <a:pPr marL="342900" indent="-342900">
              <a:buFontTx/>
              <a:buAutoNum type="arabicPeriod"/>
            </a:pPr>
            <a:r>
              <a:rPr lang="pt-BR" sz="2400" dirty="0">
                <a:latin typeface="Times New Roman" charset="0"/>
                <a:ea typeface="Times New Roman" charset="0"/>
                <a:cs typeface="Times New Roman" charset="0"/>
              </a:rPr>
              <a:t>Para </a:t>
            </a:r>
            <a:r>
              <a:rPr lang="pt-BR" sz="2400" dirty="0" err="1">
                <a:latin typeface="Times New Roman" charset="0"/>
                <a:ea typeface="Times New Roman" charset="0"/>
                <a:cs typeface="Times New Roman" charset="0"/>
              </a:rPr>
              <a:t>optimizar</a:t>
            </a:r>
            <a:r>
              <a:rPr lang="pt-BR" sz="2400" dirty="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la</a:t>
            </a:r>
            <a:r>
              <a:rPr lang="pt-BR" sz="2400" dirty="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tarea</a:t>
            </a:r>
            <a:r>
              <a:rPr lang="pt-BR" sz="2400" dirty="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debemos</a:t>
            </a:r>
            <a:r>
              <a:rPr lang="pt-BR" sz="2400" dirty="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crear</a:t>
            </a:r>
            <a:r>
              <a:rPr lang="pt-BR" sz="2400" dirty="0">
                <a:latin typeface="Times New Roman" charset="0"/>
                <a:ea typeface="Times New Roman" charset="0"/>
                <a:cs typeface="Times New Roman" charset="0"/>
              </a:rPr>
              <a:t> </a:t>
            </a:r>
            <a:r>
              <a:rPr lang="pt-BR" sz="2400" dirty="0" err="1" smtClean="0">
                <a:latin typeface="Times New Roman" charset="0"/>
                <a:ea typeface="Times New Roman" charset="0"/>
                <a:cs typeface="Times New Roman" charset="0"/>
              </a:rPr>
              <a:t>un</a:t>
            </a:r>
            <a:r>
              <a:rPr lang="pt-BR" sz="2400" dirty="0" smtClean="0">
                <a:latin typeface="Times New Roman" charset="0"/>
                <a:ea typeface="Times New Roman" charset="0"/>
                <a:cs typeface="Times New Roman" charset="0"/>
              </a:rPr>
              <a:t> </a:t>
            </a:r>
            <a:r>
              <a:rPr lang="es-ES_tradnl" sz="2400" dirty="0">
                <a:latin typeface="Times New Roman" charset="0"/>
                <a:ea typeface="Times New Roman" charset="0"/>
                <a:cs typeface="Times New Roman" charset="0"/>
              </a:rPr>
              <a:t>bucle </a:t>
            </a:r>
            <a:r>
              <a:rPr lang="es-ES_tradnl" sz="2400" i="1" dirty="0" err="1" smtClean="0">
                <a:latin typeface="Times New Roman" charset="0"/>
                <a:ea typeface="Times New Roman" charset="0"/>
                <a:cs typeface="Times New Roman" charset="0"/>
              </a:rPr>
              <a:t>for</a:t>
            </a:r>
            <a:r>
              <a:rPr lang="es-ES_tradnl" sz="2400" i="1" dirty="0" smtClean="0">
                <a:latin typeface="Times New Roman" charset="0"/>
                <a:ea typeface="Times New Roman" charset="0"/>
                <a:cs typeface="Times New Roman" charset="0"/>
              </a:rPr>
              <a:t> </a:t>
            </a:r>
            <a:r>
              <a:rPr lang="es-ES_tradnl" sz="2400" dirty="0" smtClean="0">
                <a:latin typeface="Times New Roman" charset="0"/>
                <a:ea typeface="Times New Roman" charset="0"/>
                <a:cs typeface="Times New Roman" charset="0"/>
              </a:rPr>
              <a:t>dentro del cual se </a:t>
            </a:r>
            <a:r>
              <a:rPr lang="pt-BR" sz="2400" dirty="0" smtClean="0">
                <a:latin typeface="Times New Roman" charset="0"/>
                <a:ea typeface="Times New Roman" charset="0"/>
                <a:cs typeface="Times New Roman" charset="0"/>
              </a:rPr>
              <a:t>calcula </a:t>
            </a:r>
            <a:r>
              <a:rPr lang="pt-BR" sz="2400" dirty="0" err="1" smtClean="0">
                <a:latin typeface="Times New Roman" charset="0"/>
                <a:ea typeface="Times New Roman" charset="0"/>
                <a:cs typeface="Times New Roman" charset="0"/>
              </a:rPr>
              <a:t>primero</a:t>
            </a:r>
            <a:r>
              <a:rPr lang="pt-BR" sz="2400" dirty="0" smtClean="0">
                <a:latin typeface="Times New Roman" charset="0"/>
                <a:ea typeface="Times New Roman" charset="0"/>
                <a:cs typeface="Times New Roman" charset="0"/>
              </a:rPr>
              <a:t> </a:t>
            </a:r>
            <a:r>
              <a:rPr lang="pt-BR" sz="2400" dirty="0" err="1" smtClean="0">
                <a:latin typeface="Times New Roman" charset="0"/>
                <a:ea typeface="Times New Roman" charset="0"/>
                <a:cs typeface="Times New Roman" charset="0"/>
              </a:rPr>
              <a:t>el</a:t>
            </a:r>
            <a:r>
              <a:rPr lang="pt-BR" sz="2400" dirty="0" smtClean="0">
                <a:latin typeface="Times New Roman" charset="0"/>
                <a:ea typeface="Times New Roman" charset="0"/>
                <a:cs typeface="Times New Roman" charset="0"/>
              </a:rPr>
              <a:t> </a:t>
            </a:r>
            <a:r>
              <a:rPr lang="pt-BR" sz="2400" dirty="0">
                <a:latin typeface="Times New Roman" charset="0"/>
                <a:ea typeface="Times New Roman" charset="0"/>
                <a:cs typeface="Times New Roman" charset="0"/>
              </a:rPr>
              <a:t>área basal de cada </a:t>
            </a:r>
            <a:r>
              <a:rPr lang="pt-BR" sz="2400" dirty="0" err="1">
                <a:latin typeface="Times New Roman" charset="0"/>
                <a:ea typeface="Times New Roman" charset="0"/>
                <a:cs typeface="Times New Roman" charset="0"/>
              </a:rPr>
              <a:t>clase</a:t>
            </a:r>
            <a:r>
              <a:rPr lang="pt-BR" sz="2400" dirty="0">
                <a:latin typeface="Times New Roman" charset="0"/>
                <a:ea typeface="Times New Roman" charset="0"/>
                <a:cs typeface="Times New Roman" charset="0"/>
              </a:rPr>
              <a:t> </a:t>
            </a:r>
            <a:r>
              <a:rPr lang="pt-BR" sz="2400" dirty="0" smtClean="0">
                <a:latin typeface="Times New Roman" charset="0"/>
                <a:ea typeface="Times New Roman" charset="0"/>
                <a:cs typeface="Times New Roman" charset="0"/>
              </a:rPr>
              <a:t>diametral, se multiplica por </a:t>
            </a:r>
            <a:r>
              <a:rPr lang="pt-BR" sz="2400" dirty="0" err="1" smtClean="0">
                <a:latin typeface="Times New Roman" charset="0"/>
                <a:ea typeface="Times New Roman" charset="0"/>
                <a:cs typeface="Times New Roman" charset="0"/>
              </a:rPr>
              <a:t>el</a:t>
            </a:r>
            <a:r>
              <a:rPr lang="pt-BR" sz="2400" dirty="0" smtClean="0">
                <a:latin typeface="Times New Roman" charset="0"/>
                <a:ea typeface="Times New Roman" charset="0"/>
                <a:cs typeface="Times New Roman" charset="0"/>
              </a:rPr>
              <a:t> número de </a:t>
            </a:r>
            <a:r>
              <a:rPr lang="pt-BR" sz="2400" dirty="0" err="1" smtClean="0">
                <a:latin typeface="Times New Roman" charset="0"/>
                <a:ea typeface="Times New Roman" charset="0"/>
                <a:cs typeface="Times New Roman" charset="0"/>
              </a:rPr>
              <a:t>árboles</a:t>
            </a:r>
            <a:r>
              <a:rPr lang="pt-BR" sz="2400" dirty="0" smtClean="0">
                <a:latin typeface="Times New Roman" charset="0"/>
                <a:ea typeface="Times New Roman" charset="0"/>
                <a:cs typeface="Times New Roman" charset="0"/>
              </a:rPr>
              <a:t> </a:t>
            </a:r>
            <a:r>
              <a:rPr lang="pt-BR" sz="2400" dirty="0" err="1" smtClean="0">
                <a:latin typeface="Times New Roman" charset="0"/>
                <a:ea typeface="Times New Roman" charset="0"/>
                <a:cs typeface="Times New Roman" charset="0"/>
              </a:rPr>
              <a:t>en</a:t>
            </a:r>
            <a:r>
              <a:rPr lang="pt-BR" sz="2400" dirty="0" smtClean="0">
                <a:latin typeface="Times New Roman" charset="0"/>
                <a:ea typeface="Times New Roman" charset="0"/>
                <a:cs typeface="Times New Roman" charset="0"/>
              </a:rPr>
              <a:t> cada </a:t>
            </a:r>
            <a:r>
              <a:rPr lang="pt-BR" sz="2400" dirty="0" err="1" smtClean="0">
                <a:latin typeface="Times New Roman" charset="0"/>
                <a:ea typeface="Times New Roman" charset="0"/>
                <a:cs typeface="Times New Roman" charset="0"/>
              </a:rPr>
              <a:t>clase</a:t>
            </a:r>
            <a:r>
              <a:rPr lang="pt-BR" sz="2400" dirty="0" smtClean="0">
                <a:latin typeface="Times New Roman" charset="0"/>
                <a:ea typeface="Times New Roman" charset="0"/>
                <a:cs typeface="Times New Roman" charset="0"/>
              </a:rPr>
              <a:t> </a:t>
            </a:r>
            <a:r>
              <a:rPr lang="pt-BR" sz="2400" dirty="0" err="1" smtClean="0">
                <a:latin typeface="Times New Roman" charset="0"/>
                <a:ea typeface="Times New Roman" charset="0"/>
                <a:cs typeface="Times New Roman" charset="0"/>
              </a:rPr>
              <a:t>y</a:t>
            </a:r>
            <a:r>
              <a:rPr lang="pt-BR" sz="2400" dirty="0" smtClean="0">
                <a:latin typeface="Times New Roman" charset="0"/>
                <a:ea typeface="Times New Roman" charset="0"/>
                <a:cs typeface="Times New Roman" charset="0"/>
              </a:rPr>
              <a:t> se </a:t>
            </a:r>
            <a:r>
              <a:rPr lang="pt-BR" sz="2400" dirty="0" err="1" smtClean="0">
                <a:latin typeface="Times New Roman" charset="0"/>
                <a:ea typeface="Times New Roman" charset="0"/>
                <a:cs typeface="Times New Roman" charset="0"/>
              </a:rPr>
              <a:t>suman</a:t>
            </a:r>
            <a:r>
              <a:rPr lang="pt-BR" sz="2400" dirty="0" smtClean="0">
                <a:latin typeface="Times New Roman" charset="0"/>
                <a:ea typeface="Times New Roman" charset="0"/>
                <a:cs typeface="Times New Roman" charset="0"/>
              </a:rPr>
              <a:t> para </a:t>
            </a:r>
            <a:r>
              <a:rPr lang="pt-BR" sz="2400" dirty="0" err="1" smtClean="0">
                <a:latin typeface="Times New Roman" charset="0"/>
                <a:ea typeface="Times New Roman" charset="0"/>
                <a:cs typeface="Times New Roman" charset="0"/>
              </a:rPr>
              <a:t>así</a:t>
            </a:r>
            <a:r>
              <a:rPr lang="pt-BR" sz="2400" dirty="0" smtClean="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obtener</a:t>
            </a:r>
            <a:r>
              <a:rPr lang="pt-BR" sz="2400" dirty="0">
                <a:latin typeface="Times New Roman" charset="0"/>
                <a:ea typeface="Times New Roman" charset="0"/>
                <a:cs typeface="Times New Roman" charset="0"/>
              </a:rPr>
              <a:t> </a:t>
            </a:r>
            <a:r>
              <a:rPr lang="pt-BR" sz="2400" dirty="0" err="1">
                <a:latin typeface="Times New Roman" charset="0"/>
                <a:ea typeface="Times New Roman" charset="0"/>
                <a:cs typeface="Times New Roman" charset="0"/>
              </a:rPr>
              <a:t>el</a:t>
            </a:r>
            <a:r>
              <a:rPr lang="pt-BR" sz="2400" dirty="0">
                <a:latin typeface="Times New Roman" charset="0"/>
                <a:ea typeface="Times New Roman" charset="0"/>
                <a:cs typeface="Times New Roman" charset="0"/>
              </a:rPr>
              <a:t> área basal </a:t>
            </a:r>
            <a:r>
              <a:rPr lang="pt-BR" sz="2400" dirty="0" smtClean="0">
                <a:latin typeface="Times New Roman" charset="0"/>
                <a:ea typeface="Times New Roman" charset="0"/>
                <a:cs typeface="Times New Roman" charset="0"/>
              </a:rPr>
              <a:t>total.</a:t>
            </a:r>
            <a:endParaRPr lang="es-ES_tradnl"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34265011"/>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2597</TotalTime>
  <Words>1705</Words>
  <Application>Microsoft Macintosh PowerPoint</Application>
  <PresentationFormat>Panorámica</PresentationFormat>
  <Paragraphs>275</Paragraphs>
  <Slides>28</Slides>
  <Notes>28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28</vt:i4>
      </vt:variant>
    </vt:vector>
  </HeadingPairs>
  <TitlesOfParts>
    <vt:vector size="35" baseType="lpstr">
      <vt:lpstr>Calibri</vt:lpstr>
      <vt:lpstr>Calibri Light</vt:lpstr>
      <vt:lpstr>Cronos Pro</vt:lpstr>
      <vt:lpstr>Times New Roman</vt:lpstr>
      <vt:lpstr>Wingdings</vt:lpstr>
      <vt:lpstr>Arial</vt:lpstr>
      <vt:lpstr>Tema de Office</vt:lpstr>
      <vt:lpstr>Estadística y modelación de sistemas socioecológicos en R</vt:lpstr>
      <vt:lpstr>Plan del día</vt:lpstr>
      <vt:lpstr>Generación de datos</vt:lpstr>
      <vt:lpstr>Generación de datos</vt:lpstr>
      <vt:lpstr>Generación de datos</vt:lpstr>
      <vt:lpstr>Generación de datos</vt:lpstr>
      <vt:lpstr>Generación de datos</vt:lpstr>
      <vt:lpstr>Bucles</vt:lpstr>
      <vt:lpstr>Bucles</vt:lpstr>
      <vt:lpstr>Bucles</vt:lpstr>
      <vt:lpstr>Bucles</vt:lpstr>
      <vt:lpstr>Bucles</vt:lpstr>
      <vt:lpstr>Bucles</vt:lpstr>
      <vt:lpstr>Bucles</vt:lpstr>
      <vt:lpstr>Bucles</vt:lpstr>
      <vt:lpstr>Bucles</vt:lpstr>
      <vt:lpstr>Bucles</vt:lpstr>
      <vt:lpstr>Bucles</vt:lpstr>
      <vt:lpstr>Funciones</vt:lpstr>
      <vt:lpstr>Funciones</vt:lpstr>
      <vt:lpstr>Funciones</vt:lpstr>
      <vt:lpstr>Funciones</vt:lpstr>
      <vt:lpstr>Funciones</vt:lpstr>
      <vt:lpstr>Funciones</vt:lpstr>
      <vt:lpstr>Funciones</vt:lpstr>
      <vt:lpstr>Ejercicio 3</vt:lpstr>
      <vt:lpstr>Ejercicio 3</vt:lpstr>
      <vt:lpstr>Ejercicio 4</vt:lpstr>
    </vt:vector>
  </TitlesOfParts>
  <Company/>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Estadística y modelación de sistemas socioecológicos en R</dc:title>
  <dc:creator>Usuario de Microsoft Office</dc:creator>
  <cp:lastModifiedBy>Usuario de Microsoft Office</cp:lastModifiedBy>
  <cp:revision>66</cp:revision>
  <dcterms:created xsi:type="dcterms:W3CDTF">2017-12-11T21:43:58Z</dcterms:created>
  <dcterms:modified xsi:type="dcterms:W3CDTF">2020-01-07T18:40:36Z</dcterms:modified>
</cp:coreProperties>
</file>