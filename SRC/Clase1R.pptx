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7" r:id="rId2"/>
    <p:sldId id="259" r:id="rId3"/>
    <p:sldId id="261" r:id="rId4"/>
    <p:sldId id="260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6" r:id="rId15"/>
    <p:sldId id="270" r:id="rId16"/>
    <p:sldId id="271" r:id="rId17"/>
    <p:sldId id="272" r:id="rId18"/>
    <p:sldId id="273" r:id="rId19"/>
    <p:sldId id="277" r:id="rId20"/>
    <p:sldId id="278" r:id="rId21"/>
    <p:sldId id="280" r:id="rId22"/>
    <p:sldId id="281" r:id="rId23"/>
    <p:sldId id="282" r:id="rId24"/>
    <p:sldId id="285" r:id="rId25"/>
    <p:sldId id="286" r:id="rId26"/>
    <p:sldId id="284" r:id="rId27"/>
    <p:sldId id="287" r:id="rId28"/>
    <p:sldId id="288" r:id="rId29"/>
    <p:sldId id="290" r:id="rId30"/>
    <p:sldId id="291" r:id="rId31"/>
    <p:sldId id="292" r:id="rId32"/>
    <p:sldId id="294" r:id="rId33"/>
    <p:sldId id="295" r:id="rId34"/>
    <p:sldId id="297" r:id="rId35"/>
    <p:sldId id="298" r:id="rId36"/>
    <p:sldId id="299" r:id="rId37"/>
    <p:sldId id="300" r:id="rId38"/>
    <p:sldId id="301" r:id="rId39"/>
    <p:sldId id="304" r:id="rId40"/>
    <p:sldId id="305" r:id="rId41"/>
    <p:sldId id="306" r:id="rId42"/>
    <p:sldId id="307" r:id="rId43"/>
    <p:sldId id="302" r:id="rId44"/>
    <p:sldId id="275" r:id="rId45"/>
    <p:sldId id="308" r:id="rId46"/>
    <p:sldId id="309" r:id="rId47"/>
    <p:sldId id="310" r:id="rId48"/>
    <p:sldId id="296" r:id="rId49"/>
    <p:sldId id="303" r:id="rId5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microsoft.com/office/2015/10/relationships/revisionInfo" Target="revisionInfo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81D3E-D5FD-4590-9064-EEB5B238302D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D5AB9-16FB-4E01-8DFA-8062FBCE7D60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319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918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7868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7574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7467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592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7115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1815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4565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0272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9485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5845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029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3858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779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204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3921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6582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5550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28608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9574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26759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1627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873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33472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99762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1047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68647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61781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9029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41178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59895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78174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9021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32394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11241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53630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5461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36266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22305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7114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8036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73687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88441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08554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4552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24020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7448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22654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820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DB66049-554A-4C15-B071-BD6E1730D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4BFE51A2-6E30-41CC-91E9-EB682C84E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5F01B465-1B57-4353-956F-F33127D6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4CADB0F6-826E-42D5-8EF9-BACAC6A0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469CEB11-1966-4DF0-9037-CDA0500B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2012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E4A5F28-066A-46BC-AF53-8E52009C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08200A95-3963-434D-83A4-F2217F2B2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837AA96-4624-452E-91C8-538F4676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8C36E8F0-74F0-4CE4-8007-39CFD907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3269D78-174B-474A-A7A8-6D651E22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723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71E602E-7241-4EA3-8A96-F7679289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25AFF691-C265-43A8-909A-4A35B08DB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3683F644-7109-46F7-8EE7-3C93171D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BE60F96E-AE34-4C80-8FA2-219ED067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315157C-D0FE-4BD0-9BCC-DC98D703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77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FCFF7BD-10AD-4341-8029-876E3A3E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39FEC9BC-258B-4891-B32A-CFDAEF483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4A66B526-E373-4C28-9F56-C557FB314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8D2B3EFB-6227-4EBF-86FF-A15F188A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A482870A-52F8-49BC-9998-5C808B36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BDEA5C91-6B7C-40A2-B215-E8685DF5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590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3349F49-C9F3-45F2-B456-E879EB59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885E73B9-3D83-4739-BA4A-EF82F0ECF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A5F995F1-008C-4ADA-9250-3CF71160C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62D78550-B369-49DF-9D48-3AE655276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72005826-D8A5-48F1-B524-B9D7C09D4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21E9C7D7-6E43-4F8C-91C4-BD7F8B0F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FF4B5C66-73F6-49C9-BF13-EED84F36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50952266-3C0C-47A7-8800-EEBF28F2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1159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541B55C-D158-4986-8C8F-322813C4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D439124E-D323-4227-AD4A-0DD1D6C1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096F756D-2072-4477-AA2C-F4E6E449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721D60B9-7483-4DA0-A14C-90D239A4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689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9B50E5C5-1BBE-425A-A00F-5E98BFA7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E999162F-8CB5-4627-A038-CF41F335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8CD52110-2A36-413B-AE33-2B40614D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166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F387D3-0BE5-4DAC-B3F8-51227623C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5A0506EF-C110-48F8-8549-CBB8A97B4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E9AD7DBB-B117-4CC0-A9BB-E94E4CED5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5845884-FB20-4586-AE01-670EDE35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0445EF61-3CF4-44BB-AA45-BAD96577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F9C5D9A0-4F0A-4715-9D18-D1EBAC20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009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008DF62-D856-4688-92CD-B1B5E3D87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BC3AC078-51A8-4C68-9B66-09085980F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F186CF51-713D-4AA4-9369-7E679C4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5D62C20-5760-426B-9E49-E2DAC1C9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7EEE473B-B646-44F7-8D26-0B131081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1F11CCE4-3F3F-4A07-A8A0-AA36A8F9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900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D7758E0-7200-4EB9-81AD-F73489C4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E6B02939-64B5-4E73-8F96-3E2E7562C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F454DEFB-210F-45F7-8B7F-75ECAFE1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65335F0-18C3-4E42-A51F-74BEE8D8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19804578-6F8B-4E60-8F09-40C04644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443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54354BD9-97F7-42EF-98AB-71C4314AD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9282A5F4-3DDA-43FA-A57F-384BD7DD3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AE193210-4239-4C07-9269-03169D46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902CA37-0C31-4A9A-8618-7777ED82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F9F0263F-2470-44ED-A113-3D5A021E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818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+texto+ple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 Grupo"/>
          <p:cNvGrpSpPr/>
          <p:nvPr userDrawn="1"/>
        </p:nvGrpSpPr>
        <p:grpSpPr>
          <a:xfrm>
            <a:off x="0" y="6478594"/>
            <a:ext cx="12192000" cy="434975"/>
            <a:chOff x="0" y="6313488"/>
            <a:chExt cx="9144000" cy="600075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0" y="6313488"/>
              <a:ext cx="9144000" cy="342900"/>
            </a:xfrm>
            <a:custGeom>
              <a:avLst/>
              <a:gdLst>
                <a:gd name="T0" fmla="*/ 0 w 3169"/>
                <a:gd name="T1" fmla="*/ 25 h 116"/>
                <a:gd name="T2" fmla="*/ 1024 w 3169"/>
                <a:gd name="T3" fmla="*/ 38 h 116"/>
                <a:gd name="T4" fmla="*/ 1766 w 3169"/>
                <a:gd name="T5" fmla="*/ 43 h 116"/>
                <a:gd name="T6" fmla="*/ 2560 w 3169"/>
                <a:gd name="T7" fmla="*/ 58 h 116"/>
                <a:gd name="T8" fmla="*/ 3169 w 3169"/>
                <a:gd name="T9" fmla="*/ 15 h 116"/>
                <a:gd name="T10" fmla="*/ 3169 w 3169"/>
                <a:gd name="T11" fmla="*/ 94 h 116"/>
                <a:gd name="T12" fmla="*/ 2260 w 3169"/>
                <a:gd name="T13" fmla="*/ 115 h 116"/>
                <a:gd name="T14" fmla="*/ 775 w 3169"/>
                <a:gd name="T15" fmla="*/ 57 h 116"/>
                <a:gd name="T16" fmla="*/ 0 w 3169"/>
                <a:gd name="T17" fmla="*/ 76 h 116"/>
                <a:gd name="T18" fmla="*/ 0 w 3169"/>
                <a:gd name="T19" fmla="*/ 2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69" h="116">
                  <a:moveTo>
                    <a:pt x="0" y="25"/>
                  </a:moveTo>
                  <a:cubicBezTo>
                    <a:pt x="0" y="25"/>
                    <a:pt x="691" y="0"/>
                    <a:pt x="1024" y="38"/>
                  </a:cubicBezTo>
                  <a:cubicBezTo>
                    <a:pt x="1303" y="70"/>
                    <a:pt x="1628" y="39"/>
                    <a:pt x="1766" y="43"/>
                  </a:cubicBezTo>
                  <a:cubicBezTo>
                    <a:pt x="1934" y="48"/>
                    <a:pt x="2270" y="76"/>
                    <a:pt x="2560" y="58"/>
                  </a:cubicBezTo>
                  <a:cubicBezTo>
                    <a:pt x="2850" y="40"/>
                    <a:pt x="3169" y="15"/>
                    <a:pt x="3169" y="15"/>
                  </a:cubicBezTo>
                  <a:cubicBezTo>
                    <a:pt x="3169" y="94"/>
                    <a:pt x="3169" y="94"/>
                    <a:pt x="3169" y="94"/>
                  </a:cubicBezTo>
                  <a:cubicBezTo>
                    <a:pt x="3169" y="94"/>
                    <a:pt x="2627" y="116"/>
                    <a:pt x="2260" y="115"/>
                  </a:cubicBezTo>
                  <a:cubicBezTo>
                    <a:pt x="1263" y="112"/>
                    <a:pt x="1069" y="59"/>
                    <a:pt x="775" y="57"/>
                  </a:cubicBezTo>
                  <a:cubicBezTo>
                    <a:pt x="557" y="55"/>
                    <a:pt x="413" y="94"/>
                    <a:pt x="0" y="76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ACC3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MX" sz="2400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0" y="6478588"/>
              <a:ext cx="9144000" cy="434975"/>
            </a:xfrm>
            <a:custGeom>
              <a:avLst/>
              <a:gdLst>
                <a:gd name="T0" fmla="*/ 0 w 3169"/>
                <a:gd name="T1" fmla="*/ 0 h 147"/>
                <a:gd name="T2" fmla="*/ 495 w 3169"/>
                <a:gd name="T3" fmla="*/ 14 h 147"/>
                <a:gd name="T4" fmla="*/ 1553 w 3169"/>
                <a:gd name="T5" fmla="*/ 35 h 147"/>
                <a:gd name="T6" fmla="*/ 2610 w 3169"/>
                <a:gd name="T7" fmla="*/ 39 h 147"/>
                <a:gd name="T8" fmla="*/ 3169 w 3169"/>
                <a:gd name="T9" fmla="*/ 17 h 147"/>
                <a:gd name="T10" fmla="*/ 3169 w 3169"/>
                <a:gd name="T11" fmla="*/ 86 h 147"/>
                <a:gd name="T12" fmla="*/ 1880 w 3169"/>
                <a:gd name="T13" fmla="*/ 101 h 147"/>
                <a:gd name="T14" fmla="*/ 821 w 3169"/>
                <a:gd name="T15" fmla="*/ 101 h 147"/>
                <a:gd name="T16" fmla="*/ 0 w 3169"/>
                <a:gd name="T17" fmla="*/ 81 h 147"/>
                <a:gd name="T18" fmla="*/ 0 w 3169"/>
                <a:gd name="T19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69" h="147">
                  <a:moveTo>
                    <a:pt x="0" y="0"/>
                  </a:moveTo>
                  <a:cubicBezTo>
                    <a:pt x="0" y="0"/>
                    <a:pt x="202" y="15"/>
                    <a:pt x="495" y="14"/>
                  </a:cubicBezTo>
                  <a:cubicBezTo>
                    <a:pt x="778" y="12"/>
                    <a:pt x="1415" y="33"/>
                    <a:pt x="1553" y="35"/>
                  </a:cubicBezTo>
                  <a:cubicBezTo>
                    <a:pt x="1947" y="42"/>
                    <a:pt x="2320" y="57"/>
                    <a:pt x="2610" y="39"/>
                  </a:cubicBezTo>
                  <a:cubicBezTo>
                    <a:pt x="2900" y="21"/>
                    <a:pt x="3169" y="17"/>
                    <a:pt x="3169" y="17"/>
                  </a:cubicBezTo>
                  <a:cubicBezTo>
                    <a:pt x="3169" y="86"/>
                    <a:pt x="3169" y="86"/>
                    <a:pt x="3169" y="86"/>
                  </a:cubicBezTo>
                  <a:cubicBezTo>
                    <a:pt x="3169" y="86"/>
                    <a:pt x="2309" y="147"/>
                    <a:pt x="1880" y="101"/>
                  </a:cubicBezTo>
                  <a:cubicBezTo>
                    <a:pt x="1520" y="62"/>
                    <a:pt x="1100" y="71"/>
                    <a:pt x="821" y="101"/>
                  </a:cubicBezTo>
                  <a:cubicBezTo>
                    <a:pt x="606" y="124"/>
                    <a:pt x="419" y="62"/>
                    <a:pt x="0" y="8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6C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MX" sz="240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0" y="6605588"/>
              <a:ext cx="9144000" cy="280987"/>
            </a:xfrm>
            <a:custGeom>
              <a:avLst/>
              <a:gdLst>
                <a:gd name="T0" fmla="*/ 0 w 3169"/>
                <a:gd name="T1" fmla="*/ 13 h 95"/>
                <a:gd name="T2" fmla="*/ 0 w 3169"/>
                <a:gd name="T3" fmla="*/ 95 h 95"/>
                <a:gd name="T4" fmla="*/ 3169 w 3169"/>
                <a:gd name="T5" fmla="*/ 95 h 95"/>
                <a:gd name="T6" fmla="*/ 3169 w 3169"/>
                <a:gd name="T7" fmla="*/ 19 h 95"/>
                <a:gd name="T8" fmla="*/ 2511 w 3169"/>
                <a:gd name="T9" fmla="*/ 38 h 95"/>
                <a:gd name="T10" fmla="*/ 1150 w 3169"/>
                <a:gd name="T11" fmla="*/ 43 h 95"/>
                <a:gd name="T12" fmla="*/ 567 w 3169"/>
                <a:gd name="T13" fmla="*/ 14 h 95"/>
                <a:gd name="T14" fmla="*/ 0 w 3169"/>
                <a:gd name="T15" fmla="*/ 1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69" h="95">
                  <a:moveTo>
                    <a:pt x="0" y="13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3169" y="95"/>
                    <a:pt x="3169" y="95"/>
                    <a:pt x="3169" y="95"/>
                  </a:cubicBezTo>
                  <a:cubicBezTo>
                    <a:pt x="3169" y="19"/>
                    <a:pt x="3169" y="19"/>
                    <a:pt x="3169" y="19"/>
                  </a:cubicBezTo>
                  <a:cubicBezTo>
                    <a:pt x="3169" y="19"/>
                    <a:pt x="3078" y="6"/>
                    <a:pt x="2511" y="38"/>
                  </a:cubicBezTo>
                  <a:cubicBezTo>
                    <a:pt x="1830" y="76"/>
                    <a:pt x="1434" y="49"/>
                    <a:pt x="1150" y="43"/>
                  </a:cubicBezTo>
                  <a:cubicBezTo>
                    <a:pt x="821" y="36"/>
                    <a:pt x="694" y="21"/>
                    <a:pt x="567" y="14"/>
                  </a:cubicBezTo>
                  <a:cubicBezTo>
                    <a:pt x="443" y="8"/>
                    <a:pt x="246" y="0"/>
                    <a:pt x="0" y="13"/>
                  </a:cubicBezTo>
                  <a:close/>
                </a:path>
              </a:pathLst>
            </a:custGeom>
            <a:solidFill>
              <a:srgbClr val="034E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MX" sz="2400"/>
            </a:p>
          </p:txBody>
        </p:sp>
      </p:grpSp>
      <p:sp>
        <p:nvSpPr>
          <p:cNvPr id="15" name="14 Título"/>
          <p:cNvSpPr>
            <a:spLocks noGrp="1"/>
          </p:cNvSpPr>
          <p:nvPr>
            <p:ph type="title" hasCustomPrompt="1"/>
          </p:nvPr>
        </p:nvSpPr>
        <p:spPr>
          <a:xfrm>
            <a:off x="335360" y="216000"/>
            <a:ext cx="11521280" cy="336000"/>
          </a:xfrm>
        </p:spPr>
        <p:txBody>
          <a:bodyPr lIns="0" tIns="0" rIns="0" bIns="0">
            <a:noAutofit/>
          </a:bodyPr>
          <a:lstStyle>
            <a:lvl1pPr marL="0" algn="l" defTabSz="1219170" rtl="0" eaLnBrk="1" latinLnBrk="0" hangingPunct="1">
              <a:defRPr lang="es-MX" sz="2667" b="1" kern="1200" dirty="0">
                <a:solidFill>
                  <a:srgbClr val="034EA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13" name="4 Marcador de texto"/>
          <p:cNvSpPr>
            <a:spLocks noGrp="1"/>
          </p:cNvSpPr>
          <p:nvPr>
            <p:ph type="body" sz="quarter" idx="10"/>
          </p:nvPr>
        </p:nvSpPr>
        <p:spPr>
          <a:xfrm>
            <a:off x="335360" y="756000"/>
            <a:ext cx="11521280" cy="5400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aseline="0"/>
            </a:lvl1pPr>
            <a:lvl2pPr marL="239994" indent="-239994">
              <a:buFont typeface="Wingdings" pitchFamily="2" charset="2"/>
              <a:buChar char="§"/>
              <a:defRPr sz="2400" baseline="0"/>
            </a:lvl2pPr>
            <a:lvl3pPr marL="479988" indent="-239994">
              <a:defRPr sz="2400" baseline="0"/>
            </a:lvl3pPr>
            <a:lvl4pPr marL="719982" indent="-239994">
              <a:buFont typeface="Cronos Pro" pitchFamily="34" charset="0"/>
              <a:buChar char="&gt;"/>
              <a:defRPr sz="2400" baseline="0"/>
            </a:lvl4pPr>
            <a:lvl5pPr marL="959976" indent="-239994">
              <a:defRPr sz="2400" baseline="0"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654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278C6223-D3F2-4A61-B93E-D573D1D7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CFED70E6-1EEA-4E35-BE94-681381581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07D85D48-544A-4AB2-93A0-3CC86E185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F71B7-5793-4788-B809-98BB7A18180A}" type="datetimeFigureOut">
              <a:rPr lang="es-MX" smtClean="0"/>
              <a:t>06/01/20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A56F2C5D-083A-45C6-B5D9-B5AC3604D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982ED75-017A-4AE7-9B52-67A277807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9722-0E92-45A4-B977-FF20D47C8A84}" type="slidenum">
              <a:rPr lang="es-MX" smtClean="0"/>
              <a:t>‹Nr.›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11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tudio.com/" TargetMode="External"/><Relationship Id="rId4" Type="http://schemas.openxmlformats.org/officeDocument/2006/relationships/hyperlink" Target="https://sourceforge.net/projects/tinn-r/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371601" y="773301"/>
            <a:ext cx="8921578" cy="576064"/>
          </a:xfrm>
        </p:spPr>
        <p:txBody>
          <a:bodyPr/>
          <a:lstStyle/>
          <a:p>
            <a:pPr algn="ctr"/>
            <a:r>
              <a:rPr lang="es-MX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Estadística y modelación de sistemas </a:t>
            </a:r>
            <a:r>
              <a:rPr lang="es-MX" sz="4267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socio-ecológicos </a:t>
            </a:r>
            <a:r>
              <a:rPr lang="es-MX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R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824" y="2537056"/>
            <a:ext cx="2267908" cy="228416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390" y="2459832"/>
            <a:ext cx="5942083" cy="2438612"/>
          </a:xfrm>
          <a:prstGeom prst="rect">
            <a:avLst/>
          </a:prstGeom>
        </p:spPr>
      </p:pic>
      <p:sp>
        <p:nvSpPr>
          <p:cNvPr id="6" name="2 Título">
            <a:extLst>
              <a:ext uri="{FF2B5EF4-FFF2-40B4-BE49-F238E27FC236}">
                <a16:creationId xmlns="" xmlns:a16="http://schemas.microsoft.com/office/drawing/2014/main" id="{ADD6E415-76ED-4E07-8D3C-7541B4E0CEA2}"/>
              </a:ext>
            </a:extLst>
          </p:cNvPr>
          <p:cNvSpPr txBox="1">
            <a:spLocks/>
          </p:cNvSpPr>
          <p:nvPr/>
        </p:nvSpPr>
        <p:spPr>
          <a:xfrm>
            <a:off x="1536358" y="5720879"/>
            <a:ext cx="8921578" cy="5760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MX" sz="2667" b="1" kern="1200" dirty="0">
                <a:solidFill>
                  <a:srgbClr val="034EA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Dra. Yosune Miquelajauregui </a:t>
            </a: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</a:t>
            </a:r>
          </a:p>
          <a:p>
            <a:pPr algn="ctr"/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yosune@iecologia.unam.mx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57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="" xmlns:a16="http://schemas.microsoft.com/office/drawing/2014/main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AC700598-E71B-4835-BA48-7F015C6674A0}"/>
              </a:ext>
            </a:extLst>
          </p:cNvPr>
          <p:cNvSpPr txBox="1"/>
          <p:nvPr/>
        </p:nvSpPr>
        <p:spPr>
          <a:xfrm>
            <a:off x="335360" y="660999"/>
            <a:ext cx="1134177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Conocer los principios básicos de la estadística descriptiva e inferencial para su correcta aplicación</a:t>
            </a:r>
          </a:p>
          <a:p>
            <a:pPr marL="342900" indent="-3429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Implementar algoritmos matemáticos para la modelación de sistemas </a:t>
            </a: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socio-ecológicos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Incorporar los conocimientos adquiridos al lenguaje de programación R </a:t>
            </a:r>
          </a:p>
          <a:p>
            <a:pPr marL="342900" indent="-3429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finalizar el curso, los alumnos aplicarán los conocimientos adquiridos en el análisis de datos de tesis</a:t>
            </a:r>
          </a:p>
          <a:p>
            <a:pPr marL="342900" indent="-3429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 la teoría en ejercicios prácticos</a:t>
            </a:r>
          </a:p>
        </p:txBody>
      </p:sp>
    </p:spTree>
    <p:extLst>
      <p:ext uri="{BB962C8B-B14F-4D97-AF65-F5344CB8AC3E}">
        <p14:creationId xmlns:p14="http://schemas.microsoft.com/office/powerpoint/2010/main" val="134663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="" xmlns:a16="http://schemas.microsoft.com/office/drawing/2014/main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819E08A5-B2D7-4003-B92B-879EE269E946}"/>
              </a:ext>
            </a:extLst>
          </p:cNvPr>
          <p:cNvSpPr txBox="1"/>
          <p:nvPr/>
        </p:nvSpPr>
        <p:spPr>
          <a:xfrm>
            <a:off x="518985" y="1251545"/>
            <a:ext cx="1062681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Tareas y ejercicios en clase (20%)</a:t>
            </a:r>
          </a:p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Asistencia y participación en clase (10%)</a:t>
            </a:r>
          </a:p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Exposición de seminario (40%)</a:t>
            </a: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Scripts (R </a:t>
            </a:r>
            <a:r>
              <a:rPr lang="es-MX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markdowns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(30%)</a:t>
            </a:r>
          </a:p>
          <a:p>
            <a:pPr algn="just"/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05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="" xmlns:a16="http://schemas.microsoft.com/office/drawing/2014/main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del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día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B2FA6370-56A1-462C-BFF6-4889C03959B8}"/>
              </a:ext>
            </a:extLst>
          </p:cNvPr>
          <p:cNvSpPr txBox="1"/>
          <p:nvPr/>
        </p:nvSpPr>
        <p:spPr>
          <a:xfrm>
            <a:off x="457200" y="917912"/>
            <a:ext cx="1062681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a R: tipo de objetos y manipulación de datos</a:t>
            </a:r>
          </a:p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Instalación de R en los dispositivos de cómputo</a:t>
            </a: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Instalación de editores : </a:t>
            </a:r>
            <a:r>
              <a:rPr lang="es-MX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RStudio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s-MX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Tinn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</a:t>
            </a: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Ejercicios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31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FF2B5EF4-FFF2-40B4-BE49-F238E27FC236}">
                <a16:creationId xmlns="" xmlns:a16="http://schemas.microsoft.com/office/drawing/2014/main" id="{58B9608C-11C9-4E48-8E3E-3611F0798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987" y="384000"/>
            <a:ext cx="1940653" cy="1504006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="" xmlns:a16="http://schemas.microsoft.com/office/drawing/2014/main" id="{62266846-9D97-4237-B79F-29158CB526BA}"/>
              </a:ext>
            </a:extLst>
          </p:cNvPr>
          <p:cNvSpPr txBox="1"/>
          <p:nvPr/>
        </p:nvSpPr>
        <p:spPr>
          <a:xfrm>
            <a:off x="475462" y="1209498"/>
            <a:ext cx="987809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es un lenguaje de programación orientada a objetos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Cualquier operación puede ser asignada a un objeto que queda guardado en la memoria de la sesión de R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utilizado para realizar desde operaciones matemáticas simples hasta computaciones estadísticas complejas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también se utiliza para manipular base de datos, graficar e implementar modelos matemáticos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3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25FD99CD-EFE0-4F99-906E-82383153C31A}"/>
              </a:ext>
            </a:extLst>
          </p:cNvPr>
          <p:cNvSpPr/>
          <p:nvPr/>
        </p:nvSpPr>
        <p:spPr>
          <a:xfrm>
            <a:off x="1039707" y="2886492"/>
            <a:ext cx="13822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3+2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5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75B134C-8D71-40DB-97BE-081094330985}"/>
              </a:ext>
            </a:extLst>
          </p:cNvPr>
          <p:cNvSpPr/>
          <p:nvPr/>
        </p:nvSpPr>
        <p:spPr>
          <a:xfrm>
            <a:off x="432642" y="1426341"/>
            <a:ext cx="4610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matemáticas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07D00AE4-803A-41BC-88D8-2BF3126F9BC4}"/>
              </a:ext>
            </a:extLst>
          </p:cNvPr>
          <p:cNvSpPr/>
          <p:nvPr/>
        </p:nvSpPr>
        <p:spPr>
          <a:xfrm>
            <a:off x="3682625" y="2886492"/>
            <a:ext cx="12397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5-2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DE5AE856-E900-4CD0-8276-8DBD28EF4ABA}"/>
              </a:ext>
            </a:extLst>
          </p:cNvPr>
          <p:cNvSpPr/>
          <p:nvPr/>
        </p:nvSpPr>
        <p:spPr>
          <a:xfrm>
            <a:off x="9057501" y="2886492"/>
            <a:ext cx="2765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Multiplicaciones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6*3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18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="" xmlns:a16="http://schemas.microsoft.com/office/drawing/2014/main" id="{E2E5B7F7-D220-4D3C-91CA-7DC466F4B55E}"/>
              </a:ext>
            </a:extLst>
          </p:cNvPr>
          <p:cNvSpPr/>
          <p:nvPr/>
        </p:nvSpPr>
        <p:spPr>
          <a:xfrm>
            <a:off x="6096000" y="2886492"/>
            <a:ext cx="19547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6/3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2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05687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="" xmlns:a16="http://schemas.microsoft.com/office/drawing/2014/main" id="{7BC545B9-1C6D-4281-96E2-2156B8034A0D}"/>
              </a:ext>
            </a:extLst>
          </p:cNvPr>
          <p:cNvSpPr/>
          <p:nvPr/>
        </p:nvSpPr>
        <p:spPr>
          <a:xfrm>
            <a:off x="432642" y="1426341"/>
            <a:ext cx="23174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6">
            <a:extLst>
              <a:ext uri="{FF2B5EF4-FFF2-40B4-BE49-F238E27FC236}">
                <a16:creationId xmlns="" xmlns:a16="http://schemas.microsoft.com/office/drawing/2014/main" id="{F373444D-287D-4F2E-BB25-8F8301EF411D}"/>
              </a:ext>
            </a:extLst>
          </p:cNvPr>
          <p:cNvGrpSpPr/>
          <p:nvPr/>
        </p:nvGrpSpPr>
        <p:grpSpPr>
          <a:xfrm>
            <a:off x="844556" y="2182676"/>
            <a:ext cx="2467054" cy="1660423"/>
            <a:chOff x="634493" y="1553982"/>
            <a:chExt cx="6096000" cy="1802313"/>
          </a:xfrm>
        </p:grpSpPr>
        <p:sp>
          <p:nvSpPr>
            <p:cNvPr id="14" name="Rectangle 6">
              <a:extLst>
                <a:ext uri="{FF2B5EF4-FFF2-40B4-BE49-F238E27FC236}">
                  <a16:creationId xmlns="" xmlns:a16="http://schemas.microsoft.com/office/drawing/2014/main" id="{A4441147-60E0-4613-A1A7-E9F8ABB685E8}"/>
                </a:ext>
              </a:extLst>
            </p:cNvPr>
            <p:cNvSpPr/>
            <p:nvPr/>
          </p:nvSpPr>
          <p:spPr>
            <a:xfrm>
              <a:off x="634493" y="1553982"/>
              <a:ext cx="1947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Constantes</a:t>
              </a:r>
              <a:endPara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="" xmlns:a16="http://schemas.microsoft.com/office/drawing/2014/main" id="{D4B17EA4-C1B8-4497-8055-32BEDAFFA704}"/>
                </a:ext>
              </a:extLst>
            </p:cNvPr>
            <p:cNvSpPr/>
            <p:nvPr/>
          </p:nvSpPr>
          <p:spPr>
            <a:xfrm>
              <a:off x="634493" y="2155966"/>
              <a:ext cx="6096000" cy="12003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&lt;- 6*3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18</a:t>
              </a:r>
            </a:p>
          </p:txBody>
        </p:sp>
      </p:grpSp>
      <p:grpSp>
        <p:nvGrpSpPr>
          <p:cNvPr id="16" name="Group 14">
            <a:extLst>
              <a:ext uri="{FF2B5EF4-FFF2-40B4-BE49-F238E27FC236}">
                <a16:creationId xmlns="" xmlns:a16="http://schemas.microsoft.com/office/drawing/2014/main" id="{259EBCD2-684E-49BC-92DB-BD72F0C7F3D3}"/>
              </a:ext>
            </a:extLst>
          </p:cNvPr>
          <p:cNvGrpSpPr/>
          <p:nvPr/>
        </p:nvGrpSpPr>
        <p:grpSpPr>
          <a:xfrm>
            <a:off x="4311959" y="2186616"/>
            <a:ext cx="2791289" cy="1891444"/>
            <a:chOff x="634493" y="4092872"/>
            <a:chExt cx="2791289" cy="1891444"/>
          </a:xfrm>
        </p:grpSpPr>
        <p:sp>
          <p:nvSpPr>
            <p:cNvPr id="17" name="Rectangle 8">
              <a:extLst>
                <a:ext uri="{FF2B5EF4-FFF2-40B4-BE49-F238E27FC236}">
                  <a16:creationId xmlns="" xmlns:a16="http://schemas.microsoft.com/office/drawing/2014/main" id="{2CEBF355-DFBD-4F5E-8437-18EBAA4ABA09}"/>
                </a:ext>
              </a:extLst>
            </p:cNvPr>
            <p:cNvSpPr/>
            <p:nvPr/>
          </p:nvSpPr>
          <p:spPr>
            <a:xfrm>
              <a:off x="634493" y="4092872"/>
              <a:ext cx="159755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Vectores</a:t>
              </a:r>
              <a:endPara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="" xmlns:a16="http://schemas.microsoft.com/office/drawing/2014/main" id="{C1BBFE3E-4E5B-4E07-9023-7E196D24A078}"/>
                </a:ext>
              </a:extLst>
            </p:cNvPr>
            <p:cNvSpPr/>
            <p:nvPr/>
          </p:nvSpPr>
          <p:spPr>
            <a:xfrm>
              <a:off x="634493" y="4783987"/>
              <a:ext cx="279128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 &lt;- c(1,4,8,16)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 1  4  8 16</a:t>
              </a:r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="" xmlns:a16="http://schemas.microsoft.com/office/drawing/2014/main" id="{871B0C0C-5F4B-4BE9-8415-5876BFF2C59B}"/>
              </a:ext>
            </a:extLst>
          </p:cNvPr>
          <p:cNvGrpSpPr/>
          <p:nvPr/>
        </p:nvGrpSpPr>
        <p:grpSpPr>
          <a:xfrm>
            <a:off x="7593752" y="2182676"/>
            <a:ext cx="4099775" cy="3694096"/>
            <a:chOff x="6560712" y="1553982"/>
            <a:chExt cx="4099775" cy="3694096"/>
          </a:xfrm>
        </p:grpSpPr>
        <p:sp>
          <p:nvSpPr>
            <p:cNvPr id="20" name="Rectangle 10">
              <a:extLst>
                <a:ext uri="{FF2B5EF4-FFF2-40B4-BE49-F238E27FC236}">
                  <a16:creationId xmlns="" xmlns:a16="http://schemas.microsoft.com/office/drawing/2014/main" id="{A35E8176-8AE8-4DDF-83C3-BE448E4142A1}"/>
                </a:ext>
              </a:extLst>
            </p:cNvPr>
            <p:cNvSpPr/>
            <p:nvPr/>
          </p:nvSpPr>
          <p:spPr>
            <a:xfrm>
              <a:off x="6599253" y="1553982"/>
              <a:ext cx="23054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Hoja de datos</a:t>
              </a:r>
              <a:endPara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13">
              <a:extLst>
                <a:ext uri="{FF2B5EF4-FFF2-40B4-BE49-F238E27FC236}">
                  <a16:creationId xmlns="" xmlns:a16="http://schemas.microsoft.com/office/drawing/2014/main" id="{6AFD583B-CFE1-4C71-ACE6-A44E6969BF89}"/>
                </a:ext>
              </a:extLst>
            </p:cNvPr>
            <p:cNvSpPr/>
            <p:nvPr/>
          </p:nvSpPr>
          <p:spPr>
            <a:xfrm>
              <a:off x="6560712" y="2201090"/>
              <a:ext cx="4099775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c1 &lt;-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data.frame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(5:1,1:5)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c1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X5.1 X1.5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1    5    1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2    4    2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3    3    3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4    2    4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5    1    5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6194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="" xmlns:a16="http://schemas.microsoft.com/office/drawing/2014/main" id="{7BC545B9-1C6D-4281-96E2-2156B8034A0D}"/>
              </a:ext>
            </a:extLst>
          </p:cNvPr>
          <p:cNvSpPr/>
          <p:nvPr/>
        </p:nvSpPr>
        <p:spPr>
          <a:xfrm>
            <a:off x="432642" y="1426341"/>
            <a:ext cx="23174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="" xmlns:a16="http://schemas.microsoft.com/office/drawing/2014/main" id="{27EC2AC3-005E-4C24-A3C3-5A2258E8E8F3}"/>
              </a:ext>
            </a:extLst>
          </p:cNvPr>
          <p:cNvSpPr/>
          <p:nvPr/>
        </p:nvSpPr>
        <p:spPr>
          <a:xfrm>
            <a:off x="720990" y="2517809"/>
            <a:ext cx="16530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Matrices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="" xmlns:a16="http://schemas.microsoft.com/office/drawing/2014/main" id="{0E616476-07DC-4621-AC6D-EBD2A58F7953}"/>
              </a:ext>
            </a:extLst>
          </p:cNvPr>
          <p:cNvSpPr/>
          <p:nvPr/>
        </p:nvSpPr>
        <p:spPr>
          <a:xfrm>
            <a:off x="671320" y="3158797"/>
            <a:ext cx="37443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&lt;- matrix (1:4,2,2)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[,1] [,2]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[1,]    1   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[2,]    2    4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="" xmlns:a16="http://schemas.microsoft.com/office/drawing/2014/main" id="{6459A035-0FB3-453A-BE34-C15FC469ADF9}"/>
              </a:ext>
            </a:extLst>
          </p:cNvPr>
          <p:cNvGrpSpPr/>
          <p:nvPr/>
        </p:nvGrpSpPr>
        <p:grpSpPr>
          <a:xfrm>
            <a:off x="4699018" y="2517809"/>
            <a:ext cx="3499676" cy="1730332"/>
            <a:chOff x="4723732" y="2633005"/>
            <a:chExt cx="3499676" cy="1730332"/>
          </a:xfrm>
        </p:grpSpPr>
        <p:sp>
          <p:nvSpPr>
            <p:cNvPr id="24" name="Rectangle 4">
              <a:extLst>
                <a:ext uri="{FF2B5EF4-FFF2-40B4-BE49-F238E27FC236}">
                  <a16:creationId xmlns="" xmlns:a16="http://schemas.microsoft.com/office/drawing/2014/main" id="{29AD4CB7-6293-4F16-9D44-7DB8274C9470}"/>
                </a:ext>
              </a:extLst>
            </p:cNvPr>
            <p:cNvSpPr/>
            <p:nvPr/>
          </p:nvSpPr>
          <p:spPr>
            <a:xfrm>
              <a:off x="4756478" y="3246983"/>
              <a:ext cx="327685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 &lt;-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data.frame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(5:1,1:5)</a:t>
              </a:r>
            </a:p>
          </p:txBody>
        </p:sp>
        <p:sp>
          <p:nvSpPr>
            <p:cNvPr id="25" name="Rectangle 11">
              <a:extLst>
                <a:ext uri="{FF2B5EF4-FFF2-40B4-BE49-F238E27FC236}">
                  <a16:creationId xmlns="" xmlns:a16="http://schemas.microsoft.com/office/drawing/2014/main" id="{92F03FE2-DC9A-4644-A10D-8A700F0CD0C7}"/>
                </a:ext>
              </a:extLst>
            </p:cNvPr>
            <p:cNvSpPr/>
            <p:nvPr/>
          </p:nvSpPr>
          <p:spPr>
            <a:xfrm>
              <a:off x="4723732" y="3901672"/>
              <a:ext cx="349967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c2 &lt;-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data.frame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(1, 20:25)</a:t>
              </a:r>
            </a:p>
          </p:txBody>
        </p:sp>
        <p:sp>
          <p:nvSpPr>
            <p:cNvPr id="26" name="Rectangle 16">
              <a:extLst>
                <a:ext uri="{FF2B5EF4-FFF2-40B4-BE49-F238E27FC236}">
                  <a16:creationId xmlns="" xmlns:a16="http://schemas.microsoft.com/office/drawing/2014/main" id="{5E706551-1EA7-4FD3-9DAE-40B621A57CB6}"/>
                </a:ext>
              </a:extLst>
            </p:cNvPr>
            <p:cNvSpPr/>
            <p:nvPr/>
          </p:nvSpPr>
          <p:spPr>
            <a:xfrm>
              <a:off x="4835790" y="2633005"/>
              <a:ext cx="127951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Listas</a:t>
              </a:r>
              <a:endPara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Rectangle 12">
            <a:extLst>
              <a:ext uri="{FF2B5EF4-FFF2-40B4-BE49-F238E27FC236}">
                <a16:creationId xmlns="" xmlns:a16="http://schemas.microsoft.com/office/drawing/2014/main" id="{57EC5111-3B4A-4E1D-BE05-AF892E9BA3E8}"/>
              </a:ext>
            </a:extLst>
          </p:cNvPr>
          <p:cNvSpPr/>
          <p:nvPr/>
        </p:nvSpPr>
        <p:spPr>
          <a:xfrm>
            <a:off x="8707898" y="0"/>
            <a:ext cx="395458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mi.lista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list(c1, c2)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mi.lista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[[1]]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X5.1 X1.5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2    4    2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3    3    3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4    2    4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5    1    5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[[2]]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X1 X20.25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1  1     20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2  1     21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3  1     22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4  1     23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5  1     24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6  1     25</a:t>
            </a:r>
          </a:p>
        </p:txBody>
      </p:sp>
    </p:spTree>
    <p:extLst>
      <p:ext uri="{BB962C8B-B14F-4D97-AF65-F5344CB8AC3E}">
        <p14:creationId xmlns:p14="http://schemas.microsoft.com/office/powerpoint/2010/main" val="332781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="" xmlns:a16="http://schemas.microsoft.com/office/drawing/2014/main" id="{7BC545B9-1C6D-4281-96E2-2156B8034A0D}"/>
              </a:ext>
            </a:extLst>
          </p:cNvPr>
          <p:cNvSpPr/>
          <p:nvPr/>
        </p:nvSpPr>
        <p:spPr>
          <a:xfrm>
            <a:off x="432642" y="1426341"/>
            <a:ext cx="640194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Obtener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estructura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="" xmlns:a16="http://schemas.microsoft.com/office/drawing/2014/main" id="{E5472A10-70E6-425A-9082-B1B3F7A606CA}"/>
              </a:ext>
            </a:extLst>
          </p:cNvPr>
          <p:cNvGrpSpPr/>
          <p:nvPr/>
        </p:nvGrpSpPr>
        <p:grpSpPr>
          <a:xfrm>
            <a:off x="1222803" y="2773329"/>
            <a:ext cx="1622854" cy="2951217"/>
            <a:chOff x="811427" y="1272746"/>
            <a:chExt cx="1622854" cy="2951217"/>
          </a:xfrm>
        </p:grpSpPr>
        <p:sp>
          <p:nvSpPr>
            <p:cNvPr id="15" name="Rectángulo 14">
              <a:extLst>
                <a:ext uri="{FF2B5EF4-FFF2-40B4-BE49-F238E27FC236}">
                  <a16:creationId xmlns="" xmlns:a16="http://schemas.microsoft.com/office/drawing/2014/main" id="{F13CB4C9-76DE-4FC1-8ACD-ED451FE820E3}"/>
                </a:ext>
              </a:extLst>
            </p:cNvPr>
            <p:cNvSpPr/>
            <p:nvPr/>
          </p:nvSpPr>
          <p:spPr>
            <a:xfrm>
              <a:off x="811427" y="1546307"/>
              <a:ext cx="1622854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&lt;- 6*3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18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str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(a)</a:t>
              </a:r>
            </a:p>
            <a:p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18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="" xmlns:a16="http://schemas.microsoft.com/office/drawing/2014/main" id="{9B42A95E-A433-408D-BDD0-CA5AC4BDC337}"/>
                </a:ext>
              </a:extLst>
            </p:cNvPr>
            <p:cNvSpPr txBox="1"/>
            <p:nvPr/>
          </p:nvSpPr>
          <p:spPr>
            <a:xfrm>
              <a:off x="811427" y="1272746"/>
              <a:ext cx="6343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="" xmlns:a16="http://schemas.microsoft.com/office/drawing/2014/main" id="{A85E235B-C915-420A-AC2A-955186E2B3CC}"/>
              </a:ext>
            </a:extLst>
          </p:cNvPr>
          <p:cNvGrpSpPr/>
          <p:nvPr/>
        </p:nvGrpSpPr>
        <p:grpSpPr>
          <a:xfrm>
            <a:off x="3996380" y="2773329"/>
            <a:ext cx="2625811" cy="2961227"/>
            <a:chOff x="3342503" y="1262736"/>
            <a:chExt cx="2625811" cy="2961227"/>
          </a:xfrm>
        </p:grpSpPr>
        <p:sp>
          <p:nvSpPr>
            <p:cNvPr id="18" name="Rectángulo 17">
              <a:extLst>
                <a:ext uri="{FF2B5EF4-FFF2-40B4-BE49-F238E27FC236}">
                  <a16:creationId xmlns="" xmlns:a16="http://schemas.microsoft.com/office/drawing/2014/main" id="{6934B2FC-8DF0-4891-8FC4-3E503BA67E45}"/>
                </a:ext>
              </a:extLst>
            </p:cNvPr>
            <p:cNvSpPr/>
            <p:nvPr/>
          </p:nvSpPr>
          <p:spPr>
            <a:xfrm>
              <a:off x="3344562" y="1546307"/>
              <a:ext cx="2623752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 &lt;- c(1,4,8,16)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 1  4  8 16</a:t>
              </a:r>
            </a:p>
            <a:p>
              <a:endParaRPr lang="es-MX" sz="2400" dirty="0"/>
            </a:p>
            <a:p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str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(b)</a:t>
              </a:r>
            </a:p>
            <a:p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[1:4] 1 4 8 16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="" xmlns:a16="http://schemas.microsoft.com/office/drawing/2014/main" id="{EA2DDD49-EC6A-4B06-B839-82BF80B2FDDC}"/>
                </a:ext>
              </a:extLst>
            </p:cNvPr>
            <p:cNvSpPr txBox="1"/>
            <p:nvPr/>
          </p:nvSpPr>
          <p:spPr>
            <a:xfrm>
              <a:off x="3342503" y="1262736"/>
              <a:ext cx="6343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="" xmlns:a16="http://schemas.microsoft.com/office/drawing/2014/main" id="{9EA5AAFC-2FC7-4560-A378-E8E7C40128D5}"/>
              </a:ext>
            </a:extLst>
          </p:cNvPr>
          <p:cNvGrpSpPr/>
          <p:nvPr/>
        </p:nvGrpSpPr>
        <p:grpSpPr>
          <a:xfrm>
            <a:off x="7414054" y="660999"/>
            <a:ext cx="4643187" cy="5546550"/>
            <a:chOff x="6561438" y="1262736"/>
            <a:chExt cx="4643187" cy="5546550"/>
          </a:xfrm>
        </p:grpSpPr>
        <p:sp>
          <p:nvSpPr>
            <p:cNvPr id="21" name="CuadroTexto 20">
              <a:extLst>
                <a:ext uri="{FF2B5EF4-FFF2-40B4-BE49-F238E27FC236}">
                  <a16:creationId xmlns="" xmlns:a16="http://schemas.microsoft.com/office/drawing/2014/main" id="{C55CD857-29C7-4B39-B77B-921F367B7364}"/>
                </a:ext>
              </a:extLst>
            </p:cNvPr>
            <p:cNvSpPr txBox="1"/>
            <p:nvPr/>
          </p:nvSpPr>
          <p:spPr>
            <a:xfrm>
              <a:off x="6561438" y="1262736"/>
              <a:ext cx="6343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="" xmlns:a16="http://schemas.microsoft.com/office/drawing/2014/main" id="{CFB98310-5F16-43A6-A08F-AFAEAB8C4069}"/>
                </a:ext>
              </a:extLst>
            </p:cNvPr>
            <p:cNvSpPr/>
            <p:nvPr/>
          </p:nvSpPr>
          <p:spPr>
            <a:xfrm>
              <a:off x="6874680" y="1546307"/>
              <a:ext cx="4329945" cy="5262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c1 &lt;-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data.frame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(5:1,1:5)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c1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X5.1 X1.5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1    5    1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2    4    2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3    3    3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4    2    4</a:t>
              </a:r>
            </a:p>
            <a:p>
              <a:pPr marL="457200" indent="-457200">
                <a:buAutoNum type="arabicPlain" startAt="5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1    5</a:t>
              </a:r>
            </a:p>
            <a:p>
              <a:pPr marL="457200" indent="-457200">
                <a:buAutoNum type="arabicPlain" startAt="5"/>
              </a:pP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str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(c1)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data.frame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':   5 </a:t>
              </a:r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obs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of  2 variables: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$ X5.1: </a:t>
              </a:r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5 4 3 2 1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$ X1.5: </a:t>
              </a:r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1 2 3 4 5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114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="" xmlns:a16="http://schemas.microsoft.com/office/drawing/2014/main" id="{7BC545B9-1C6D-4281-96E2-2156B8034A0D}"/>
              </a:ext>
            </a:extLst>
          </p:cNvPr>
          <p:cNvSpPr/>
          <p:nvPr/>
        </p:nvSpPr>
        <p:spPr>
          <a:xfrm>
            <a:off x="432642" y="1426341"/>
            <a:ext cx="562288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Obtener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el largo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: length ()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="" xmlns:a16="http://schemas.microsoft.com/office/drawing/2014/main" id="{5951A41B-90C6-4F28-916C-EACCB3F230A2}"/>
              </a:ext>
            </a:extLst>
          </p:cNvPr>
          <p:cNvGrpSpPr/>
          <p:nvPr/>
        </p:nvGrpSpPr>
        <p:grpSpPr>
          <a:xfrm>
            <a:off x="1012088" y="2953003"/>
            <a:ext cx="1622854" cy="2961227"/>
            <a:chOff x="811427" y="1262736"/>
            <a:chExt cx="1622854" cy="2961227"/>
          </a:xfrm>
        </p:grpSpPr>
        <p:sp>
          <p:nvSpPr>
            <p:cNvPr id="23" name="Rectángulo 22">
              <a:extLst>
                <a:ext uri="{FF2B5EF4-FFF2-40B4-BE49-F238E27FC236}">
                  <a16:creationId xmlns="" xmlns:a16="http://schemas.microsoft.com/office/drawing/2014/main" id="{199B7E1D-600F-4898-A845-AADAD17F1E51}"/>
                </a:ext>
              </a:extLst>
            </p:cNvPr>
            <p:cNvSpPr/>
            <p:nvPr/>
          </p:nvSpPr>
          <p:spPr>
            <a:xfrm>
              <a:off x="811427" y="1546307"/>
              <a:ext cx="1622854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&lt;- 6*3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18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(a)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1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="" xmlns:a16="http://schemas.microsoft.com/office/drawing/2014/main" id="{7D40113B-8DE7-4263-9271-4C6344991313}"/>
                </a:ext>
              </a:extLst>
            </p:cNvPr>
            <p:cNvSpPr txBox="1"/>
            <p:nvPr/>
          </p:nvSpPr>
          <p:spPr>
            <a:xfrm>
              <a:off x="825742" y="1262736"/>
              <a:ext cx="6343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="" xmlns:a16="http://schemas.microsoft.com/office/drawing/2014/main" id="{2C3EB360-C9C7-483B-8D47-FA90AF3A7E66}"/>
              </a:ext>
            </a:extLst>
          </p:cNvPr>
          <p:cNvGrpSpPr/>
          <p:nvPr/>
        </p:nvGrpSpPr>
        <p:grpSpPr>
          <a:xfrm>
            <a:off x="3543164" y="2953003"/>
            <a:ext cx="2625811" cy="2591895"/>
            <a:chOff x="3342503" y="1262736"/>
            <a:chExt cx="2625811" cy="2591895"/>
          </a:xfrm>
        </p:grpSpPr>
        <p:sp>
          <p:nvSpPr>
            <p:cNvPr id="26" name="Rectángulo 25">
              <a:extLst>
                <a:ext uri="{FF2B5EF4-FFF2-40B4-BE49-F238E27FC236}">
                  <a16:creationId xmlns="" xmlns:a16="http://schemas.microsoft.com/office/drawing/2014/main" id="{66798809-D013-4D52-A724-45368D415D4D}"/>
                </a:ext>
              </a:extLst>
            </p:cNvPr>
            <p:cNvSpPr/>
            <p:nvPr/>
          </p:nvSpPr>
          <p:spPr>
            <a:xfrm>
              <a:off x="3344562" y="1546307"/>
              <a:ext cx="2623752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 &lt;- c(1,4,8,16)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 1  4  8 16</a:t>
              </a:r>
            </a:p>
            <a:p>
              <a:endParaRPr lang="es-MX" sz="2400" dirty="0"/>
            </a:p>
            <a:p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4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="" xmlns:a16="http://schemas.microsoft.com/office/drawing/2014/main" id="{AFD4E1AC-A7C8-4F7B-8041-C16FCFB53D2C}"/>
                </a:ext>
              </a:extLst>
            </p:cNvPr>
            <p:cNvSpPr txBox="1"/>
            <p:nvPr/>
          </p:nvSpPr>
          <p:spPr>
            <a:xfrm>
              <a:off x="3342503" y="1262736"/>
              <a:ext cx="6343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="" xmlns:a16="http://schemas.microsoft.com/office/drawing/2014/main" id="{284477F1-8751-436C-BB77-B83C3A683B52}"/>
              </a:ext>
            </a:extLst>
          </p:cNvPr>
          <p:cNvGrpSpPr/>
          <p:nvPr/>
        </p:nvGrpSpPr>
        <p:grpSpPr>
          <a:xfrm>
            <a:off x="6963750" y="1247771"/>
            <a:ext cx="4643187" cy="4807886"/>
            <a:chOff x="6561438" y="1262736"/>
            <a:chExt cx="4643187" cy="4807886"/>
          </a:xfrm>
        </p:grpSpPr>
        <p:sp>
          <p:nvSpPr>
            <p:cNvPr id="30" name="CuadroTexto 29">
              <a:extLst>
                <a:ext uri="{FF2B5EF4-FFF2-40B4-BE49-F238E27FC236}">
                  <a16:creationId xmlns="" xmlns:a16="http://schemas.microsoft.com/office/drawing/2014/main" id="{03E06054-40D0-4DEB-A615-14074072E8C5}"/>
                </a:ext>
              </a:extLst>
            </p:cNvPr>
            <p:cNvSpPr txBox="1"/>
            <p:nvPr/>
          </p:nvSpPr>
          <p:spPr>
            <a:xfrm>
              <a:off x="6561438" y="1262736"/>
              <a:ext cx="6343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</a:t>
              </a: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="" xmlns:a16="http://schemas.microsoft.com/office/drawing/2014/main" id="{F6BEC13E-10FD-42D5-8541-EC5159408ED5}"/>
                </a:ext>
              </a:extLst>
            </p:cNvPr>
            <p:cNvSpPr/>
            <p:nvPr/>
          </p:nvSpPr>
          <p:spPr>
            <a:xfrm>
              <a:off x="6874680" y="1546307"/>
              <a:ext cx="4329945" cy="4524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 &lt;-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data.frame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(5:1,1:5) 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c1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X5.1 X1.5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1    5    1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2    4    2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3    3    3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4    2    4</a:t>
              </a:r>
            </a:p>
            <a:p>
              <a:pPr marL="457200" indent="-457200">
                <a:buAutoNum type="arabicPlain" startAt="5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1    5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MX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(c1[,2])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5</a:t>
              </a:r>
            </a:p>
            <a:p>
              <a:endParaRPr lang="es-MX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4074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615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matemáticas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="" xmlns:a16="http://schemas.microsoft.com/office/drawing/2014/main" id="{13C1F6CA-9A15-48B7-811B-77CEF94A4501}"/>
              </a:ext>
            </a:extLst>
          </p:cNvPr>
          <p:cNvSpPr/>
          <p:nvPr/>
        </p:nvSpPr>
        <p:spPr>
          <a:xfrm>
            <a:off x="677779" y="2975888"/>
            <a:ext cx="22260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&lt;- c(1,4,8,16)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 &lt;- c(2,3,4,5)</a:t>
            </a:r>
          </a:p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bporxx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b*xx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: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="" xmlns:a16="http://schemas.microsoft.com/office/drawing/2014/main" id="{8F368213-5355-4AF3-B1ED-9A69E3727821}"/>
              </a:ext>
            </a:extLst>
          </p:cNvPr>
          <p:cNvSpPr/>
          <p:nvPr/>
        </p:nvSpPr>
        <p:spPr>
          <a:xfrm>
            <a:off x="4148438" y="2975888"/>
            <a:ext cx="19729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bxx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b/xx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Resultado: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C8A61453-D028-4511-8B73-C767CDAAD94E}"/>
              </a:ext>
            </a:extLst>
          </p:cNvPr>
          <p:cNvSpPr/>
          <p:nvPr/>
        </p:nvSpPr>
        <p:spPr>
          <a:xfrm>
            <a:off x="873210" y="4725589"/>
            <a:ext cx="15857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bporxx</a:t>
            </a:r>
            <a:endParaRPr lang="fr-FR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 2 12 32 80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="" xmlns:a16="http://schemas.microsoft.com/office/drawing/2014/main" id="{3A9C0360-2808-4056-AE73-55F74ABFFA19}"/>
              </a:ext>
            </a:extLst>
          </p:cNvPr>
          <p:cNvSpPr/>
          <p:nvPr/>
        </p:nvSpPr>
        <p:spPr>
          <a:xfrm>
            <a:off x="3972869" y="3945384"/>
            <a:ext cx="26426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bxx</a:t>
            </a:r>
            <a:endParaRPr lang="es-MX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0.500000 1.333333 2.000000 3.200000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="" xmlns:a16="http://schemas.microsoft.com/office/drawing/2014/main" id="{BC024D04-EB19-415E-8C8C-706F454F34AA}"/>
              </a:ext>
            </a:extLst>
          </p:cNvPr>
          <p:cNvSpPr/>
          <p:nvPr/>
        </p:nvSpPr>
        <p:spPr>
          <a:xfrm>
            <a:off x="9982200" y="2975889"/>
            <a:ext cx="16129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>
                <a:latin typeface="Times New Roman" panose="02020603050405020304" pitchFamily="18" charset="0"/>
                <a:cs typeface="Times New Roman" panose="02020603050405020304" pitchFamily="18" charset="0"/>
              </a:rPr>
              <a:t>b2 &lt;- b-a</a:t>
            </a:r>
          </a:p>
          <a:p>
            <a:r>
              <a:rPr lang="es-MX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Resultado: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="" xmlns:a16="http://schemas.microsoft.com/office/drawing/2014/main" id="{BF534DC2-B00F-43B1-A61C-E4ED937B283A}"/>
              </a:ext>
            </a:extLst>
          </p:cNvPr>
          <p:cNvGrpSpPr/>
          <p:nvPr/>
        </p:nvGrpSpPr>
        <p:grpSpPr>
          <a:xfrm>
            <a:off x="7060363" y="2975888"/>
            <a:ext cx="2109873" cy="2266675"/>
            <a:chOff x="7555663" y="2976369"/>
            <a:chExt cx="2109873" cy="2266675"/>
          </a:xfrm>
        </p:grpSpPr>
        <p:sp>
          <p:nvSpPr>
            <p:cNvPr id="33" name="Rectángulo 32">
              <a:extLst>
                <a:ext uri="{FF2B5EF4-FFF2-40B4-BE49-F238E27FC236}">
                  <a16:creationId xmlns="" xmlns:a16="http://schemas.microsoft.com/office/drawing/2014/main" id="{8496CCE0-D447-4400-8604-D0AE06A2CCC3}"/>
                </a:ext>
              </a:extLst>
            </p:cNvPr>
            <p:cNvSpPr/>
            <p:nvPr/>
          </p:nvSpPr>
          <p:spPr>
            <a:xfrm>
              <a:off x="7555663" y="2976369"/>
              <a:ext cx="146976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b1 &lt;- b*a 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="" xmlns:a16="http://schemas.microsoft.com/office/drawing/2014/main" id="{176F0EFC-9376-43C9-9518-0109EB7CD668}"/>
                </a:ext>
              </a:extLst>
            </p:cNvPr>
            <p:cNvSpPr/>
            <p:nvPr/>
          </p:nvSpPr>
          <p:spPr>
            <a:xfrm>
              <a:off x="7555663" y="3396385"/>
              <a:ext cx="2109873" cy="18466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&lt;- 6*3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&lt;- c(1,4,8,16)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Resultado:</a:t>
              </a:r>
            </a:p>
            <a:p>
              <a:endParaRPr lang="es-MX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s-MX" dirty="0"/>
            </a:p>
          </p:txBody>
        </p:sp>
      </p:grpSp>
      <p:sp>
        <p:nvSpPr>
          <p:cNvPr id="35" name="Rectángulo 34">
            <a:extLst>
              <a:ext uri="{FF2B5EF4-FFF2-40B4-BE49-F238E27FC236}">
                <a16:creationId xmlns="" xmlns:a16="http://schemas.microsoft.com/office/drawing/2014/main" id="{9CCCA364-6BC7-42F4-96E5-44E415F1FECD}"/>
              </a:ext>
            </a:extLst>
          </p:cNvPr>
          <p:cNvSpPr/>
          <p:nvPr/>
        </p:nvSpPr>
        <p:spPr>
          <a:xfrm>
            <a:off x="6997227" y="4645294"/>
            <a:ext cx="27339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  <a:p>
            <a:r>
              <a:rPr lang="es-MX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 18  72 144 288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="" xmlns:a16="http://schemas.microsoft.com/office/drawing/2014/main" id="{90C53ACE-4B35-47A7-93A4-32A4A539AA75}"/>
              </a:ext>
            </a:extLst>
          </p:cNvPr>
          <p:cNvSpPr/>
          <p:nvPr/>
        </p:nvSpPr>
        <p:spPr>
          <a:xfrm>
            <a:off x="9731216" y="3945384"/>
            <a:ext cx="25219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  <a:p>
            <a:r>
              <a:rPr lang="es-MX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-17 -14 -10  -2</a:t>
            </a:r>
          </a:p>
        </p:txBody>
      </p:sp>
    </p:spTree>
    <p:extLst>
      <p:ext uri="{BB962C8B-B14F-4D97-AF65-F5344CB8AC3E}">
        <p14:creationId xmlns:p14="http://schemas.microsoft.com/office/powerpoint/2010/main" val="165620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51756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Acceder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ciertos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="" xmlns:a16="http://schemas.microsoft.com/office/drawing/2014/main" id="{75639C91-63D9-4005-9FA9-2648D6C45242}"/>
              </a:ext>
            </a:extLst>
          </p:cNvPr>
          <p:cNvGrpSpPr/>
          <p:nvPr/>
        </p:nvGrpSpPr>
        <p:grpSpPr>
          <a:xfrm>
            <a:off x="704805" y="2666104"/>
            <a:ext cx="2226059" cy="1325447"/>
            <a:chOff x="704805" y="2666104"/>
            <a:chExt cx="2226059" cy="1325447"/>
          </a:xfrm>
        </p:grpSpPr>
        <p:sp>
          <p:nvSpPr>
            <p:cNvPr id="22" name="Rectángulo 21">
              <a:extLst>
                <a:ext uri="{FF2B5EF4-FFF2-40B4-BE49-F238E27FC236}">
                  <a16:creationId xmlns="" xmlns:a16="http://schemas.microsoft.com/office/drawing/2014/main" id="{41B13ECA-1057-4F78-8FF2-35791C4099C4}"/>
                </a:ext>
              </a:extLst>
            </p:cNvPr>
            <p:cNvSpPr/>
            <p:nvPr/>
          </p:nvSpPr>
          <p:spPr>
            <a:xfrm>
              <a:off x="704805" y="2666104"/>
              <a:ext cx="222605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&lt;- c(1,4,8,16)</a:t>
              </a:r>
            </a:p>
            <a:p>
              <a:endParaRPr lang="es-MX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="" xmlns:a16="http://schemas.microsoft.com/office/drawing/2014/main" id="{4E1E01D3-2119-48D7-AC4E-2B7BE5C65563}"/>
                </a:ext>
              </a:extLst>
            </p:cNvPr>
            <p:cNvSpPr/>
            <p:nvPr/>
          </p:nvSpPr>
          <p:spPr>
            <a:xfrm>
              <a:off x="881114" y="3160554"/>
              <a:ext cx="1614767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b[c(3,1,4)]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 8  1 16</a:t>
              </a:r>
            </a:p>
          </p:txBody>
        </p:sp>
      </p:grpSp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46628E7C-CDDC-431B-8686-89137B3A4348}"/>
              </a:ext>
            </a:extLst>
          </p:cNvPr>
          <p:cNvSpPr/>
          <p:nvPr/>
        </p:nvSpPr>
        <p:spPr>
          <a:xfrm>
            <a:off x="8167351" y="2006392"/>
            <a:ext cx="21333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 renglón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c1[1,] 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X5.1 X1.5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="" xmlns:a16="http://schemas.microsoft.com/office/drawing/2014/main" id="{C295105A-AC2B-47EF-8FE5-516C85AAADB1}"/>
              </a:ext>
            </a:extLst>
          </p:cNvPr>
          <p:cNvSpPr/>
          <p:nvPr/>
        </p:nvSpPr>
        <p:spPr>
          <a:xfrm>
            <a:off x="3889393" y="2653348"/>
            <a:ext cx="35070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&lt;-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(5:1,1:5)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X5.1 X1.5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2    4    2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3    3    3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4    2    4</a:t>
            </a:r>
          </a:p>
          <a:p>
            <a:pPr marL="457200" indent="-457200">
              <a:buAutoNum type="arabicPlain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="" xmlns:a16="http://schemas.microsoft.com/office/drawing/2014/main" id="{46ABBCF5-5D1D-4307-A0D3-0AC4C84D618A}"/>
              </a:ext>
            </a:extLst>
          </p:cNvPr>
          <p:cNvSpPr/>
          <p:nvPr/>
        </p:nvSpPr>
        <p:spPr>
          <a:xfrm>
            <a:off x="8122690" y="3809986"/>
            <a:ext cx="30311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Primeros 3 renglones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c1[1:3,]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X5.1 X1.5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2    4    2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3    3    3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48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51756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Acceder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ciertos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1792FFE4-0409-4613-8745-87472B8F03C3}"/>
              </a:ext>
            </a:extLst>
          </p:cNvPr>
          <p:cNvSpPr/>
          <p:nvPr/>
        </p:nvSpPr>
        <p:spPr>
          <a:xfrm>
            <a:off x="1361514" y="2785195"/>
            <a:ext cx="35070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&lt;-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(5:1,1:5)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X5.1 X1.5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2    4    2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3    3    3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4    2    4</a:t>
            </a:r>
          </a:p>
          <a:p>
            <a:pPr marL="457200" indent="-457200">
              <a:buAutoNum type="arabicPlain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403C19CF-BF95-4157-9A85-90EC89F8CF8A}"/>
              </a:ext>
            </a:extLst>
          </p:cNvPr>
          <p:cNvSpPr/>
          <p:nvPr/>
        </p:nvSpPr>
        <p:spPr>
          <a:xfrm>
            <a:off x="7017950" y="2415863"/>
            <a:ext cx="222954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Primera columna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c1[,1]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5 4 3 2 1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Segunda columna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c1[,2]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1 2 3 4 5</a:t>
            </a:r>
          </a:p>
        </p:txBody>
      </p:sp>
    </p:spTree>
    <p:extLst>
      <p:ext uri="{BB962C8B-B14F-4D97-AF65-F5344CB8AC3E}">
        <p14:creationId xmlns:p14="http://schemas.microsoft.com/office/powerpoint/2010/main" val="3661162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51756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Acceder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ciertos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DC9F90A7-966C-4B5D-9FD1-1AC21FA49BD7}"/>
              </a:ext>
            </a:extLst>
          </p:cNvPr>
          <p:cNvSpPr/>
          <p:nvPr/>
        </p:nvSpPr>
        <p:spPr>
          <a:xfrm>
            <a:off x="1175190" y="2521364"/>
            <a:ext cx="184527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mi.lista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[[1]]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X1 X1.5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1  1    1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2  1    2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3  1    3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4  1    4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5  1    5</a:t>
            </a:r>
          </a:p>
          <a:p>
            <a:endParaRPr lang="fi-FI" dirty="0"/>
          </a:p>
        </p:txBody>
      </p:sp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9DC72FF7-6758-4835-9DEB-5D3580EC6B50}"/>
              </a:ext>
            </a:extLst>
          </p:cNvPr>
          <p:cNvSpPr/>
          <p:nvPr/>
        </p:nvSpPr>
        <p:spPr>
          <a:xfrm>
            <a:off x="3020466" y="2300313"/>
            <a:ext cx="198055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i-FI" dirty="0"/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[[2]]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X1 X20.25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1  1     20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2  1     21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3  1     22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4  1     23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5  1     24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6  1     25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BB2375E7-36EE-46A8-BE1B-15879C42E1ED}"/>
              </a:ext>
            </a:extLst>
          </p:cNvPr>
          <p:cNvSpPr/>
          <p:nvPr/>
        </p:nvSpPr>
        <p:spPr>
          <a:xfrm>
            <a:off x="7599405" y="2946644"/>
            <a:ext cx="18123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mi.lista[[1]]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X1 X1.5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1  1    1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2  1    2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3  1    3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4  1    4</a:t>
            </a:r>
          </a:p>
          <a:p>
            <a:r>
              <a:rPr lang="fi-FI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5  1    5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="" xmlns:a16="http://schemas.microsoft.com/office/drawing/2014/main" id="{5203BA0D-9185-42D2-A7AA-3F50D444A3E7}"/>
              </a:ext>
            </a:extLst>
          </p:cNvPr>
          <p:cNvSpPr/>
          <p:nvPr/>
        </p:nvSpPr>
        <p:spPr>
          <a:xfrm>
            <a:off x="6618669" y="2491338"/>
            <a:ext cx="3477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 elemento de la lista</a:t>
            </a:r>
          </a:p>
        </p:txBody>
      </p:sp>
    </p:spTree>
    <p:extLst>
      <p:ext uri="{BB962C8B-B14F-4D97-AF65-F5344CB8AC3E}">
        <p14:creationId xmlns:p14="http://schemas.microsoft.com/office/powerpoint/2010/main" val="1755555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6973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Añadir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reemplazar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eliminar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="" xmlns:a16="http://schemas.microsoft.com/office/drawing/2014/main" id="{53187B59-D37E-4791-83AB-7F3B7507886B}"/>
              </a:ext>
            </a:extLst>
          </p:cNvPr>
          <p:cNvSpPr/>
          <p:nvPr/>
        </p:nvSpPr>
        <p:spPr>
          <a:xfrm>
            <a:off x="743676" y="2771537"/>
            <a:ext cx="204895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1  4  8 16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b[1] &lt;- 5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5  4  8 16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="" xmlns:a16="http://schemas.microsoft.com/office/drawing/2014/main" id="{D59BD14D-1896-40B0-B5BF-B8118CE269F8}"/>
              </a:ext>
            </a:extLst>
          </p:cNvPr>
          <p:cNvGrpSpPr/>
          <p:nvPr/>
        </p:nvGrpSpPr>
        <p:grpSpPr>
          <a:xfrm>
            <a:off x="3457001" y="2863870"/>
            <a:ext cx="4253615" cy="1502904"/>
            <a:chOff x="3457001" y="2863870"/>
            <a:chExt cx="4253615" cy="1502904"/>
          </a:xfrm>
        </p:grpSpPr>
        <p:sp>
          <p:nvSpPr>
            <p:cNvPr id="10" name="Rectángulo 9">
              <a:extLst>
                <a:ext uri="{FF2B5EF4-FFF2-40B4-BE49-F238E27FC236}">
                  <a16:creationId xmlns="" xmlns:a16="http://schemas.microsoft.com/office/drawing/2014/main" id="{64043C11-516C-4B68-839B-8F7B69BB5CA3}"/>
                </a:ext>
              </a:extLst>
            </p:cNvPr>
            <p:cNvSpPr/>
            <p:nvPr/>
          </p:nvSpPr>
          <p:spPr>
            <a:xfrm>
              <a:off x="3457001" y="2863870"/>
              <a:ext cx="333937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b[5:10] &lt;- c(18:21,30:31)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="" xmlns:a16="http://schemas.microsoft.com/office/drawing/2014/main" id="{FE1D47E4-C9AD-47D0-B2FB-913ABC2837CB}"/>
                </a:ext>
              </a:extLst>
            </p:cNvPr>
            <p:cNvSpPr/>
            <p:nvPr/>
          </p:nvSpPr>
          <p:spPr>
            <a:xfrm>
              <a:off x="3457001" y="3535777"/>
              <a:ext cx="425361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dirty="0"/>
                <a:t> </a:t>
              </a:r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  <a:p>
              <a:r>
                <a:rPr lang="es-MX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[1]  5  4  8 16 18 19 20 21 30 31</a:t>
              </a:r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="" xmlns:a16="http://schemas.microsoft.com/office/drawing/2014/main" id="{BDD73506-5546-4A90-85FE-7EC510F60E52}"/>
              </a:ext>
            </a:extLst>
          </p:cNvPr>
          <p:cNvSpPr/>
          <p:nvPr/>
        </p:nvSpPr>
        <p:spPr>
          <a:xfrm>
            <a:off x="8200075" y="2745055"/>
            <a:ext cx="37753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&lt;- b[-10]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5  4  8 16 18 19 20 21 30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6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21389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Asignar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las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colnames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C1EBA0A7-4725-41BD-A9CD-C2CFBD7DDBE0}"/>
              </a:ext>
            </a:extLst>
          </p:cNvPr>
          <p:cNvSpPr/>
          <p:nvPr/>
        </p:nvSpPr>
        <p:spPr>
          <a:xfrm>
            <a:off x="708715" y="2765168"/>
            <a:ext cx="47752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colnames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(c1)&lt;- c('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Individuo','Orden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="" xmlns:a16="http://schemas.microsoft.com/office/drawing/2014/main" id="{D6FFAEA8-3268-49C5-BF71-11948FCC92A6}"/>
              </a:ext>
            </a:extLst>
          </p:cNvPr>
          <p:cNvSpPr/>
          <p:nvPr/>
        </p:nvSpPr>
        <p:spPr>
          <a:xfrm>
            <a:off x="7646540" y="2760441"/>
            <a:ext cx="2688557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Individuo Orden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1         5            1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2         4            2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3         3            3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4         2            4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5         1            5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="" xmlns:a16="http://schemas.microsoft.com/office/drawing/2014/main" id="{8BEF15A4-0737-43C3-A729-F341FFC466A1}"/>
              </a:ext>
            </a:extLst>
          </p:cNvPr>
          <p:cNvSpPr/>
          <p:nvPr/>
        </p:nvSpPr>
        <p:spPr>
          <a:xfrm>
            <a:off x="1565253" y="3468894"/>
            <a:ext cx="35070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&lt;-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(5:1,1:5)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X5.1 X1.5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2    4    2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3    3    3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4    2    4</a:t>
            </a:r>
          </a:p>
          <a:p>
            <a:pPr marL="457200" indent="-457200">
              <a:buAutoNum type="arabicPlain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0709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1137612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matemática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7DE6FB8F-FE51-4C89-8B3F-430123190C7B}"/>
              </a:ext>
            </a:extLst>
          </p:cNvPr>
          <p:cNvSpPr/>
          <p:nvPr/>
        </p:nvSpPr>
        <p:spPr>
          <a:xfrm>
            <a:off x="3282778" y="3451405"/>
            <a:ext cx="35070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c1[,3]&lt;- c1$Orden/7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colnames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(c1)[3]= 'Tasa'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 (c1)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A02DAAD3-21FA-4200-9A87-3C1995E6B3C9}"/>
              </a:ext>
            </a:extLst>
          </p:cNvPr>
          <p:cNvSpPr/>
          <p:nvPr/>
        </p:nvSpPr>
        <p:spPr>
          <a:xfrm>
            <a:off x="7316915" y="2860669"/>
            <a:ext cx="4349556" cy="2378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Individuo Orden      Tasa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1         5            1       0.1428571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2         4            2       0.2857143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3         3            3       0.4285714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4         2            4       0.5714286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5         1            5       0.7142857</a:t>
            </a:r>
            <a:endParaRPr lang="es-MX" sz="2400" dirty="0"/>
          </a:p>
        </p:txBody>
      </p:sp>
      <p:sp>
        <p:nvSpPr>
          <p:cNvPr id="13" name="Rectángulo 12">
            <a:extLst>
              <a:ext uri="{FF2B5EF4-FFF2-40B4-BE49-F238E27FC236}">
                <a16:creationId xmlns="" xmlns:a16="http://schemas.microsoft.com/office/drawing/2014/main" id="{77671BC4-53C1-4860-A378-92E1DD4BF165}"/>
              </a:ext>
            </a:extLst>
          </p:cNvPr>
          <p:cNvSpPr/>
          <p:nvPr/>
        </p:nvSpPr>
        <p:spPr>
          <a:xfrm>
            <a:off x="675503" y="2491338"/>
            <a:ext cx="35070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&lt;-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(5:1,1:5)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X5.1 X1.5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2    4    2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3    3    3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4    2    4</a:t>
            </a:r>
          </a:p>
          <a:p>
            <a:pPr marL="457200" indent="-457200">
              <a:buAutoNum type="arabicPlain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6499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1137612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matemática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7DE6FB8F-FE51-4C89-8B3F-430123190C7B}"/>
              </a:ext>
            </a:extLst>
          </p:cNvPr>
          <p:cNvSpPr/>
          <p:nvPr/>
        </p:nvSpPr>
        <p:spPr>
          <a:xfrm>
            <a:off x="3282778" y="3451405"/>
            <a:ext cx="35070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c1[,3]&lt;- c1$Orden/7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colnames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(c1)[3]= 'Tasa'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 (c1)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A02DAAD3-21FA-4200-9A87-3C1995E6B3C9}"/>
              </a:ext>
            </a:extLst>
          </p:cNvPr>
          <p:cNvSpPr/>
          <p:nvPr/>
        </p:nvSpPr>
        <p:spPr>
          <a:xfrm>
            <a:off x="7316915" y="2860669"/>
            <a:ext cx="4349556" cy="2378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Individuo Orden      Tasa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1         5            1       0.1428571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2         4            2       0.2857143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3         3            3       0.4285714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4         2            4       0.5714286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5         1            5       0.7142857</a:t>
            </a:r>
            <a:endParaRPr lang="es-MX" sz="2400" dirty="0"/>
          </a:p>
        </p:txBody>
      </p:sp>
      <p:sp>
        <p:nvSpPr>
          <p:cNvPr id="13" name="Rectángulo 12">
            <a:extLst>
              <a:ext uri="{FF2B5EF4-FFF2-40B4-BE49-F238E27FC236}">
                <a16:creationId xmlns="" xmlns:a16="http://schemas.microsoft.com/office/drawing/2014/main" id="{77671BC4-53C1-4860-A378-92E1DD4BF165}"/>
              </a:ext>
            </a:extLst>
          </p:cNvPr>
          <p:cNvSpPr/>
          <p:nvPr/>
        </p:nvSpPr>
        <p:spPr>
          <a:xfrm>
            <a:off x="675503" y="2491338"/>
            <a:ext cx="35070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&lt;-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(5:1,1:5)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X5.1 X1.5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1    5    1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2    4    2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3    3    3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4    2    4</a:t>
            </a:r>
          </a:p>
          <a:p>
            <a:pPr marL="457200" indent="-457200">
              <a:buAutoNum type="arabicPlain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1604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823193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exportar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archivos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.csv o .txt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read.table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read.csv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write.table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y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write.csv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7EABBA95-BF8B-4F12-911D-0F6636A53494}"/>
              </a:ext>
            </a:extLst>
          </p:cNvPr>
          <p:cNvSpPr/>
          <p:nvPr/>
        </p:nvSpPr>
        <p:spPr>
          <a:xfrm>
            <a:off x="146299" y="3650130"/>
            <a:ext cx="118994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read.table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("C:\\Users\\Usuario\\Documents\\CursoR\\Fire_intensity.txt", header = T) 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7EABBA95-BF8B-4F12-911D-0F6636A53494}"/>
              </a:ext>
            </a:extLst>
          </p:cNvPr>
          <p:cNvSpPr/>
          <p:nvPr/>
        </p:nvSpPr>
        <p:spPr>
          <a:xfrm>
            <a:off x="146298" y="4578089"/>
            <a:ext cx="118994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write.csv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Incendio,file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="C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:\\Users\\Usuario\\Documents\\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incendios.csv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”) 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977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632423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Mostrar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primeros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diez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head ()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="" xmlns:a16="http://schemas.microsoft.com/office/drawing/2014/main" id="{2D42042A-0A3D-404D-99DC-0AFEB5C84847}"/>
              </a:ext>
            </a:extLst>
          </p:cNvPr>
          <p:cNvGrpSpPr/>
          <p:nvPr/>
        </p:nvGrpSpPr>
        <p:grpSpPr>
          <a:xfrm>
            <a:off x="1463178" y="2953003"/>
            <a:ext cx="7692216" cy="2923877"/>
            <a:chOff x="516789" y="2859738"/>
            <a:chExt cx="7692216" cy="2923877"/>
          </a:xfrm>
        </p:grpSpPr>
        <p:sp>
          <p:nvSpPr>
            <p:cNvPr id="5" name="Rectángulo 4">
              <a:extLst>
                <a:ext uri="{FF2B5EF4-FFF2-40B4-BE49-F238E27FC236}">
                  <a16:creationId xmlns="" xmlns:a16="http://schemas.microsoft.com/office/drawing/2014/main" id="{A9449D45-3AAA-4262-9568-48A5A9FECF3B}"/>
                </a:ext>
              </a:extLst>
            </p:cNvPr>
            <p:cNvSpPr/>
            <p:nvPr/>
          </p:nvSpPr>
          <p:spPr>
            <a:xfrm>
              <a:off x="516789" y="2859738"/>
              <a:ext cx="7030995" cy="29238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head(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Incendio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Probability.mortality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Stand.age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Fire.intensity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Region Stand.id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      0.04008590     Young      13.967749     A2        1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        0.02371104     Young       8.118900     A2        1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        0.02959688     Young      10.189049     A2        1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            0.06637321     Young      23.751139     A2        1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           0.07203268     Young      25.304217     A2        1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           0.02844691     Young       9.429986     A2        1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es-MX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="" xmlns:a16="http://schemas.microsoft.com/office/drawing/2014/main" id="{347B492B-DB0E-40EE-A07A-4B4E7311AA31}"/>
                </a:ext>
              </a:extLst>
            </p:cNvPr>
            <p:cNvSpPr/>
            <p:nvPr/>
          </p:nvSpPr>
          <p:spPr>
            <a:xfrm>
              <a:off x="7067796" y="3244924"/>
              <a:ext cx="1141209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Tree.id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1       1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2       2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3       3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4       4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5       5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6       6</a:t>
              </a:r>
              <a:endParaRPr lang="es-MX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68943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59541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Mostrar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names ()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="" xmlns:a16="http://schemas.microsoft.com/office/drawing/2014/main" id="{A4292EF8-F780-4011-BB3C-F4DF487FA823}"/>
              </a:ext>
            </a:extLst>
          </p:cNvPr>
          <p:cNvSpPr/>
          <p:nvPr/>
        </p:nvSpPr>
        <p:spPr>
          <a:xfrm>
            <a:off x="3048000" y="3248619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Probability.mortality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Stand.age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           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      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              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"Stand.id"              "Tree.id"</a:t>
            </a:r>
          </a:p>
        </p:txBody>
      </p:sp>
    </p:spTree>
    <p:extLst>
      <p:ext uri="{BB962C8B-B14F-4D97-AF65-F5344CB8AC3E}">
        <p14:creationId xmlns:p14="http://schemas.microsoft.com/office/powerpoint/2010/main" val="908949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827425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Obtener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continua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range()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para identificar una variable y trabajar con ella.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176E1DA1-ADC1-4CA3-94F7-A061D16718AB}"/>
              </a:ext>
            </a:extLst>
          </p:cNvPr>
          <p:cNvSpPr/>
          <p:nvPr/>
        </p:nvSpPr>
        <p:spPr>
          <a:xfrm>
            <a:off x="3048000" y="431850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NA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71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640598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Remover de la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NA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na.omit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="" xmlns:a16="http://schemas.microsoft.com/office/drawing/2014/main" id="{46452143-4D14-4D63-8F8A-10D55B82764B}"/>
              </a:ext>
            </a:extLst>
          </p:cNvPr>
          <p:cNvSpPr/>
          <p:nvPr/>
        </p:nvSpPr>
        <p:spPr>
          <a:xfrm>
            <a:off x="3431060" y="372367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range(Incendio$Fire.intensity)</a:t>
            </a:r>
          </a:p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2.423678e-01 1.000000e+04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529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652678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sea factor o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numérico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is.factor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is.numeric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4B4B6D5C-4C69-43E9-90B0-2428DBAEF170}"/>
              </a:ext>
            </a:extLst>
          </p:cNvPr>
          <p:cNvSpPr/>
          <p:nvPr/>
        </p:nvSpPr>
        <p:spPr>
          <a:xfrm>
            <a:off x="749643" y="3601205"/>
            <a:ext cx="383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is.factor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(Incendio$Stand.id)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FALSE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="" xmlns:a16="http://schemas.microsoft.com/office/drawing/2014/main" id="{92785E43-65D9-4B66-8EB6-478F626EE5E1}"/>
              </a:ext>
            </a:extLst>
          </p:cNvPr>
          <p:cNvSpPr/>
          <p:nvPr/>
        </p:nvSpPr>
        <p:spPr>
          <a:xfrm>
            <a:off x="6230197" y="360120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is.numeric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(Incendio$Stand.id)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TRUE</a:t>
            </a:r>
          </a:p>
        </p:txBody>
      </p:sp>
    </p:spTree>
    <p:extLst>
      <p:ext uri="{BB962C8B-B14F-4D97-AF65-F5344CB8AC3E}">
        <p14:creationId xmlns:p14="http://schemas.microsoft.com/office/powerpoint/2010/main" val="3602770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687669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números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visceversa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as.factor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as.numeric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0B6993E3-0A13-4299-9336-31D27F5C9C25}"/>
              </a:ext>
            </a:extLst>
          </p:cNvPr>
          <p:cNvSpPr/>
          <p:nvPr/>
        </p:nvSpPr>
        <p:spPr>
          <a:xfrm>
            <a:off x="2474153" y="3352181"/>
            <a:ext cx="80854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is.factor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Incendio$Region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TRUE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Incendio$Region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as.numeric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Incendio$Region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is.factor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Incendio$Region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FALSE</a:t>
            </a:r>
          </a:p>
        </p:txBody>
      </p:sp>
    </p:spTree>
    <p:extLst>
      <p:ext uri="{BB962C8B-B14F-4D97-AF65-F5344CB8AC3E}">
        <p14:creationId xmlns:p14="http://schemas.microsoft.com/office/powerpoint/2010/main" val="3055345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436690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subconjuntos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subset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92BC1C22-2A6F-421F-975F-68889D6D3590}"/>
              </a:ext>
            </a:extLst>
          </p:cNvPr>
          <p:cNvSpPr/>
          <p:nvPr/>
        </p:nvSpPr>
        <p:spPr>
          <a:xfrm>
            <a:off x="694370" y="3268444"/>
            <a:ext cx="111622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Incendio &lt;- Incendio[-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Incendio$Probability.mortality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0),]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Eliminar negativos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Incendio2 &lt;- Incendio[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1000),]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Remover valores menores a 1000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EE221955-75D2-4C1A-9B28-BADDA4B89A21}"/>
              </a:ext>
            </a:extLst>
          </p:cNvPr>
          <p:cNvSpPr/>
          <p:nvPr/>
        </p:nvSpPr>
        <p:spPr>
          <a:xfrm>
            <a:off x="6421395" y="141002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b="0" i="0" dirty="0">
                <a:solidFill>
                  <a:srgbClr val="000000"/>
                </a:solidFill>
                <a:effectLst/>
                <a:latin typeface="Roboto Mono"/>
              </a:rPr>
              <a:t>#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Roboto Mono"/>
              </a:rPr>
              <a:t>select</a:t>
            </a:r>
            <a:r>
              <a:rPr lang="es-MX" b="0" i="0" dirty="0">
                <a:solidFill>
                  <a:srgbClr val="000000"/>
                </a:solidFill>
                <a:effectLst/>
                <a:latin typeface="Roboto Mono"/>
              </a:rPr>
              <a:t> variables v1, v2, v3</a:t>
            </a:r>
            <a:r>
              <a:rPr lang="es-MX" dirty="0"/>
              <a:t/>
            </a:r>
            <a:br>
              <a:rPr lang="es-MX" dirty="0"/>
            </a:br>
            <a:r>
              <a:rPr lang="es-MX" b="0" i="0" dirty="0" err="1">
                <a:solidFill>
                  <a:srgbClr val="000000"/>
                </a:solidFill>
                <a:effectLst/>
                <a:latin typeface="Roboto Mono"/>
              </a:rPr>
              <a:t>myvars</a:t>
            </a:r>
            <a:r>
              <a:rPr lang="es-MX" b="0" i="0" dirty="0">
                <a:solidFill>
                  <a:srgbClr val="000000"/>
                </a:solidFill>
                <a:effectLst/>
                <a:latin typeface="Roboto Mono"/>
              </a:rPr>
              <a:t> &lt;- c("v1", "v2", "v3")</a:t>
            </a:r>
            <a:r>
              <a:rPr lang="es-MX" dirty="0"/>
              <a:t/>
            </a:r>
            <a:br>
              <a:rPr lang="es-MX" dirty="0"/>
            </a:br>
            <a:r>
              <a:rPr lang="es-MX" b="0" i="0" dirty="0" err="1">
                <a:solidFill>
                  <a:srgbClr val="000000"/>
                </a:solidFill>
                <a:effectLst/>
                <a:latin typeface="Roboto Mono"/>
              </a:rPr>
              <a:t>newdata</a:t>
            </a:r>
            <a:r>
              <a:rPr lang="es-MX" b="0" i="0" dirty="0">
                <a:solidFill>
                  <a:srgbClr val="000000"/>
                </a:solidFill>
                <a:effectLst/>
                <a:latin typeface="Roboto Mono"/>
              </a:rPr>
              <a:t> &lt;- 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Roboto Mono"/>
              </a:rPr>
              <a:t>mydata</a:t>
            </a:r>
            <a:r>
              <a:rPr lang="es-MX" b="0" i="0" dirty="0">
                <a:solidFill>
                  <a:srgbClr val="000000"/>
                </a:solidFill>
                <a:effectLst/>
                <a:latin typeface="Roboto Mono"/>
              </a:rPr>
              <a:t>[</a:t>
            </a:r>
            <a:r>
              <a:rPr lang="es-MX" b="0" i="0" dirty="0" err="1">
                <a:solidFill>
                  <a:srgbClr val="000000"/>
                </a:solidFill>
                <a:effectLst/>
                <a:latin typeface="Roboto Mono"/>
              </a:rPr>
              <a:t>myvars</a:t>
            </a:r>
            <a:r>
              <a:rPr lang="es-MX" b="0" i="0" dirty="0">
                <a:solidFill>
                  <a:srgbClr val="000000"/>
                </a:solidFill>
                <a:effectLst/>
                <a:latin typeface="Roboto Mono"/>
              </a:rPr>
              <a:t>]</a:t>
            </a:r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51E72EF3-546B-4351-AF72-B514F08C854B}"/>
              </a:ext>
            </a:extLst>
          </p:cNvPr>
          <p:cNvSpPr/>
          <p:nvPr/>
        </p:nvSpPr>
        <p:spPr>
          <a:xfrm>
            <a:off x="694370" y="5234115"/>
            <a:ext cx="924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Incendio3 &lt;-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(Incendio2[,c(1,3,4)]) Seleccionar las variables 1,3 y 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107AA5E9-B8EC-4407-8C81-CDB8707A7189}"/>
              </a:ext>
            </a:extLst>
          </p:cNvPr>
          <p:cNvSpPr/>
          <p:nvPr/>
        </p:nvSpPr>
        <p:spPr>
          <a:xfrm>
            <a:off x="1453978" y="5695095"/>
            <a:ext cx="89009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(Incendio3)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Probability.mortality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987798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436690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subconjuntos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subset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92BC1C22-2A6F-421F-975F-68889D6D3590}"/>
              </a:ext>
            </a:extLst>
          </p:cNvPr>
          <p:cNvSpPr/>
          <p:nvPr/>
        </p:nvSpPr>
        <p:spPr>
          <a:xfrm>
            <a:off x="694370" y="3268444"/>
            <a:ext cx="111622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Incendio &lt;- Incendio[-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Incendio$Probability.mortality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0),]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Eliminar negativos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Incendio2 &lt;- Incendio[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1000),]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Remover valores menores a 1000</a:t>
            </a:r>
          </a:p>
          <a:p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741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436690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subconjuntos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subset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51E72EF3-546B-4351-AF72-B514F08C854B}"/>
              </a:ext>
            </a:extLst>
          </p:cNvPr>
          <p:cNvSpPr/>
          <p:nvPr/>
        </p:nvSpPr>
        <p:spPr>
          <a:xfrm>
            <a:off x="432642" y="3161179"/>
            <a:ext cx="9248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Incendio3 &lt;-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(Incendio2[,c(1,3,4)]) Seleccionar las variables 1,3 y 4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107AA5E9-B8EC-4407-8C81-CDB8707A7189}"/>
              </a:ext>
            </a:extLst>
          </p:cNvPr>
          <p:cNvSpPr/>
          <p:nvPr/>
        </p:nvSpPr>
        <p:spPr>
          <a:xfrm>
            <a:off x="2183026" y="4295853"/>
            <a:ext cx="89009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(Incendio3)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Probability.mortality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 "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049631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84631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subconjuntos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utilizando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operadores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lógicos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subset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07384F5B-313A-4AAB-8E6C-B8890C4D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093" y="2730207"/>
            <a:ext cx="6831990" cy="354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02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84631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subconjuntos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utilizando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operadores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lógicos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subset ()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3207D4D2-5579-489A-90D4-62E8AA44269D}"/>
              </a:ext>
            </a:extLst>
          </p:cNvPr>
          <p:cNvSpPr/>
          <p:nvPr/>
        </p:nvSpPr>
        <p:spPr>
          <a:xfrm>
            <a:off x="1107989" y="3140836"/>
            <a:ext cx="79989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nuevosdatos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Incendio[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&lt;1500 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&amp;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Incendio$Stand.age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"Young"), ]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CB2464F0-CBCB-4AB8-A76D-0FD186213BC4}"/>
              </a:ext>
            </a:extLst>
          </p:cNvPr>
          <p:cNvSpPr/>
          <p:nvPr/>
        </p:nvSpPr>
        <p:spPr>
          <a:xfrm>
            <a:off x="1219200" y="437332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nuevosdatos$Stand.age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"Young"</a:t>
            </a:r>
          </a:p>
        </p:txBody>
      </p:sp>
    </p:spTree>
    <p:extLst>
      <p:ext uri="{BB962C8B-B14F-4D97-AF65-F5344CB8AC3E}">
        <p14:creationId xmlns:p14="http://schemas.microsoft.com/office/powerpoint/2010/main" val="550106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806188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basada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ifelse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="" xmlns:a16="http://schemas.microsoft.com/office/drawing/2014/main" id="{4E4025DC-05DD-4589-8AB5-9986FD417E03}"/>
              </a:ext>
            </a:extLst>
          </p:cNvPr>
          <p:cNvSpPr/>
          <p:nvPr/>
        </p:nvSpPr>
        <p:spPr>
          <a:xfrm>
            <a:off x="873139" y="3025848"/>
            <a:ext cx="112059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Generar una nueva variable : "Tipo de incendio" basada en la variable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Fire.intensity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(intensidad del incendio (kW/m)):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Superficial de baja intensidad SBI cuando Intensidad&lt;200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Superficial alta intensidad  cuando Intensidad  &gt;=200 y &lt;1500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Corona alta intensidad cuando Intensidad &gt;1500</a:t>
            </a:r>
          </a:p>
        </p:txBody>
      </p:sp>
    </p:spTree>
    <p:extLst>
      <p:ext uri="{BB962C8B-B14F-4D97-AF65-F5344CB8AC3E}">
        <p14:creationId xmlns:p14="http://schemas.microsoft.com/office/powerpoint/2010/main" val="2576451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806188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basada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niveles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ifelse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433E5A48-D11D-4119-B1E4-081EA24E303A}"/>
              </a:ext>
            </a:extLst>
          </p:cNvPr>
          <p:cNvSpPr/>
          <p:nvPr/>
        </p:nvSpPr>
        <p:spPr>
          <a:xfrm>
            <a:off x="1095632" y="2956170"/>
            <a:ext cx="100007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Incendio$TipoIncendio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ifelse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&lt;200,"SBI",ifelse(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&gt;=200 &amp;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Incendio$Fire.intensity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&lt;1500,"SAI","CAI"))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BB1B8078-40EC-4700-A211-E342AF12561C}"/>
              </a:ext>
            </a:extLst>
          </p:cNvPr>
          <p:cNvSpPr/>
          <p:nvPr/>
        </p:nvSpPr>
        <p:spPr>
          <a:xfrm>
            <a:off x="3047999" y="4650430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Incendio$TipoIncendio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"CAI" "SAI" "SBI"</a:t>
            </a:r>
          </a:p>
        </p:txBody>
      </p:sp>
    </p:spTree>
    <p:extLst>
      <p:ext uri="{BB962C8B-B14F-4D97-AF65-F5344CB8AC3E}">
        <p14:creationId xmlns:p14="http://schemas.microsoft.com/office/powerpoint/2010/main" val="1090600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572310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Elegir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entradas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basadas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otros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subset ()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="" xmlns:a16="http://schemas.microsoft.com/office/drawing/2014/main" id="{A80292CD-CC95-47F9-9E6E-265EF8894BC1}"/>
              </a:ext>
            </a:extLst>
          </p:cNvPr>
          <p:cNvSpPr/>
          <p:nvPr/>
        </p:nvSpPr>
        <p:spPr>
          <a:xfrm>
            <a:off x="1662006" y="3490680"/>
            <a:ext cx="89874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nuevosdatos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&lt;-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(Incendio,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TipoIncendio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"SBI", </a:t>
            </a:r>
          </a:p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=c(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Probability.mortality,TipoIncendio</a:t>
            </a: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040642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946378" y="3138586"/>
            <a:ext cx="25261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df1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id1 id2 c11 c12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  11  21   1   a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  12  22   2   b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  13  23   3   c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  14  24   4   d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4696512" y="3138586"/>
            <a:ext cx="24066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df2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id1 id2 c21 c22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  99  98   5   e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  12  22   6   f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  13  23   7   g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  14  24   8   h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 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8180171" y="3138586"/>
            <a:ext cx="322511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dirty="0">
                <a:latin typeface="Calibri" charset="0"/>
                <a:ea typeface="Calibri" charset="0"/>
                <a:cs typeface="Times New Roman" charset="0"/>
              </a:rPr>
              <a:t>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df3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 id1  id2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c31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c32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1  999  998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9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i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 9999 9998  10   j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3   13   23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11 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k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4   14   24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12 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l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5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133145" y="3995344"/>
            <a:ext cx="81211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dirty="0">
                <a:latin typeface="Calibri" charset="0"/>
                <a:ea typeface="Calibri" charset="0"/>
                <a:cs typeface="Times New Roman" charset="0"/>
              </a:rPr>
              <a:t> </a:t>
            </a:r>
            <a:r>
              <a:rPr lang="es-ES_tradnl" dirty="0" smtClean="0">
                <a:latin typeface="Calibri" charset="0"/>
                <a:ea typeface="Calibri" charset="0"/>
                <a:cs typeface="Times New Roman" charset="0"/>
              </a:rPr>
              <a:t>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id1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id2 c11 c12 id1 id2 c21 c22  id1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id2    c31   c32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  11  21   1   a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99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98   5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e    999    998     9      i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  12  22   2   b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12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22   6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f    9999  9998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10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j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  13  23   3   c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13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23   7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g     13     23     11      k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  14  24   4   d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14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24   8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h     14     24     12      l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346190" y="3022680"/>
            <a:ext cx="27077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&gt;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cbind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(df1,df2,df3)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89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3" name="Rectángulo 2"/>
          <p:cNvSpPr/>
          <p:nvPr/>
        </p:nvSpPr>
        <p:spPr>
          <a:xfrm>
            <a:off x="3400410" y="3556335"/>
            <a:ext cx="6096001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&gt;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rbind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(df1,df2,df3)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Error in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match.names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clabs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,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names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(xi)) : 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names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do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not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match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previous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names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039695" y="5250660"/>
            <a:ext cx="829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smtClean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N.B.Marca</a:t>
            </a:r>
            <a:r>
              <a:rPr lang="es-ES_tradnl" sz="2400" dirty="0" smtClean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 error ya que los nombres de las columnas son distintos</a:t>
            </a:r>
            <a:endParaRPr lang="es-ES_tradnl" sz="2400" dirty="0">
              <a:solidFill>
                <a:srgbClr val="C00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361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21439" y="338871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&gt;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rbind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(df1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[,1],df2[,1],df3[,1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])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1] [,2]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3]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4]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[1,]   11   12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13    14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[2,]   99   12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13    14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[3,]  999 9999   13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14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3270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438400" y="924261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&gt;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rbind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(df1[,1:2],df2[,1:2],df3[,1:2])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id1      id2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1    11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21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2    12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22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3    13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23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4    14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24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5    99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98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6    12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22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7    13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23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8    14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24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9   999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998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10 9999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9998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11   13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23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12   14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24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4592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21439" y="338871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&gt;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rbind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(df1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[,1],df2[,1],df3[,1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])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1] [,2]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3]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4]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[1,]   11   12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13    14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[2,]   99   12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13    14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[3,]  999 9999   13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14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20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310086" y="3598840"/>
            <a:ext cx="294503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m1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&lt;-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matrix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(1:4,2,2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m2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&lt;-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matrix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(5:8,2,2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780001" y="2949948"/>
            <a:ext cx="190308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m1     </a:t>
            </a:r>
          </a:p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1] [,2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]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1,]    1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3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2,]    2    4</a:t>
            </a:r>
          </a:p>
        </p:txBody>
      </p:sp>
      <p:sp>
        <p:nvSpPr>
          <p:cNvPr id="7" name="Rectángulo 6"/>
          <p:cNvSpPr/>
          <p:nvPr/>
        </p:nvSpPr>
        <p:spPr>
          <a:xfrm>
            <a:off x="8592643" y="2949948"/>
            <a:ext cx="190308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m2     </a:t>
            </a:r>
          </a:p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1] [,2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]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[1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,]    5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7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2,]    6    8</a:t>
            </a:r>
          </a:p>
        </p:txBody>
      </p:sp>
    </p:spTree>
    <p:extLst>
      <p:ext uri="{BB962C8B-B14F-4D97-AF65-F5344CB8AC3E}">
        <p14:creationId xmlns:p14="http://schemas.microsoft.com/office/powerpoint/2010/main" val="1914519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310086" y="3598840"/>
            <a:ext cx="294503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m1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&lt;-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matrix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(1:4,2,2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m2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&lt;-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matrix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(5:8,2,2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193499" y="2521203"/>
            <a:ext cx="2834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m3&lt;-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cbind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(m1,m2)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300099" y="3385774"/>
            <a:ext cx="262123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m3     </a:t>
            </a:r>
          </a:p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[,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1] [,2] [,3] [,4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]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1,]    1    3    5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7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2,]    2    4    6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8 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53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() 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()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310086" y="3598840"/>
            <a:ext cx="294503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m1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&lt;-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matrix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(1:4,2,2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m2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&lt;-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matrix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(5:8,2,2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193499" y="2521203"/>
            <a:ext cx="2800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m4&lt;-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rbind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(m1,m2)</a:t>
            </a:r>
          </a:p>
        </p:txBody>
      </p:sp>
      <p:sp>
        <p:nvSpPr>
          <p:cNvPr id="6" name="Rectángulo 5"/>
          <p:cNvSpPr/>
          <p:nvPr/>
        </p:nvSpPr>
        <p:spPr>
          <a:xfrm>
            <a:off x="7638331" y="3234649"/>
            <a:ext cx="1911101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m4   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[,1] [,2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]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1,]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1    3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2,]    2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4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3,]    5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7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[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4,]    6    8</a:t>
            </a:r>
          </a:p>
        </p:txBody>
      </p:sp>
    </p:spTree>
    <p:extLst>
      <p:ext uri="{BB962C8B-B14F-4D97-AF65-F5344CB8AC3E}">
        <p14:creationId xmlns:p14="http://schemas.microsoft.com/office/powerpoint/2010/main" val="1787199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="" xmlns:a16="http://schemas.microsoft.com/office/drawing/2014/main" id="{077EA357-8C87-47D4-AFE8-5062EBD3F1D1}"/>
              </a:ext>
            </a:extLst>
          </p:cNvPr>
          <p:cNvSpPr/>
          <p:nvPr/>
        </p:nvSpPr>
        <p:spPr>
          <a:xfrm>
            <a:off x="432642" y="1426341"/>
            <a:ext cx="737022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elementos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dos o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hojas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matrices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y merge ()</a:t>
            </a:r>
          </a:p>
        </p:txBody>
      </p:sp>
      <p:sp>
        <p:nvSpPr>
          <p:cNvPr id="5" name="Rectángulo 4"/>
          <p:cNvSpPr/>
          <p:nvPr/>
        </p:nvSpPr>
        <p:spPr>
          <a:xfrm>
            <a:off x="6421726" y="3123581"/>
            <a:ext cx="54349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&gt;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merge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(df1,df2,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by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= "id1")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id1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id2.x c11 c12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id2.y  c21  c22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1  12    22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2     b      22      6      f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2  13    23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3     c      23      7      g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3  14    24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4     d      24      8     h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249760" y="3123581"/>
            <a:ext cx="46938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&gt;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merge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(df1,df2,,all = TRUE)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id1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id2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c11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c12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c21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c22</a:t>
            </a: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1  11  21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1      a      NA  NA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2  12  22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2      b      6      f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3  13  23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3      c      7      g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4  14  24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4      d      8      h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5  99  98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NA   NA  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5   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e</a:t>
            </a:r>
            <a:endParaRPr lang="es-ES_tradnl" sz="2400" dirty="0">
              <a:effectLst/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736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Instalación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170AE3F8-BCE0-43BF-ADF3-345C855E5221}"/>
              </a:ext>
            </a:extLst>
          </p:cNvPr>
          <p:cNvSpPr txBox="1"/>
          <p:nvPr/>
        </p:nvSpPr>
        <p:spPr>
          <a:xfrm>
            <a:off x="501819" y="1643449"/>
            <a:ext cx="9544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Instalación de R : https://www.r-project.org/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49D3E1E6-B364-49AE-AB94-5339372C9791}"/>
              </a:ext>
            </a:extLst>
          </p:cNvPr>
          <p:cNvSpPr txBox="1"/>
          <p:nvPr/>
        </p:nvSpPr>
        <p:spPr>
          <a:xfrm>
            <a:off x="501820" y="2514223"/>
            <a:ext cx="10273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Instalación un editor en R : </a:t>
            </a:r>
            <a:r>
              <a:rPr lang="es-MX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RStudio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https://www.rstudio.com/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s-MX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Tinn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 (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https://sourceforge.net/projects/tinn-r/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="" xmlns:a16="http://schemas.microsoft.com/office/drawing/2014/main" id="{6A1681F9-B41D-43CA-9462-B9FE3B69262F}"/>
              </a:ext>
            </a:extLst>
          </p:cNvPr>
          <p:cNvSpPr txBox="1"/>
          <p:nvPr/>
        </p:nvSpPr>
        <p:spPr>
          <a:xfrm>
            <a:off x="501820" y="3806885"/>
            <a:ext cx="6133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Instalación de paquetería en R </a:t>
            </a:r>
          </a:p>
        </p:txBody>
      </p:sp>
    </p:spTree>
    <p:extLst>
      <p:ext uri="{BB962C8B-B14F-4D97-AF65-F5344CB8AC3E}">
        <p14:creationId xmlns:p14="http://schemas.microsoft.com/office/powerpoint/2010/main" val="36855864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aquetería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170AE3F8-BCE0-43BF-ADF3-345C855E5221}"/>
              </a:ext>
            </a:extLst>
          </p:cNvPr>
          <p:cNvSpPr txBox="1"/>
          <p:nvPr/>
        </p:nvSpPr>
        <p:spPr>
          <a:xfrm>
            <a:off x="1005260" y="1763191"/>
            <a:ext cx="95442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paquete es un banco de funciones implementadas en R.</a:t>
            </a:r>
          </a:p>
          <a:p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Cuando se abre una sesión en R, una serie de paquetes son activados automáticamente.</a:t>
            </a:r>
          </a:p>
          <a:p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Para activar el paquete de interés es necesario cargarlo en la sesión de trabajo de R con la función library ().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1612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aquetería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57" y="824591"/>
            <a:ext cx="8817429" cy="551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491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aquetería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170AE3F8-BCE0-43BF-ADF3-345C855E5221}"/>
              </a:ext>
            </a:extLst>
          </p:cNvPr>
          <p:cNvSpPr txBox="1"/>
          <p:nvPr/>
        </p:nvSpPr>
        <p:spPr>
          <a:xfrm>
            <a:off x="950832" y="1044734"/>
            <a:ext cx="95442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Si el paquete no se encuentra ahí, es necesario bajarlo e instalarlo desde CRAN</a:t>
            </a:r>
          </a:p>
          <a:p>
            <a:endParaRPr lang="es-MX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Algunos paquetes de interés:</a:t>
            </a:r>
          </a:p>
          <a:p>
            <a:pPr marL="514350" indent="-514350">
              <a:buAutoNum type="alphaLcParenR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Modelos lineales mixtos y generalizados: MASS, nmle, lme4</a:t>
            </a:r>
          </a:p>
          <a:p>
            <a:pPr marL="514350" indent="-514350">
              <a:buAutoNum type="alphaLcParenR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multivariados: vegan, ade4, cluster</a:t>
            </a:r>
          </a:p>
          <a:p>
            <a:pPr marL="514350" indent="-514350">
              <a:buAutoNum type="alphaLcParenR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Interactuar con otros programas: R2WinBUGS, Brugs</a:t>
            </a:r>
          </a:p>
          <a:p>
            <a:pPr marL="514350" indent="-514350">
              <a:buAutoNum type="alphaLcParenR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 de utilidad general: car, Design, Hmisc, gregmisc, gmodles, foreign</a:t>
            </a:r>
          </a:p>
          <a:p>
            <a:pPr marL="514350" indent="-514350">
              <a:buAutoNum type="alphaLcParenR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espaciales: geoR, sp, spatial</a:t>
            </a:r>
          </a:p>
          <a:p>
            <a:pPr marL="514350" indent="-514350">
              <a:buAutoNum type="alphaLcParenR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genéticos: adegenet, ape, apTreeshape, genetics</a:t>
            </a:r>
          </a:p>
          <a:p>
            <a:pPr marL="514350" indent="-514350">
              <a:buAutoNum type="alphaLcParenR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dendrocronógicos: dpIR </a:t>
            </a:r>
          </a:p>
        </p:txBody>
      </p:sp>
    </p:spTree>
    <p:extLst>
      <p:ext uri="{BB962C8B-B14F-4D97-AF65-F5344CB8AC3E}">
        <p14:creationId xmlns:p14="http://schemas.microsoft.com/office/powerpoint/2010/main" val="9874513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Ejercicio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892628" y="1948543"/>
            <a:ext cx="830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Importar Datos1.csv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Verificar estructura e identificar variables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Calcular una nueva variable llamada “Porcentaje de habitantes en pobreza (PHP)”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Crear una nueva variable llamada “Categorías de pobreza” con respecto al porcentaje de habitantes con pobreza:  Bajo (PHP &lt;20), Moderado (PHP &gt;20 y PHP &lt;60) y Alto (PHP &gt;60)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5786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91E1B83E-334B-467B-A5A0-6981B849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Ejercicio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897F5C1F-3405-455F-B54E-8CCD04EC7816}"/>
              </a:ext>
            </a:extLst>
          </p:cNvPr>
          <p:cNvSpPr/>
          <p:nvPr/>
        </p:nvSpPr>
        <p:spPr>
          <a:xfrm>
            <a:off x="5309286" y="20296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012371" y="1360714"/>
            <a:ext cx="8305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Importar Datos2.csv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Verificar estructura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Asignar nombres a las columnas 2 y 3: “Edad de la infraestructura” y “Proporción de viviendas sin drenaje”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Verificar el rango de la variable ”Proporción de viviendas sin drenaje” 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Crear un nuevo objeto llamado “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tmp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” que contenga solamente los valores de la variable proporción de viviendas sin drenaje mayores que 0.5 y los elementos de la variable edad de la infraestructura mayores a 11”</a:t>
            </a:r>
          </a:p>
          <a:p>
            <a:pPr marL="342900" indent="-342900">
              <a:buAutoNum type="arabicPeriod"/>
            </a:pP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Eliminar el primer y </a:t>
            </a:r>
            <a:r>
              <a:rPr lang="es-ES_tradnl" sz="2400" smtClean="0">
                <a:latin typeface="Times New Roman" charset="0"/>
                <a:ea typeface="Times New Roman" charset="0"/>
                <a:cs typeface="Times New Roman" charset="0"/>
              </a:rPr>
              <a:t>último renglón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36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2114</TotalTime>
  <Words>3149</Words>
  <Application>Microsoft Macintosh PowerPoint</Application>
  <PresentationFormat>Panorámica</PresentationFormat>
  <Paragraphs>756</Paragraphs>
  <Slides>49</Slides>
  <Notes>49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7" baseType="lpstr">
      <vt:lpstr>Calibri</vt:lpstr>
      <vt:lpstr>Calibri Light</vt:lpstr>
      <vt:lpstr>Cronos Pro</vt:lpstr>
      <vt:lpstr>Roboto Mono</vt:lpstr>
      <vt:lpstr>Times New Roman</vt:lpstr>
      <vt:lpstr>Wingdings</vt:lpstr>
      <vt:lpstr>Arial</vt:lpstr>
      <vt:lpstr>Tema de Office</vt:lpstr>
      <vt:lpstr>Estadística y modelación de sistemas socio-ecológicos en R</vt:lpstr>
      <vt:lpstr>Objetivos del curso</vt:lpstr>
      <vt:lpstr>Evaluación</vt:lpstr>
      <vt:lpstr>Plan del día</vt:lpstr>
      <vt:lpstr>Introducción a R</vt:lpstr>
      <vt:lpstr>Introducción a R</vt:lpstr>
      <vt:lpstr>Introducción a R</vt:lpstr>
      <vt:lpstr>Introducción a R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Manipulación de datos</vt:lpstr>
      <vt:lpstr>Instalación de R</vt:lpstr>
      <vt:lpstr>Paquetería de R</vt:lpstr>
      <vt:lpstr>Paquetería de R</vt:lpstr>
      <vt:lpstr>Paquetería de R</vt:lpstr>
      <vt:lpstr>Ejercicio 1</vt:lpstr>
      <vt:lpstr>Ejercicio 2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Estadística y Modelación de sistemas socioecológicos en R</dc:title>
  <dc:creator>Yosune</dc:creator>
  <cp:lastModifiedBy>Usuario de Microsoft Office</cp:lastModifiedBy>
  <cp:revision>81</cp:revision>
  <dcterms:created xsi:type="dcterms:W3CDTF">2017-12-06T17:26:24Z</dcterms:created>
  <dcterms:modified xsi:type="dcterms:W3CDTF">2020-01-06T15:50:34Z</dcterms:modified>
</cp:coreProperties>
</file>